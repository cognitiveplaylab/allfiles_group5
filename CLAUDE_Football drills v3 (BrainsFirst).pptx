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987c09-eef0-524e-79be-15e4ba377e6d}">
          <p14:sldIdLst>
            <p14:sldId id="256"/>
          </p14:sldIdLst>
        </p14:section>
        <p14:section name="Problem" id="{0fc250fc-bb8c-835a-c1f9-65f140fef11b}">
          <p14:sldIdLst>
            <p14:sldId id="257"/>
          </p14:sldIdLst>
        </p14:section>
        <p14:section name="Evidence and design" id="{c880fc2c-9a63-6a92-2d29-e1c17056908f}">
          <p14:sldIdLst>
            <p14:sldId id="258"/>
            <p14:sldId id="259"/>
            <p14:sldId id="260"/>
          </p14:sldIdLst>
        </p14:section>
        <p14:section name="Product" id="{666bbf49-78cf-217b-2ed4-f25d2c8b967a}">
          <p14:sldIdLst>
            <p14:sldId id="261"/>
            <p14:sldId id="262"/>
            <p14:sldId id="263"/>
          </p14:sldIdLst>
        </p14:section>
        <p14:section name="Plan" id="{6e20b541-fdfa-15bd-2347-9f4adff9594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first: the deliverable is a rule from profile to drill plus a card library a coach can use in under a minute. Four weeks can test use and whether flags point to the right behaviour, not the effect on match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(library, visuals, tablet) is separated from the problem (no rule from profile to drill, and brain-function labels promise transfer the evidence does not show). The profile's real value is attention: through step 2 it tells the coach where to look; the coach decides. That value is testable within the project with a blind clip test (slide 8): each coach rates six clips, three of players the profile flags and three of players it does not, before seeing any flag. Whether a profile-based pick beats the coach's own judgement on match outcomes needs a longer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working-memory training in typically developing children, far transfer g = 0.001 against active controls (Sala &amp; Gobet 2020). Row 2: ten weeks of 3D multiple-object tracking in 62 academy players, no transfer to game performance (Romeas et al. 2025, Psychology of Sport &amp; Exercise 76:102770). Row 3: football-specific decision training, on-field transfer g ≈ 0.65 from small, overlap-inflated studies (Zhu et al. 2024); better decisions in drills or small-sided games are not the same as better match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cards: representative learning design and identical elements (Renshaw et al. 2019; Sala &amp; Gobet 2020). Level: challenge point framework (Guadagnoli &amp; Lee 2004; Hodges &amp; Lohse 2022); one level for the group, varied through space and timing, so no player gets a visible rule of their own. Instructions: Buszard et al. 2017, 48 children aged 8–10 learning basketball shooting with five instructions; low-working-memory children did not improve, high-working-memory children did (d = 1.04 at retention). A one-cue condition was not tested, so 'one cue' is our inference. Checking the flag: confirmation bias (Nickerson 1998); a coach who knows the flag sees the flagged behaviour sooner, so the coach rates play before seeing the flag. Tablet: recognition over recall (Nielsen's usability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uses the Football Brain labels (question 1). Step 2 guards against two errors: acting on a profile alone (EF–performance links are modest and age-confounded; Kalén et al. 2021; Knöbel 2025) and confirmation bias (the coach forms a judgement before seeing the flag). Dial: Diamond &amp; Lee 2011 is about test gains in 4–12-year-olds and partly regression to the mean (Smoleń et al. 2018); executive functions mature fastest between 10 and 15. Whether to train a weak or a strong function has not been tested in any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A: prompts raise scanning (Hintermann et al. 2025); scanning relates to pass completion, small effect (Jordet et al. 2020). Card B replaces v2's 'Finishing when it counts': pressure effects on finishing run through attention (worry and step-by-step control), and the obvious score does not protect: in maths tasks it is the high-working-memory people who choke (Beilock &amp; Carr 2005). No defensible link from a profile score, so Hugo swapped it for a card where the link holds: working memory limits how many instructions children can use (Buszard et al. 2017, basketball, ages 8–10). Card C: inhibiting a prepotent pass; highly talented youth players outperform peers on response inhibition (Verburgh et al. 2014), but the drill itself is untested. The count is also what the coach checks in matches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test for the workflow: BrainsFirst staff add a card in under 30 minutes without the students. Generating from a structured spec keeps one visual grammar and stops the model from inventing details a coach must unlearn.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Blind clip test: each coach rates six short clips (three of players the profile flags for that situation, three of players it does not) before any flag is shown. If coaches see the behaviour more often or sooner in flagged players' clips, the flag points the right way. Then coaches use the tablet: success is 4 of 5 coaches picking a card in under 60 seconds and running it once. The tablet shows situation and level, never a brain label or score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questions: (1) Can we have the Football Brain labels and 5–10 anonymised U13–U15 profiles, with match clips, by Fri 30 Oct, so Hugo's research approach on 3 Nov uses real labels? (2) May the coach see a minor's profile, or only the staff? (3) Is someone at BrainsFirst already turning your drill ideas into exercises? (4) Which AI video tool, on whose account and budget, and may we film at clubs? (5) Can you introduce us to academy coaches by Fri 30 Oct? (6) Is the youth coach the right first user, or the head of development? Partner academies are not named until BrainsFirst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Hugo's draft rule uses the Football Brain labels requested by Fri 30 Oct (question 1), so his research approach on 3 Nov is built on real labels; if they arrive later, he drafts on generic situation families and swaps labels in. Melina recruits two amateur coaches through her own network, so the test does not wait on introductions. Shared milestones: Tue 3 Nov 17:00 each owner writes the research approach for their own question; Thu 19 Nov each owner writes their own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F_CONTENT">
    <p:bg>
      <p:bgPr>
        <a:solidFill>
          <a:srgbClr val="FFFFFF"/>
        </a:solidFill>
      </p:bgPr>
    </p:bg>
    <p:spTree>
      <p:nvGrpSpPr>
        <p:cNvPr id="1" name=""/>
        <p:cNvGrpSpPr/>
        <p:nvPr/>
      </p:nvGrpSpPr>
      <p:grpSpPr>
        <a:xfrm>
          <a:off x="0" y="0"/>
          <a:ext cx="0" cy="0"/>
          <a:chOff x="0" y="0"/>
          <a:chExt cx="0" cy="0"/>
        </a:xfrm>
      </p:grpSpPr>
      <p:pic>
        <p:nvPicPr>
          <p:cNvPr id="2" name="Image 0" descr="/home/claude/decks/assets/logo-navy-horizontal.png">    </p:cNvPr>
          <p:cNvPicPr>
            <a:picLocks noChangeAspect="1"/>
          </p:cNvPicPr>
          <p:nvPr/>
        </p:nvPicPr>
        <p:blipFill>
          <a:blip r:embed="rId1"/>
          <a:stretch>
            <a:fillRect/>
          </a:stretch>
        </p:blipFill>
        <p:spPr>
          <a:xfrm>
            <a:off x="10225735" y="384048"/>
            <a:ext cx="1417320" cy="384048"/>
          </a:xfrm>
          <a:prstGeom prst="rect">
            <a:avLst/>
          </a:prstGeom>
        </p:spPr>
      </p:pic>
      <p:sp>
        <p:nvSpPr>
          <p:cNvPr id="3" name="Text 0"/>
          <p:cNvSpPr/>
          <p:nvPr/>
        </p:nvSpPr>
        <p:spPr>
          <a:xfrm>
            <a:off x="11426342" y="6263640"/>
            <a:ext cx="155448" cy="155448"/>
          </a:xfrm>
          <a:prstGeom prst="ellipse">
            <a:avLst/>
          </a:prstGeom>
          <a:solidFill>
            <a:srgbClr val="41C5C5"/>
          </a:solidFill>
          <a:ln>
            <a:solidFill>
              <a:srgbClr val="41C5C5"/>
            </a:solidFill>
          </a:ln>
        </p:spPr>
        <p:txBody>
          <a:bodyPr wrap="square" rtlCol="0" anchor="ctr"/>
          <a:lstStyle/>
          <a:p>
            <a:pPr indent="0" marL="0">
              <a:buNone/>
            </a:pPr>
            <a:endParaRPr lang="en-US" dirty="0"/>
          </a:p>
        </p:txBody>
      </p:sp>
      <p:sp>
        <p:nvSpPr>
          <p:cNvPr id="4" name="Text 1"/>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rgbClr val="8A94A3"/>
                </a:solidFill>
                <a:latin typeface="Inter" pitchFamily="34" charset="0"/>
                <a:ea typeface="Inter" pitchFamily="34" charset="-122"/>
                <a:cs typeface="Inter" pitchFamily="34" charset="-120"/>
              </a:rPr>
              <a:t>BrainsFirst  ·  RWCS 2026 · Group 5 · From brain to pitch</a:t>
            </a:r>
            <a:endParaRPr lang="en-US" sz="1000" dirty="0"/>
          </a:p>
        </p:txBody>
      </p:sp>
      <p:sp>
        <p:nvSpPr>
          <p:cNvPr id="5" name="Text 2"/>
          <p:cNvSpPr/>
          <p:nvPr>
            <p:ph idx="103" type="body" hasCustomPrompt="1"/>
          </p:nvPr>
        </p:nvSpPr>
        <p:spPr>
          <a:xfrm>
            <a:off x="548640" y="402336"/>
            <a:ext cx="8229600" cy="274320"/>
          </a:xfrm>
          <a:prstGeom prst="rect">
            <a:avLst/>
          </a:prstGeom>
          <a:noFill/>
          <a:ln/>
        </p:spPr>
        <p:txBody>
          <a:bodyPr wrap="square" rtlCol="0"/>
          <a:lstStyle>
            <a:lvl1pPr algn="l" indent="0" marL="0">
              <a:buNone/>
              <a:defRPr lang="en-US" sz="1200" b="1" spc="200" kern="0" dirty="0">
                <a:solidFill>
                  <a:srgbClr val="41C5C5"/>
                </a:solidFill>
                <a:latin typeface="Inter" pitchFamily="34" charset="0"/>
                <a:ea typeface="Inter" pitchFamily="34" charset="-122"/>
                <a:cs typeface="Inter" pitchFamily="34" charset="-120"/>
              </a:defRPr>
            </a:lvl1pPr>
          </a:lstStyle>
          <a:p>
            <a:pPr algn="l" indent="0" marL="0">
              <a:buNone/>
            </a:pPr>
            <a:endParaRPr lang="en-US" sz="1200" dirty="0"/>
          </a:p>
        </p:txBody>
      </p:sp>
      <p:sp>
        <p:nvSpPr>
          <p:cNvPr id="6" name="Text 2"/>
          <p:cNvSpPr/>
          <p:nvPr>
            <p:ph idx="104" type="title" hasCustomPrompt="1"/>
          </p:nvPr>
        </p:nvSpPr>
        <p:spPr>
          <a:xfrm>
            <a:off x="548640" y="731520"/>
            <a:ext cx="9509760" cy="713232"/>
          </a:xfrm>
          <a:prstGeom prst="rect">
            <a:avLst/>
          </a:prstGeom>
          <a:noFill/>
          <a:ln/>
        </p:spPr>
        <p:txBody>
          <a:bodyPr wrap="square" rtlCol="0"/>
          <a:lstStyle>
            <a:lvl1pPr algn="l" indent="0" marL="0">
              <a:buNone/>
              <a:defRPr lang="en-US" sz="2600" dirty="0">
                <a:solidFill>
                  <a:srgbClr val="263D57"/>
                </a:solidFill>
                <a:latin typeface="Poppins SemiBold" pitchFamily="34" charset="0"/>
                <a:ea typeface="Poppins SemiBold" pitchFamily="34" charset="-122"/>
                <a:cs typeface="Poppins SemiBold"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F_DARK">
    <p:bg>
      <p:bgPr>
        <a:solidFill>
          <a:srgbClr val="3A506B"/>
        </a:solidFill>
      </p:bgPr>
    </p:bg>
    <p:spTree>
      <p:nvGrpSpPr>
        <p:cNvPr id="1" name=""/>
        <p:cNvGrpSpPr/>
        <p:nvPr/>
      </p:nvGrpSpPr>
      <p:grpSpPr>
        <a:xfrm>
          <a:off x="0" y="0"/>
          <a:ext cx="0" cy="0"/>
          <a:chOff x="0" y="0"/>
          <a:chExt cx="0" cy="0"/>
        </a:xfrm>
      </p:grpSpPr>
      <p:pic>
        <p:nvPicPr>
          <p:cNvPr id="2" name="Image 0" descr="/home/claude/decks/assets/logo-white-horizontal.png">    </p:cNvPr>
          <p:cNvPicPr>
            <a:picLocks noChangeAspect="1"/>
          </p:cNvPicPr>
          <p:nvPr/>
        </p:nvPicPr>
        <p:blipFill>
          <a:blip r:embed="rId1"/>
          <a:stretch>
            <a:fillRect/>
          </a:stretch>
        </p:blipFill>
        <p:spPr>
          <a:xfrm>
            <a:off x="10225735" y="384048"/>
            <a:ext cx="1417320" cy="384048"/>
          </a:xfrm>
          <a:prstGeom prst="rect">
            <a:avLst/>
          </a:prstGeom>
        </p:spPr>
      </p:pic>
      <p:sp>
        <p:nvSpPr>
          <p:cNvPr id="3" name="Shape 0"/>
          <p:cNvSpPr/>
          <p:nvPr/>
        </p:nvSpPr>
        <p:spPr>
          <a:xfrm>
            <a:off x="609905" y="6343650"/>
            <a:ext cx="10438790" cy="0"/>
          </a:xfrm>
          <a:prstGeom prst="line">
            <a:avLst/>
          </a:prstGeom>
          <a:noFill/>
          <a:ln w="19050">
            <a:solidFill>
              <a:srgbClr val="718194"/>
            </a:solidFill>
            <a:prstDash val="solid"/>
          </a:ln>
        </p:spPr>
      </p:sp>
      <p:sp>
        <p:nvSpPr>
          <p:cNvPr id="4" name="Text 1"/>
          <p:cNvSpPr/>
          <p:nvPr/>
        </p:nvSpPr>
        <p:spPr>
          <a:xfrm>
            <a:off x="11426342" y="6263640"/>
            <a:ext cx="155448" cy="155448"/>
          </a:xfrm>
          <a:prstGeom prst="ellipse">
            <a:avLst/>
          </a:prstGeom>
          <a:solidFill>
            <a:srgbClr val="41C5C5"/>
          </a:solidFill>
          <a:ln>
            <a:solidFill>
              <a:srgbClr val="41C5C5"/>
            </a:solidFill>
          </a:ln>
        </p:spPr>
        <p:txBody>
          <a:bodyPr wrap="square" rtlCol="0" anchor="ctr"/>
          <a:lstStyle/>
          <a:p>
            <a:pPr indent="0" marL="0">
              <a:buNone/>
            </a:pPr>
            <a:endParaRPr lang="en-US" dirty="0"/>
          </a:p>
        </p:txBody>
      </p:sp>
      <p:sp>
        <p:nvSpPr>
          <p:cNvPr id="5" name="Text 2"/>
          <p:cNvSpPr/>
          <p:nvPr>
            <p:ph idx="103" type="body" hasCustomPrompt="1"/>
          </p:nvPr>
        </p:nvSpPr>
        <p:spPr>
          <a:xfrm>
            <a:off x="548640" y="402336"/>
            <a:ext cx="8229600" cy="274320"/>
          </a:xfrm>
          <a:prstGeom prst="rect">
            <a:avLst/>
          </a:prstGeom>
          <a:noFill/>
          <a:ln/>
        </p:spPr>
        <p:txBody>
          <a:bodyPr wrap="square" rtlCol="0"/>
          <a:lstStyle>
            <a:lvl1pPr algn="l" indent="0" marL="0">
              <a:buNone/>
              <a:defRPr lang="en-US" sz="1200" b="1" spc="200" kern="0" dirty="0">
                <a:solidFill>
                  <a:srgbClr val="41C5C5"/>
                </a:solidFill>
                <a:latin typeface="Inter" pitchFamily="34" charset="0"/>
                <a:ea typeface="Inter" pitchFamily="34" charset="-122"/>
                <a:cs typeface="Inter" pitchFamily="34" charset="-120"/>
              </a:defRPr>
            </a:lvl1pPr>
          </a:lstStyle>
          <a:p>
            <a:pPr algn="l" indent="0" marL="0">
              <a:buNone/>
            </a:pPr>
            <a:endParaRPr lang="en-US" sz="1200" dirty="0"/>
          </a:p>
        </p:txBody>
      </p:sp>
      <p:sp>
        <p:nvSpPr>
          <p:cNvPr id="6" name="Text 2"/>
          <p:cNvSpPr/>
          <p:nvPr>
            <p:ph idx="104" type="title" hasCustomPrompt="1"/>
          </p:nvPr>
        </p:nvSpPr>
        <p:spPr>
          <a:xfrm>
            <a:off x="548640" y="731520"/>
            <a:ext cx="9509760" cy="713232"/>
          </a:xfrm>
          <a:prstGeom prst="rect">
            <a:avLst/>
          </a:prstGeom>
          <a:noFill/>
          <a:ln/>
        </p:spPr>
        <p:txBody>
          <a:bodyPr wrap="square" rtlCol="0"/>
          <a:lstStyle>
            <a:lvl1pPr algn="l" indent="0" marL="0">
              <a:buNone/>
              <a:defRPr lang="en-US" sz="2600" dirty="0">
                <a:solidFill>
                  <a:srgbClr val="FFFFFF"/>
                </a:solidFill>
                <a:latin typeface="Poppins SemiBold" pitchFamily="34" charset="0"/>
                <a:ea typeface="Poppins SemiBold" pitchFamily="34" charset="-122"/>
                <a:cs typeface="Poppins SemiBold"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0D4"/>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F_COVER">
    <p:bg>
      <p:bgPr>
        <a:solidFill>
          <a:srgbClr val="3A506B"/>
        </a:solidFill>
      </p:bgPr>
    </p:bg>
    <p:spTree>
      <p:nvGrpSpPr>
        <p:cNvPr id="1" name=""/>
        <p:cNvGrpSpPr/>
        <p:nvPr/>
      </p:nvGrpSpPr>
      <p:grpSpPr>
        <a:xfrm>
          <a:off x="0" y="0"/>
          <a:ext cx="0" cy="0"/>
          <a:chOff x="0" y="0"/>
          <a:chExt cx="0" cy="0"/>
        </a:xfrm>
      </p:grpSpPr>
      <p:pic>
        <p:nvPicPr>
          <p:cNvPr id="2" name="Image 0" descr="/home/claude/decks/assets/logo-white-horizontal.png">    </p:cNvPr>
          <p:cNvPicPr>
            <a:picLocks noChangeAspect="1"/>
          </p:cNvPicPr>
          <p:nvPr/>
        </p:nvPicPr>
        <p:blipFill>
          <a:blip r:embed="rId1"/>
          <a:stretch>
            <a:fillRect/>
          </a:stretch>
        </p:blipFill>
        <p:spPr>
          <a:xfrm>
            <a:off x="609905" y="530352"/>
            <a:ext cx="1188720" cy="323698"/>
          </a:xfrm>
          <a:prstGeom prst="rect">
            <a:avLst/>
          </a:prstGeom>
        </p:spPr>
      </p:pic>
      <p:sp>
        <p:nvSpPr>
          <p:cNvPr id="3" name="Text 0"/>
          <p:cNvSpPr/>
          <p:nvPr/>
        </p:nvSpPr>
        <p:spPr>
          <a:xfrm>
            <a:off x="609905" y="1428750"/>
            <a:ext cx="10972800" cy="4000500"/>
          </a:xfrm>
          <a:prstGeom prst="roundRect">
            <a:avLst>
              <a:gd name="adj" fmla="val 1829"/>
            </a:avLst>
          </a:prstGeom>
          <a:solidFill>
            <a:srgbClr val="3A506B"/>
          </a:solidFill>
          <a:ln w="12700">
            <a:solidFill>
              <a:srgbClr val="718194"/>
            </a:solidFill>
          </a:ln>
        </p:spPr>
        <p:txBody>
          <a:bodyPr wrap="square" rtlCol="0" anchor="ctr"/>
          <a:lstStyle/>
          <a:p>
            <a:pPr indent="0" marL="0">
              <a:buNone/>
            </a:pPr>
            <a:endParaRPr lang="en-US" dirty="0"/>
          </a:p>
        </p:txBody>
      </p:sp>
      <p:pic>
        <p:nvPicPr>
          <p:cNvPr id="4" name="Image 1" descr="/home/claude/decks/assets/breintje2.png">    </p:cNvPr>
          <p:cNvPicPr>
            <a:picLocks noChangeAspect="1"/>
          </p:cNvPicPr>
          <p:nvPr/>
        </p:nvPicPr>
        <p:blipFill>
          <a:blip r:embed="rId2"/>
          <a:stretch>
            <a:fillRect/>
          </a:stretch>
        </p:blipFill>
        <p:spPr>
          <a:xfrm>
            <a:off x="8427110" y="1920240"/>
            <a:ext cx="2834640" cy="2441448"/>
          </a:xfrm>
          <a:prstGeom prst="rect">
            <a:avLst/>
          </a:prstGeom>
        </p:spPr>
      </p:pic>
      <p:sp>
        <p:nvSpPr>
          <p:cNvPr id="5" name="Shape 1"/>
          <p:cNvSpPr/>
          <p:nvPr/>
        </p:nvSpPr>
        <p:spPr>
          <a:xfrm>
            <a:off x="609905" y="6343650"/>
            <a:ext cx="10438790" cy="0"/>
          </a:xfrm>
          <a:prstGeom prst="line">
            <a:avLst/>
          </a:prstGeom>
          <a:noFill/>
          <a:ln w="19050">
            <a:solidFill>
              <a:srgbClr val="718194"/>
            </a:solidFill>
            <a:prstDash val="solid"/>
          </a:ln>
        </p:spPr>
      </p:sp>
      <p:sp>
        <p:nvSpPr>
          <p:cNvPr id="6" name="Text 2"/>
          <p:cNvSpPr/>
          <p:nvPr/>
        </p:nvSpPr>
        <p:spPr>
          <a:xfrm>
            <a:off x="11426342" y="6263640"/>
            <a:ext cx="155448" cy="155448"/>
          </a:xfrm>
          <a:prstGeom prst="ellipse">
            <a:avLst/>
          </a:prstGeom>
          <a:solidFill>
            <a:srgbClr val="41C5C5"/>
          </a:solidFill>
          <a:ln>
            <a:solidFill>
              <a:srgbClr val="41C5C5"/>
            </a:solidFill>
          </a:ln>
        </p:spPr>
        <p:txBody>
          <a:bodyPr wrap="square" rtlCol="0" anchor="ctr"/>
          <a:lstStyle/>
          <a:p>
            <a:pPr indent="0" marL="0">
              <a:buNone/>
            </a:pPr>
            <a:endParaRPr lang="en-US" dirty="0"/>
          </a:p>
        </p:txBody>
      </p:sp>
      <p:sp>
        <p:nvSpPr>
          <p:cNvPr id="7" name="Text 3"/>
          <p:cNvSpPr/>
          <p:nvPr>
            <p:ph idx="105" type="title" hasCustomPrompt="1"/>
          </p:nvPr>
        </p:nvSpPr>
        <p:spPr>
          <a:xfrm>
            <a:off x="1298448" y="2148840"/>
            <a:ext cx="7223760" cy="1600200"/>
          </a:xfrm>
          <a:prstGeom prst="rect">
            <a:avLst/>
          </a:prstGeom>
          <a:noFill/>
          <a:ln/>
        </p:spPr>
        <p:txBody>
          <a:bodyPr wrap="square" rtlCol="0"/>
          <a:lstStyle>
            <a:lvl1pPr algn="l" indent="0" marL="0">
              <a:buNone/>
              <a:defRPr lang="en-US" sz="4200" dirty="0">
                <a:solidFill>
                  <a:srgbClr val="FFFFFF"/>
                </a:solidFill>
                <a:latin typeface="Poppins Black" pitchFamily="34" charset="0"/>
                <a:ea typeface="Poppins Black" pitchFamily="34" charset="-122"/>
                <a:cs typeface="Poppins Black" pitchFamily="34" charset="-120"/>
              </a:defRPr>
            </a:lvl1pPr>
          </a:lstStyle>
          <a:p>
            <a:pPr algn="l" indent="0" marL="0">
              <a:buNone/>
            </a:pPr>
            <a:endParaRPr lang="en-US" sz="4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298448" y="1783080"/>
            <a:ext cx="6766560" cy="274320"/>
          </a:xfrm>
          <a:prstGeom prst="rect">
            <a:avLst/>
          </a:prstGeom>
          <a:noFill/>
          <a:ln/>
        </p:spPr>
        <p:txBody>
          <a:bodyPr wrap="square" lIns="0" tIns="0" rIns="0" bIns="0" rtlCol="0" anchor="ctr"/>
          <a:lstStyle/>
          <a:p>
            <a:pPr indent="0" marL="0">
              <a:buNone/>
            </a:pPr>
            <a:r>
              <a:rPr lang="en-US" sz="1200" b="1" spc="200" kern="0" dirty="0">
                <a:solidFill>
                  <a:srgbClr val="41C5C5"/>
                </a:solidFill>
                <a:latin typeface="Inter" pitchFamily="34" charset="0"/>
                <a:ea typeface="Inter" pitchFamily="34" charset="-122"/>
                <a:cs typeface="Inter" pitchFamily="34" charset="-120"/>
              </a:rPr>
              <a:t>BRAINSFIRST CASE · RWCS 2026 · GROUP 5</a:t>
            </a:r>
            <a:endParaRPr lang="en-US" sz="1200" dirty="0"/>
          </a:p>
        </p:txBody>
      </p:sp>
      <p:sp>
        <p:nvSpPr>
          <p:cNvPr id="3" name="Text 3"/>
          <p:cNvSpPr/>
          <p:nvPr>
            <p:ph idx="105" type="title" hasCustomPrompt="1"/>
          </p:nvPr>
        </p:nvSpPr>
        <p:spPr>
          <a:xfrm>
            <a:off x="1298448" y="2148840"/>
            <a:ext cx="7223760" cy="1600200"/>
          </a:xfrm>
          <a:prstGeom prst="rect">
            <a:avLst/>
          </a:prstGeom>
          <a:noFill/>
          <a:ln/>
        </p:spPr>
        <p:txBody>
          <a:bodyPr wrap="square" lIns="0" tIns="0" rIns="0" bIns="0" rtlCol="0" anchor="b"/>
          <a:lstStyle/>
          <a:p>
            <a:pPr algn="l" indent="0" marL="0">
              <a:buNone/>
            </a:pPr>
            <a:r>
              <a:rPr lang="en-US" sz="4200" dirty="0">
                <a:solidFill>
                  <a:srgbClr val="FFFFFF"/>
                </a:solidFill>
                <a:latin typeface="Poppins Black" pitchFamily="34" charset="0"/>
                <a:ea typeface="Poppins Black" pitchFamily="34" charset="-122"/>
                <a:cs typeface="Poppins Black" pitchFamily="34" charset="-120"/>
              </a:rPr>
              <a:t>From brain to pitch</a:t>
            </a:r>
            <a:endParaRPr lang="en-US" sz="4200" dirty="0"/>
          </a:p>
        </p:txBody>
      </p:sp>
      <p:sp>
        <p:nvSpPr>
          <p:cNvPr id="4" name="Text 2"/>
          <p:cNvSpPr txBox="1"/>
          <p:nvPr/>
        </p:nvSpPr>
        <p:spPr>
          <a:xfrm>
            <a:off x="1298448" y="3931920"/>
            <a:ext cx="6583680" cy="1188720"/>
          </a:xfrm>
          <a:prstGeom prst="rect">
            <a:avLst/>
          </a:prstGeom>
          <a:noFill/>
          <a:ln/>
        </p:spPr>
        <p:txBody>
          <a:bodyPr wrap="square" lIns="0" tIns="0" rIns="0" bIns="0" rtlCol="0" anchor="t"/>
          <a:lstStyle/>
          <a:p>
            <a:pPr indent="0" marL="0">
              <a:buNone/>
            </a:pPr>
            <a:r>
              <a:rPr lang="en-US" sz="1700" dirty="0">
                <a:solidFill>
                  <a:srgbClr val="D3DAE3"/>
                </a:solidFill>
                <a:latin typeface="Inter" pitchFamily="34" charset="0"/>
                <a:ea typeface="Inter" pitchFamily="34" charset="-122"/>
                <a:cs typeface="Inter" pitchFamily="34" charset="-120"/>
              </a:rPr>
              <a:t>Coaches need one drill change and one thing to count. We build the rule from profile to drill, and test whether coaches use it and whether the flags point the right way.</a:t>
            </a:r>
            <a:endParaRPr lang="en-US" sz="1700" dirty="0"/>
          </a:p>
        </p:txBody>
      </p:sp>
      <p:sp>
        <p:nvSpPr>
          <p:cNvPr id="5" name="Text 3"/>
          <p:cNvSpPr txBox="1"/>
          <p:nvPr/>
        </p:nvSpPr>
        <p:spPr>
          <a:xfrm>
            <a:off x="609905" y="5925312"/>
            <a:ext cx="8229600" cy="292608"/>
          </a:xfrm>
          <a:prstGeom prst="rect">
            <a:avLst/>
          </a:prstGeom>
          <a:noFill/>
          <a:ln/>
        </p:spPr>
        <p:txBody>
          <a:bodyPr wrap="square" lIns="0" tIns="0" rIns="0" bIns="0" rtlCol="0" anchor="ctr"/>
          <a:lstStyle/>
          <a:p>
            <a:pPr indent="0" marL="0">
              <a:buNone/>
            </a:pPr>
            <a:r>
              <a:rPr lang="en-US" sz="1200" dirty="0">
                <a:solidFill>
                  <a:srgbClr val="AFC0D4"/>
                </a:solidFill>
                <a:latin typeface="Inter" pitchFamily="34" charset="0"/>
                <a:ea typeface="Inter" pitchFamily="34" charset="-122"/>
                <a:cs typeface="Inter" pitchFamily="34" charset="-120"/>
              </a:rPr>
              <a:t>Hugo · Esmee · Melina  |  Reference version v3 · 28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THE PROBLEM</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The request is a drill library; the gap is a rule</a:t>
            </a:r>
            <a:endParaRPr lang="en-US" sz="2600" dirty="0"/>
          </a:p>
        </p:txBody>
      </p:sp>
      <p:sp>
        <p:nvSpPr>
          <p:cNvPr id="4" name="What you ask"/>
          <p:cNvSpPr/>
          <p:nvPr/>
        </p:nvSpPr>
        <p:spPr>
          <a:xfrm>
            <a:off x="548640" y="1645920"/>
            <a:ext cx="3545738" cy="3822192"/>
          </a:xfrm>
          <a:prstGeom prst="roundRect">
            <a:avLst>
              <a:gd name="adj" fmla="val 4126"/>
            </a:avLst>
          </a:prstGeom>
          <a:solidFill>
            <a:srgbClr val="F2F5F8"/>
          </a:solidFill>
          <a:ln w="9525">
            <a:solidFill>
              <a:srgbClr val="E2E8F0"/>
            </a:solidFill>
            <a:prstDash val="solid"/>
          </a:ln>
        </p:spPr>
      </p:sp>
      <p:sp>
        <p:nvSpPr>
          <p:cNvPr id="5" name="Shape 3"/>
          <p:cNvSpPr/>
          <p:nvPr/>
        </p:nvSpPr>
        <p:spPr>
          <a:xfrm>
            <a:off x="777240" y="1874520"/>
            <a:ext cx="457200" cy="457200"/>
          </a:xfrm>
          <a:prstGeom prst="roundRect">
            <a:avLst>
              <a:gd name="adj" fmla="val 24000"/>
            </a:avLst>
          </a:prstGeom>
          <a:solidFill>
            <a:srgbClr val="E2F3F1"/>
          </a:solidFill>
          <a:ln/>
        </p:spPr>
      </p:sp>
      <p:pic>
        <p:nvPicPr>
          <p:cNvPr id="6" name="Image 0" descr="preencoded.png">    </p:cNvPr>
          <p:cNvPicPr>
            <a:picLocks noChangeAspect="1"/>
          </p:cNvPicPr>
          <p:nvPr/>
        </p:nvPicPr>
        <p:blipFill>
          <a:blip r:embed="rId1"/>
          <a:stretch>
            <a:fillRect/>
          </a:stretch>
        </p:blipFill>
        <p:spPr>
          <a:xfrm>
            <a:off x="877824" y="1975104"/>
            <a:ext cx="256032" cy="256032"/>
          </a:xfrm>
          <a:prstGeom prst="rect">
            <a:avLst/>
          </a:prstGeom>
        </p:spPr>
      </p:pic>
      <p:sp>
        <p:nvSpPr>
          <p:cNvPr id="7" name="Text 4"/>
          <p:cNvSpPr txBox="1"/>
          <p:nvPr/>
        </p:nvSpPr>
        <p:spPr>
          <a:xfrm>
            <a:off x="1371600" y="1874520"/>
            <a:ext cx="2539898" cy="457200"/>
          </a:xfrm>
          <a:prstGeom prst="rect">
            <a:avLst/>
          </a:prstGeom>
          <a:noFill/>
          <a:ln/>
        </p:spPr>
        <p:txBody>
          <a:bodyPr wrap="square" lIns="0" tIns="0" rIns="0" bIns="0" rtlCol="0" anchor="ctr"/>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What you ask</a:t>
            </a:r>
            <a:endParaRPr lang="en-US" sz="1700" dirty="0"/>
          </a:p>
        </p:txBody>
      </p:sp>
      <p:sp>
        <p:nvSpPr>
          <p:cNvPr id="8" name="Shape 5"/>
          <p:cNvSpPr/>
          <p:nvPr/>
        </p:nvSpPr>
        <p:spPr>
          <a:xfrm>
            <a:off x="804672" y="2569464"/>
            <a:ext cx="128016" cy="128016"/>
          </a:xfrm>
          <a:prstGeom prst="ellipse">
            <a:avLst/>
          </a:prstGeom>
          <a:solidFill>
            <a:srgbClr val="8A94A3"/>
          </a:solidFill>
          <a:ln/>
        </p:spPr>
      </p:sp>
      <p:sp>
        <p:nvSpPr>
          <p:cNvPr id="9" name="Text 6"/>
          <p:cNvSpPr txBox="1"/>
          <p:nvPr/>
        </p:nvSpPr>
        <p:spPr>
          <a:xfrm>
            <a:off x="1078992" y="2487168"/>
            <a:ext cx="2814218" cy="26212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Drills linked to profiles</a:t>
            </a:r>
            <a:endParaRPr lang="en-US" sz="1600" dirty="0"/>
          </a:p>
        </p:txBody>
      </p:sp>
      <p:sp>
        <p:nvSpPr>
          <p:cNvPr id="10" name="Shape 7"/>
          <p:cNvSpPr/>
          <p:nvPr/>
        </p:nvSpPr>
        <p:spPr>
          <a:xfrm>
            <a:off x="804672" y="2996184"/>
            <a:ext cx="128016" cy="128016"/>
          </a:xfrm>
          <a:prstGeom prst="ellipse">
            <a:avLst/>
          </a:prstGeom>
          <a:solidFill>
            <a:srgbClr val="8A94A3"/>
          </a:solidFill>
          <a:ln/>
        </p:spPr>
      </p:sp>
      <p:sp>
        <p:nvSpPr>
          <p:cNvPr id="11" name="Text 8"/>
          <p:cNvSpPr txBox="1"/>
          <p:nvPr/>
        </p:nvSpPr>
        <p:spPr>
          <a:xfrm>
            <a:off x="1078992" y="2913888"/>
            <a:ext cx="2814218" cy="26212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AI-made visuals</a:t>
            </a:r>
            <a:endParaRPr lang="en-US" sz="1600" dirty="0"/>
          </a:p>
        </p:txBody>
      </p:sp>
      <p:sp>
        <p:nvSpPr>
          <p:cNvPr id="12" name="Shape 9"/>
          <p:cNvSpPr/>
          <p:nvPr/>
        </p:nvSpPr>
        <p:spPr>
          <a:xfrm>
            <a:off x="804672" y="3422904"/>
            <a:ext cx="128016" cy="128016"/>
          </a:xfrm>
          <a:prstGeom prst="ellipse">
            <a:avLst/>
          </a:prstGeom>
          <a:solidFill>
            <a:srgbClr val="8A94A3"/>
          </a:solidFill>
          <a:ln/>
        </p:spPr>
      </p:sp>
      <p:sp>
        <p:nvSpPr>
          <p:cNvPr id="13" name="Text 10"/>
          <p:cNvSpPr txBox="1"/>
          <p:nvPr/>
        </p:nvSpPr>
        <p:spPr>
          <a:xfrm>
            <a:off x="1078992" y="3340608"/>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A tablet, tested with coaches</a:t>
            </a:r>
            <a:endParaRPr lang="en-US" sz="1600" dirty="0"/>
          </a:p>
        </p:txBody>
      </p:sp>
      <p:sp>
        <p:nvSpPr>
          <p:cNvPr id="14" name="The problem behind it"/>
          <p:cNvSpPr/>
          <p:nvPr/>
        </p:nvSpPr>
        <p:spPr>
          <a:xfrm>
            <a:off x="4322978" y="1645920"/>
            <a:ext cx="3545738" cy="3822192"/>
          </a:xfrm>
          <a:prstGeom prst="roundRect">
            <a:avLst>
              <a:gd name="adj" fmla="val 4126"/>
            </a:avLst>
          </a:prstGeom>
          <a:solidFill>
            <a:srgbClr val="E2F3F1"/>
          </a:solidFill>
          <a:ln w="22225">
            <a:solidFill>
              <a:srgbClr val="41C5C5"/>
            </a:solidFill>
            <a:prstDash val="solid"/>
          </a:ln>
        </p:spPr>
      </p:sp>
      <p:sp>
        <p:nvSpPr>
          <p:cNvPr id="15" name="Shape 12"/>
          <p:cNvSpPr/>
          <p:nvPr/>
        </p:nvSpPr>
        <p:spPr>
          <a:xfrm>
            <a:off x="4551578" y="1874520"/>
            <a:ext cx="457200" cy="457200"/>
          </a:xfrm>
          <a:prstGeom prst="roundRect">
            <a:avLst>
              <a:gd name="adj" fmla="val 24000"/>
            </a:avLst>
          </a:prstGeom>
          <a:solidFill>
            <a:srgbClr val="E2F3F1"/>
          </a:solidFill>
          <a:ln/>
        </p:spPr>
      </p:sp>
      <p:pic>
        <p:nvPicPr>
          <p:cNvPr id="16" name="Image 1" descr="preencoded.png">    </p:cNvPr>
          <p:cNvPicPr>
            <a:picLocks noChangeAspect="1"/>
          </p:cNvPicPr>
          <p:nvPr/>
        </p:nvPicPr>
        <p:blipFill>
          <a:blip r:embed="rId2"/>
          <a:stretch>
            <a:fillRect/>
          </a:stretch>
        </p:blipFill>
        <p:spPr>
          <a:xfrm>
            <a:off x="4652162" y="1975104"/>
            <a:ext cx="256032" cy="256032"/>
          </a:xfrm>
          <a:prstGeom prst="rect">
            <a:avLst/>
          </a:prstGeom>
        </p:spPr>
      </p:pic>
      <p:sp>
        <p:nvSpPr>
          <p:cNvPr id="17" name="Text 13"/>
          <p:cNvSpPr txBox="1"/>
          <p:nvPr/>
        </p:nvSpPr>
        <p:spPr>
          <a:xfrm>
            <a:off x="5145938" y="1874520"/>
            <a:ext cx="2539898" cy="457200"/>
          </a:xfrm>
          <a:prstGeom prst="rect">
            <a:avLst/>
          </a:prstGeom>
          <a:noFill/>
          <a:ln/>
        </p:spPr>
        <p:txBody>
          <a:bodyPr wrap="square" lIns="0" tIns="0" rIns="0" bIns="0" rtlCol="0" anchor="ctr"/>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The problem behind it</a:t>
            </a:r>
            <a:endParaRPr lang="en-US" sz="1700" dirty="0"/>
          </a:p>
        </p:txBody>
      </p:sp>
      <p:sp>
        <p:nvSpPr>
          <p:cNvPr id="18" name="Shape 14"/>
          <p:cNvSpPr/>
          <p:nvPr/>
        </p:nvSpPr>
        <p:spPr>
          <a:xfrm>
            <a:off x="4579010" y="2569464"/>
            <a:ext cx="128016" cy="128016"/>
          </a:xfrm>
          <a:prstGeom prst="ellipse">
            <a:avLst/>
          </a:prstGeom>
          <a:solidFill>
            <a:srgbClr val="41C5C5"/>
          </a:solidFill>
          <a:ln/>
        </p:spPr>
      </p:sp>
      <p:sp>
        <p:nvSpPr>
          <p:cNvPr id="19" name="Text 15"/>
          <p:cNvSpPr txBox="1"/>
          <p:nvPr/>
        </p:nvSpPr>
        <p:spPr>
          <a:xfrm>
            <a:off x="4853330" y="2487168"/>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No rule turns a profile into a drill</a:t>
            </a:r>
            <a:endParaRPr lang="en-US" sz="1600" dirty="0"/>
          </a:p>
        </p:txBody>
      </p:sp>
      <p:sp>
        <p:nvSpPr>
          <p:cNvPr id="20" name="Shape 16"/>
          <p:cNvSpPr/>
          <p:nvPr/>
        </p:nvSpPr>
        <p:spPr>
          <a:xfrm>
            <a:off x="4579010" y="3240024"/>
            <a:ext cx="128016" cy="128016"/>
          </a:xfrm>
          <a:prstGeom prst="ellipse">
            <a:avLst/>
          </a:prstGeom>
          <a:solidFill>
            <a:srgbClr val="41C5C5"/>
          </a:solidFill>
          <a:ln/>
        </p:spPr>
      </p:sp>
      <p:sp>
        <p:nvSpPr>
          <p:cNvPr id="21" name="Text 17"/>
          <p:cNvSpPr txBox="1"/>
          <p:nvPr/>
        </p:nvSpPr>
        <p:spPr>
          <a:xfrm>
            <a:off x="4853330" y="3157728"/>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Drills tagged by brain function overpromise</a:t>
            </a:r>
            <a:endParaRPr lang="en-US" sz="1600" dirty="0"/>
          </a:p>
        </p:txBody>
      </p:sp>
      <p:sp>
        <p:nvSpPr>
          <p:cNvPr id="22" name="Shape 18"/>
          <p:cNvSpPr/>
          <p:nvPr/>
        </p:nvSpPr>
        <p:spPr>
          <a:xfrm>
            <a:off x="4579010" y="3910584"/>
            <a:ext cx="128016" cy="128016"/>
          </a:xfrm>
          <a:prstGeom prst="ellipse">
            <a:avLst/>
          </a:prstGeom>
          <a:solidFill>
            <a:srgbClr val="41C5C5"/>
          </a:solidFill>
          <a:ln/>
        </p:spPr>
      </p:sp>
      <p:sp>
        <p:nvSpPr>
          <p:cNvPr id="23" name="Text 19"/>
          <p:cNvSpPr txBox="1"/>
          <p:nvPr/>
        </p:nvSpPr>
        <p:spPr>
          <a:xfrm>
            <a:off x="4853330" y="3828288"/>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Coaches trust their own eye</a:t>
            </a:r>
            <a:endParaRPr lang="en-US" sz="1600" dirty="0"/>
          </a:p>
        </p:txBody>
      </p:sp>
      <p:sp>
        <p:nvSpPr>
          <p:cNvPr id="24" name="Still unknown"/>
          <p:cNvSpPr/>
          <p:nvPr/>
        </p:nvSpPr>
        <p:spPr>
          <a:xfrm>
            <a:off x="8097317" y="1645920"/>
            <a:ext cx="3545738" cy="3822192"/>
          </a:xfrm>
          <a:prstGeom prst="roundRect">
            <a:avLst>
              <a:gd name="adj" fmla="val 4126"/>
            </a:avLst>
          </a:prstGeom>
          <a:solidFill>
            <a:srgbClr val="F2F5F8"/>
          </a:solidFill>
          <a:ln w="9525">
            <a:solidFill>
              <a:srgbClr val="E2E8F0"/>
            </a:solidFill>
            <a:prstDash val="solid"/>
          </a:ln>
        </p:spPr>
      </p:sp>
      <p:sp>
        <p:nvSpPr>
          <p:cNvPr id="25" name="Shape 21"/>
          <p:cNvSpPr/>
          <p:nvPr/>
        </p:nvSpPr>
        <p:spPr>
          <a:xfrm>
            <a:off x="8325917" y="1874520"/>
            <a:ext cx="457200" cy="457200"/>
          </a:xfrm>
          <a:prstGeom prst="roundRect">
            <a:avLst>
              <a:gd name="adj" fmla="val 24000"/>
            </a:avLst>
          </a:prstGeom>
          <a:solidFill>
            <a:srgbClr val="E2F3F1"/>
          </a:solidFill>
          <a:ln/>
        </p:spPr>
      </p:sp>
      <p:pic>
        <p:nvPicPr>
          <p:cNvPr id="26" name="Image 2" descr="preencoded.png">    </p:cNvPr>
          <p:cNvPicPr>
            <a:picLocks noChangeAspect="1"/>
          </p:cNvPicPr>
          <p:nvPr/>
        </p:nvPicPr>
        <p:blipFill>
          <a:blip r:embed="rId3"/>
          <a:stretch>
            <a:fillRect/>
          </a:stretch>
        </p:blipFill>
        <p:spPr>
          <a:xfrm>
            <a:off x="8426501" y="1975104"/>
            <a:ext cx="256032" cy="256032"/>
          </a:xfrm>
          <a:prstGeom prst="rect">
            <a:avLst/>
          </a:prstGeom>
        </p:spPr>
      </p:pic>
      <p:sp>
        <p:nvSpPr>
          <p:cNvPr id="27" name="Text 22"/>
          <p:cNvSpPr txBox="1"/>
          <p:nvPr/>
        </p:nvSpPr>
        <p:spPr>
          <a:xfrm>
            <a:off x="8920277" y="1874520"/>
            <a:ext cx="2539898" cy="457200"/>
          </a:xfrm>
          <a:prstGeom prst="rect">
            <a:avLst/>
          </a:prstGeom>
          <a:noFill/>
          <a:ln/>
        </p:spPr>
        <p:txBody>
          <a:bodyPr wrap="square" lIns="0" tIns="0" rIns="0" bIns="0" rtlCol="0" anchor="ctr"/>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Still unknown</a:t>
            </a:r>
            <a:endParaRPr lang="en-US" sz="1700" dirty="0"/>
          </a:p>
        </p:txBody>
      </p:sp>
      <p:sp>
        <p:nvSpPr>
          <p:cNvPr id="28" name="Shape 23"/>
          <p:cNvSpPr/>
          <p:nvPr/>
        </p:nvSpPr>
        <p:spPr>
          <a:xfrm>
            <a:off x="8353349" y="2569464"/>
            <a:ext cx="128016" cy="128016"/>
          </a:xfrm>
          <a:prstGeom prst="ellipse">
            <a:avLst/>
          </a:prstGeom>
          <a:solidFill>
            <a:srgbClr val="EABF23"/>
          </a:solidFill>
          <a:ln/>
        </p:spPr>
      </p:sp>
      <p:sp>
        <p:nvSpPr>
          <p:cNvPr id="29" name="Text 24"/>
          <p:cNvSpPr txBox="1"/>
          <p:nvPr/>
        </p:nvSpPr>
        <p:spPr>
          <a:xfrm>
            <a:off x="8627669" y="2487168"/>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Do flagged players show the behaviour more?</a:t>
            </a:r>
            <a:endParaRPr lang="en-US" sz="1600" dirty="0"/>
          </a:p>
        </p:txBody>
      </p:sp>
      <p:sp>
        <p:nvSpPr>
          <p:cNvPr id="30" name="Text 25"/>
          <p:cNvSpPr txBox="1"/>
          <p:nvPr/>
        </p:nvSpPr>
        <p:spPr>
          <a:xfrm>
            <a:off x="8627669" y="3048000"/>
            <a:ext cx="1924812" cy="274320"/>
          </a:xfrm>
          <a:prstGeom prst="roundRect">
            <a:avLst>
              <a:gd name="adj" fmla="val 50000"/>
            </a:avLst>
          </a:prstGeom>
          <a:solidFill>
            <a:srgbClr val="007D8C"/>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Tested: blind clips</a:t>
            </a:r>
            <a:endParaRPr lang="en-US" sz="1200" dirty="0"/>
          </a:p>
        </p:txBody>
      </p:sp>
      <p:sp>
        <p:nvSpPr>
          <p:cNvPr id="31" name="Shape 26"/>
          <p:cNvSpPr/>
          <p:nvPr/>
        </p:nvSpPr>
        <p:spPr>
          <a:xfrm>
            <a:off x="8353349" y="3550920"/>
            <a:ext cx="128016" cy="128016"/>
          </a:xfrm>
          <a:prstGeom prst="ellipse">
            <a:avLst/>
          </a:prstGeom>
          <a:solidFill>
            <a:srgbClr val="EABF23"/>
          </a:solidFill>
          <a:ln/>
        </p:spPr>
      </p:sp>
      <p:sp>
        <p:nvSpPr>
          <p:cNvPr id="32" name="Text 27"/>
          <p:cNvSpPr txBox="1"/>
          <p:nvPr/>
        </p:nvSpPr>
        <p:spPr>
          <a:xfrm>
            <a:off x="8627669" y="3468624"/>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Will coaches pick a card in a minute?</a:t>
            </a:r>
            <a:endParaRPr lang="en-US" sz="1600" dirty="0"/>
          </a:p>
        </p:txBody>
      </p:sp>
      <p:sp>
        <p:nvSpPr>
          <p:cNvPr id="33" name="Text 28"/>
          <p:cNvSpPr txBox="1"/>
          <p:nvPr/>
        </p:nvSpPr>
        <p:spPr>
          <a:xfrm>
            <a:off x="8627669" y="4029456"/>
            <a:ext cx="795528" cy="274320"/>
          </a:xfrm>
          <a:prstGeom prst="roundRect">
            <a:avLst>
              <a:gd name="adj" fmla="val 50000"/>
            </a:avLst>
          </a:prstGeom>
          <a:solidFill>
            <a:srgbClr val="007D8C"/>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Tested</a:t>
            </a:r>
            <a:endParaRPr lang="en-US" sz="1200" dirty="0"/>
          </a:p>
        </p:txBody>
      </p:sp>
      <p:sp>
        <p:nvSpPr>
          <p:cNvPr id="34" name="Shape 29"/>
          <p:cNvSpPr/>
          <p:nvPr/>
        </p:nvSpPr>
        <p:spPr>
          <a:xfrm>
            <a:off x="8353349" y="4532376"/>
            <a:ext cx="128016" cy="128016"/>
          </a:xfrm>
          <a:prstGeom prst="ellipse">
            <a:avLst/>
          </a:prstGeom>
          <a:solidFill>
            <a:srgbClr val="EABF23"/>
          </a:solidFill>
          <a:ln/>
        </p:spPr>
      </p:sp>
      <p:sp>
        <p:nvSpPr>
          <p:cNvPr id="35" name="Text 30"/>
          <p:cNvSpPr txBox="1"/>
          <p:nvPr/>
        </p:nvSpPr>
        <p:spPr>
          <a:xfrm>
            <a:off x="8627669" y="4450080"/>
            <a:ext cx="2814218" cy="5059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Do profile picks beat the coach's eye?</a:t>
            </a:r>
            <a:endParaRPr lang="en-US" sz="1600" dirty="0"/>
          </a:p>
        </p:txBody>
      </p:sp>
      <p:sp>
        <p:nvSpPr>
          <p:cNvPr id="36" name="Text 31"/>
          <p:cNvSpPr txBox="1"/>
          <p:nvPr/>
        </p:nvSpPr>
        <p:spPr>
          <a:xfrm>
            <a:off x="8627669" y="5010912"/>
            <a:ext cx="1229868" cy="274320"/>
          </a:xfrm>
          <a:prstGeom prst="roundRect">
            <a:avLst>
              <a:gd name="adj" fmla="val 50000"/>
            </a:avLst>
          </a:prstGeom>
          <a:solidFill>
            <a:srgbClr val="EABF23"/>
          </a:solidFill>
          <a:ln/>
        </p:spPr>
        <p:txBody>
          <a:bodyPr wrap="square" lIns="0" tIns="0" rIns="0" bIns="0" rtlCol="0" anchor="ctr"/>
          <a:lstStyle/>
          <a:p>
            <a:pPr algn="ctr" indent="0" marL="0">
              <a:buNone/>
            </a:pPr>
            <a:r>
              <a:rPr lang="en-US" sz="1200" b="1" dirty="0">
                <a:solidFill>
                  <a:srgbClr val="263D57"/>
                </a:solidFill>
                <a:latin typeface="Inter" pitchFamily="34" charset="0"/>
                <a:ea typeface="Inter" pitchFamily="34" charset="-122"/>
                <a:cs typeface="Inter" pitchFamily="34" charset="-120"/>
              </a:rPr>
              <a:t>Later pilot</a:t>
            </a:r>
            <a:endParaRPr lang="en-US" sz="1200" dirty="0"/>
          </a:p>
        </p:txBody>
      </p:sp>
      <p:sp>
        <p:nvSpPr>
          <p:cNvPr id="37" name="Shape 32"/>
          <p:cNvSpPr/>
          <p:nvPr/>
        </p:nvSpPr>
        <p:spPr>
          <a:xfrm>
            <a:off x="548640" y="5577840"/>
            <a:ext cx="11094415" cy="548640"/>
          </a:xfrm>
          <a:prstGeom prst="roundRect">
            <a:avLst>
              <a:gd name="adj" fmla="val 16667"/>
            </a:avLst>
          </a:prstGeom>
          <a:solidFill>
            <a:srgbClr val="F2F5F8"/>
          </a:solidFill>
          <a:ln/>
        </p:spPr>
      </p:sp>
      <p:sp>
        <p:nvSpPr>
          <p:cNvPr id="38" name="Text 33"/>
          <p:cNvSpPr txBox="1"/>
          <p:nvPr/>
        </p:nvSpPr>
        <p:spPr>
          <a:xfrm>
            <a:off x="777240" y="5577840"/>
            <a:ext cx="10637215" cy="548640"/>
          </a:xfrm>
          <a:prstGeom prst="rect">
            <a:avLst/>
          </a:prstGeom>
          <a:noFill/>
          <a:ln/>
        </p:spPr>
        <p:txBody>
          <a:bodyPr wrap="square" lIns="0" tIns="0" rIns="0" bIns="0" rtlCol="0" anchor="ctr"/>
          <a:lstStyle/>
          <a:p>
            <a:pPr indent="0" marL="0">
              <a:buNone/>
            </a:pPr>
            <a:r>
              <a:rPr lang="en-US" sz="1600" dirty="0">
                <a:solidFill>
                  <a:srgbClr val="263D57"/>
                </a:solidFill>
                <a:latin typeface="Inter" pitchFamily="34" charset="0"/>
                <a:ea typeface="Inter" pitchFamily="34" charset="-122"/>
                <a:cs typeface="Inter" pitchFamily="34" charset="-120"/>
              </a:rPr>
              <a:t>The profile shows the coach where to look; it never decides.</a:t>
            </a:r>
            <a:endParaRPr lang="en-US" sz="16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EVIDENCE</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Train in the game, and promise behaviour</a:t>
            </a:r>
            <a:endParaRPr lang="en-US" sz="2600" dirty="0"/>
          </a:p>
        </p:txBody>
      </p:sp>
      <p:sp>
        <p:nvSpPr>
          <p:cNvPr id="4" name="Working-memory games (children)"/>
          <p:cNvSpPr/>
          <p:nvPr/>
        </p:nvSpPr>
        <p:spPr>
          <a:xfrm>
            <a:off x="548640" y="1645920"/>
            <a:ext cx="11094415" cy="914400"/>
          </a:xfrm>
          <a:prstGeom prst="roundRect">
            <a:avLst>
              <a:gd name="adj" fmla="val 16000"/>
            </a:avLst>
          </a:prstGeom>
          <a:solidFill>
            <a:srgbClr val="F2F5F8"/>
          </a:solidFill>
          <a:ln w="9525">
            <a:solidFill>
              <a:srgbClr val="E2E8F0"/>
            </a:solidFill>
            <a:prstDash val="solid"/>
          </a:ln>
        </p:spPr>
      </p:sp>
      <p:sp>
        <p:nvSpPr>
          <p:cNvPr id="5" name="Shape 3"/>
          <p:cNvSpPr/>
          <p:nvPr/>
        </p:nvSpPr>
        <p:spPr>
          <a:xfrm>
            <a:off x="777240" y="1865376"/>
            <a:ext cx="475488" cy="475488"/>
          </a:xfrm>
          <a:prstGeom prst="roundRect">
            <a:avLst>
              <a:gd name="adj" fmla="val 23077"/>
            </a:avLst>
          </a:prstGeom>
          <a:solidFill>
            <a:srgbClr val="E2F3F1"/>
          </a:solidFill>
          <a:ln/>
        </p:spPr>
      </p:sp>
      <p:pic>
        <p:nvPicPr>
          <p:cNvPr id="6" name="Image 0" descr="preencoded.png">    </p:cNvPr>
          <p:cNvPicPr>
            <a:picLocks noChangeAspect="1"/>
          </p:cNvPicPr>
          <p:nvPr/>
        </p:nvPicPr>
        <p:blipFill>
          <a:blip r:embed="rId1"/>
          <a:stretch>
            <a:fillRect/>
          </a:stretch>
        </p:blipFill>
        <p:spPr>
          <a:xfrm>
            <a:off x="881847" y="1969983"/>
            <a:ext cx="266273" cy="266273"/>
          </a:xfrm>
          <a:prstGeom prst="rect">
            <a:avLst/>
          </a:prstGeom>
        </p:spPr>
      </p:pic>
      <p:sp>
        <p:nvSpPr>
          <p:cNvPr id="7" name="Text 4"/>
          <p:cNvSpPr txBox="1"/>
          <p:nvPr/>
        </p:nvSpPr>
        <p:spPr>
          <a:xfrm>
            <a:off x="1417320" y="1645920"/>
            <a:ext cx="3154680" cy="91440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Working-memory games (children)</a:t>
            </a:r>
            <a:endParaRPr lang="en-US" sz="1600" dirty="0"/>
          </a:p>
        </p:txBody>
      </p:sp>
      <p:sp>
        <p:nvSpPr>
          <p:cNvPr id="8" name="Text 5"/>
          <p:cNvSpPr txBox="1"/>
          <p:nvPr/>
        </p:nvSpPr>
        <p:spPr>
          <a:xfrm>
            <a:off x="4754880" y="1645920"/>
            <a:ext cx="4556455" cy="914400"/>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Better at the game, not at untrained skills</a:t>
            </a:r>
            <a:endParaRPr lang="en-US" sz="1500" dirty="0"/>
          </a:p>
        </p:txBody>
      </p:sp>
      <p:sp>
        <p:nvSpPr>
          <p:cNvPr id="9" name="Text 6"/>
          <p:cNvSpPr txBox="1"/>
          <p:nvPr/>
        </p:nvSpPr>
        <p:spPr>
          <a:xfrm>
            <a:off x="9631375" y="1920240"/>
            <a:ext cx="1783080" cy="365760"/>
          </a:xfrm>
          <a:prstGeom prst="roundRect">
            <a:avLst>
              <a:gd name="adj" fmla="val 50000"/>
            </a:avLst>
          </a:prstGeom>
          <a:solidFill>
            <a:srgbClr val="EB5E28"/>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No transfer</a:t>
            </a:r>
            <a:endParaRPr lang="en-US" sz="1200" dirty="0"/>
          </a:p>
        </p:txBody>
      </p:sp>
      <p:sp>
        <p:nvSpPr>
          <p:cNvPr id="10" name="Off-pitch tracking, 62 academy players"/>
          <p:cNvSpPr/>
          <p:nvPr/>
        </p:nvSpPr>
        <p:spPr>
          <a:xfrm>
            <a:off x="548640" y="2688336"/>
            <a:ext cx="11094415" cy="914400"/>
          </a:xfrm>
          <a:prstGeom prst="roundRect">
            <a:avLst>
              <a:gd name="adj" fmla="val 16000"/>
            </a:avLst>
          </a:prstGeom>
          <a:solidFill>
            <a:srgbClr val="F2F5F8"/>
          </a:solidFill>
          <a:ln w="9525">
            <a:solidFill>
              <a:srgbClr val="E2E8F0"/>
            </a:solidFill>
            <a:prstDash val="solid"/>
          </a:ln>
        </p:spPr>
      </p:sp>
      <p:sp>
        <p:nvSpPr>
          <p:cNvPr id="11" name="Shape 8"/>
          <p:cNvSpPr/>
          <p:nvPr/>
        </p:nvSpPr>
        <p:spPr>
          <a:xfrm>
            <a:off x="777240" y="2907792"/>
            <a:ext cx="475488" cy="475488"/>
          </a:xfrm>
          <a:prstGeom prst="roundRect">
            <a:avLst>
              <a:gd name="adj" fmla="val 23077"/>
            </a:avLst>
          </a:prstGeom>
          <a:solidFill>
            <a:srgbClr val="E2F3F1"/>
          </a:solidFill>
          <a:ln/>
        </p:spPr>
      </p:sp>
      <p:pic>
        <p:nvPicPr>
          <p:cNvPr id="12" name="Image 1" descr="preencoded.png">    </p:cNvPr>
          <p:cNvPicPr>
            <a:picLocks noChangeAspect="1"/>
          </p:cNvPicPr>
          <p:nvPr/>
        </p:nvPicPr>
        <p:blipFill>
          <a:blip r:embed="rId2"/>
          <a:stretch>
            <a:fillRect/>
          </a:stretch>
        </p:blipFill>
        <p:spPr>
          <a:xfrm>
            <a:off x="881847" y="3012399"/>
            <a:ext cx="266273" cy="266273"/>
          </a:xfrm>
          <a:prstGeom prst="rect">
            <a:avLst/>
          </a:prstGeom>
        </p:spPr>
      </p:pic>
      <p:sp>
        <p:nvSpPr>
          <p:cNvPr id="13" name="Text 9"/>
          <p:cNvSpPr txBox="1"/>
          <p:nvPr/>
        </p:nvSpPr>
        <p:spPr>
          <a:xfrm>
            <a:off x="1417320" y="2688336"/>
            <a:ext cx="3154680" cy="91440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Off-pitch tracking, 62 academy players</a:t>
            </a:r>
            <a:endParaRPr lang="en-US" sz="1600" dirty="0"/>
          </a:p>
        </p:txBody>
      </p:sp>
      <p:sp>
        <p:nvSpPr>
          <p:cNvPr id="14" name="Text 10"/>
          <p:cNvSpPr txBox="1"/>
          <p:nvPr/>
        </p:nvSpPr>
        <p:spPr>
          <a:xfrm>
            <a:off x="4754880" y="2688336"/>
            <a:ext cx="4556455" cy="914400"/>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Better at the task, not in games</a:t>
            </a:r>
            <a:endParaRPr lang="en-US" sz="1500" dirty="0"/>
          </a:p>
        </p:txBody>
      </p:sp>
      <p:sp>
        <p:nvSpPr>
          <p:cNvPr id="15" name="Text 11"/>
          <p:cNvSpPr txBox="1"/>
          <p:nvPr/>
        </p:nvSpPr>
        <p:spPr>
          <a:xfrm>
            <a:off x="9631375" y="2962656"/>
            <a:ext cx="1783080" cy="365760"/>
          </a:xfrm>
          <a:prstGeom prst="roundRect">
            <a:avLst>
              <a:gd name="adj" fmla="val 50000"/>
            </a:avLst>
          </a:prstGeom>
          <a:solidFill>
            <a:srgbClr val="EB5E28"/>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No transfer</a:t>
            </a:r>
            <a:endParaRPr lang="en-US" sz="1200" dirty="0"/>
          </a:p>
        </p:txBody>
      </p:sp>
      <p:sp>
        <p:nvSpPr>
          <p:cNvPr id="16" name="Football decision training"/>
          <p:cNvSpPr/>
          <p:nvPr/>
        </p:nvSpPr>
        <p:spPr>
          <a:xfrm>
            <a:off x="548640" y="3730752"/>
            <a:ext cx="11094415" cy="914400"/>
          </a:xfrm>
          <a:prstGeom prst="roundRect">
            <a:avLst>
              <a:gd name="adj" fmla="val 16000"/>
            </a:avLst>
          </a:prstGeom>
          <a:solidFill>
            <a:srgbClr val="F2F5F8"/>
          </a:solidFill>
          <a:ln w="9525">
            <a:solidFill>
              <a:srgbClr val="E2E8F0"/>
            </a:solidFill>
            <a:prstDash val="solid"/>
          </a:ln>
        </p:spPr>
      </p:sp>
      <p:sp>
        <p:nvSpPr>
          <p:cNvPr id="17" name="Shape 13"/>
          <p:cNvSpPr/>
          <p:nvPr/>
        </p:nvSpPr>
        <p:spPr>
          <a:xfrm>
            <a:off x="777240" y="3950208"/>
            <a:ext cx="475488" cy="475488"/>
          </a:xfrm>
          <a:prstGeom prst="roundRect">
            <a:avLst>
              <a:gd name="adj" fmla="val 23077"/>
            </a:avLst>
          </a:prstGeom>
          <a:solidFill>
            <a:srgbClr val="E2F3F1"/>
          </a:solidFill>
          <a:ln/>
        </p:spPr>
      </p:sp>
      <p:pic>
        <p:nvPicPr>
          <p:cNvPr id="18" name="Image 2" descr="preencoded.png">    </p:cNvPr>
          <p:cNvPicPr>
            <a:picLocks noChangeAspect="1"/>
          </p:cNvPicPr>
          <p:nvPr/>
        </p:nvPicPr>
        <p:blipFill>
          <a:blip r:embed="rId3"/>
          <a:stretch>
            <a:fillRect/>
          </a:stretch>
        </p:blipFill>
        <p:spPr>
          <a:xfrm>
            <a:off x="881847" y="4054815"/>
            <a:ext cx="266273" cy="266273"/>
          </a:xfrm>
          <a:prstGeom prst="rect">
            <a:avLst/>
          </a:prstGeom>
        </p:spPr>
      </p:pic>
      <p:sp>
        <p:nvSpPr>
          <p:cNvPr id="19" name="Text 14"/>
          <p:cNvSpPr txBox="1"/>
          <p:nvPr/>
        </p:nvSpPr>
        <p:spPr>
          <a:xfrm>
            <a:off x="1417320" y="3730752"/>
            <a:ext cx="3154680" cy="91440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Football decision training</a:t>
            </a:r>
            <a:endParaRPr lang="en-US" sz="1600" dirty="0"/>
          </a:p>
        </p:txBody>
      </p:sp>
      <p:sp>
        <p:nvSpPr>
          <p:cNvPr id="20" name="Text 15"/>
          <p:cNvSpPr txBox="1"/>
          <p:nvPr/>
        </p:nvSpPr>
        <p:spPr>
          <a:xfrm>
            <a:off x="4754880" y="3730752"/>
            <a:ext cx="4556455" cy="914400"/>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Better decisions on the pitch; match results unproven</a:t>
            </a:r>
            <a:endParaRPr lang="en-US" sz="1500" dirty="0"/>
          </a:p>
        </p:txBody>
      </p:sp>
      <p:sp>
        <p:nvSpPr>
          <p:cNvPr id="21" name="Text 16"/>
          <p:cNvSpPr txBox="1"/>
          <p:nvPr/>
        </p:nvSpPr>
        <p:spPr>
          <a:xfrm>
            <a:off x="9631375" y="4005072"/>
            <a:ext cx="1783080" cy="365760"/>
          </a:xfrm>
          <a:prstGeom prst="roundRect">
            <a:avLst>
              <a:gd name="adj" fmla="val 50000"/>
            </a:avLst>
          </a:prstGeom>
          <a:solidFill>
            <a:srgbClr val="007D8C"/>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Near transfer</a:t>
            </a:r>
            <a:endParaRPr lang="en-US" sz="1200" dirty="0"/>
          </a:p>
        </p:txBody>
      </p:sp>
      <p:sp>
        <p:nvSpPr>
          <p:cNvPr id="22" name="Shape 17"/>
          <p:cNvSpPr/>
          <p:nvPr/>
        </p:nvSpPr>
        <p:spPr>
          <a:xfrm>
            <a:off x="548640" y="4919472"/>
            <a:ext cx="11094415" cy="1005840"/>
          </a:xfrm>
          <a:prstGeom prst="roundRect">
            <a:avLst>
              <a:gd name="adj" fmla="val 10909"/>
            </a:avLst>
          </a:prstGeom>
          <a:solidFill>
            <a:srgbClr val="E2F3F1"/>
          </a:solidFill>
          <a:ln w="22225">
            <a:solidFill>
              <a:srgbClr val="41C5C5"/>
            </a:solidFill>
            <a:prstDash val="solid"/>
          </a:ln>
        </p:spPr>
      </p:sp>
      <p:sp>
        <p:nvSpPr>
          <p:cNvPr id="23" name="Text 18"/>
          <p:cNvSpPr txBox="1"/>
          <p:nvPr/>
        </p:nvSpPr>
        <p:spPr>
          <a:xfrm>
            <a:off x="868680" y="4919472"/>
            <a:ext cx="10454335" cy="1005840"/>
          </a:xfrm>
          <a:prstGeom prst="rect">
            <a:avLst/>
          </a:prstGeom>
          <a:noFill/>
          <a:ln/>
        </p:spPr>
        <p:txBody>
          <a:bodyPr wrap="square" lIns="0" tIns="0" rIns="0" bIns="0" rtlCol="0" anchor="ctr"/>
          <a:lstStyle/>
          <a:p>
            <a:pPr indent="0" marL="0">
              <a:buNone/>
            </a:pPr>
            <a:r>
              <a:rPr lang="en-US" sz="1900" dirty="0">
                <a:solidFill>
                  <a:srgbClr val="263D57"/>
                </a:solidFill>
                <a:latin typeface="Poppins SemiBold" pitchFamily="34" charset="0"/>
                <a:ea typeface="Poppins SemiBold" pitchFamily="34" charset="-122"/>
                <a:cs typeface="Poppins SemiBold" pitchFamily="34" charset="-120"/>
              </a:rPr>
              <a:t>So each card names a match situation and one behaviour to count, never a brain function.</a:t>
            </a:r>
            <a:endParaRPr lang="en-US" sz="19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BRAIN AND COGNITION</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One mechanism per part of the work</a:t>
            </a:r>
            <a:endParaRPr lang="en-US" sz="2600" dirty="0"/>
          </a:p>
        </p:txBody>
      </p:sp>
      <p:sp>
        <p:nvSpPr>
          <p:cNvPr id="4" name="Text 2"/>
          <p:cNvSpPr txBox="1"/>
          <p:nvPr/>
        </p:nvSpPr>
        <p:spPr>
          <a:xfrm>
            <a:off x="777240" y="1627632"/>
            <a:ext cx="1997947" cy="256032"/>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PART</a:t>
            </a:r>
            <a:endParaRPr lang="en-US" sz="1200" dirty="0"/>
          </a:p>
        </p:txBody>
      </p:sp>
      <p:sp>
        <p:nvSpPr>
          <p:cNvPr id="5" name="Text 3"/>
          <p:cNvSpPr txBox="1"/>
          <p:nvPr/>
        </p:nvSpPr>
        <p:spPr>
          <a:xfrm>
            <a:off x="3003787" y="1627632"/>
            <a:ext cx="4757016" cy="256032"/>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MECHANISM</a:t>
            </a:r>
            <a:endParaRPr lang="en-US" sz="1200" dirty="0"/>
          </a:p>
        </p:txBody>
      </p:sp>
      <p:sp>
        <p:nvSpPr>
          <p:cNvPr id="6" name="Text 4"/>
          <p:cNvSpPr txBox="1"/>
          <p:nvPr/>
        </p:nvSpPr>
        <p:spPr>
          <a:xfrm>
            <a:off x="7989403" y="1627632"/>
            <a:ext cx="3425052" cy="256032"/>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WHY IT FITS BRAINSFIRST</a:t>
            </a:r>
            <a:endParaRPr lang="en-US" sz="1200" dirty="0"/>
          </a:p>
        </p:txBody>
      </p:sp>
      <p:sp>
        <p:nvSpPr>
          <p:cNvPr id="7" name="Row Drill cards"/>
          <p:cNvSpPr/>
          <p:nvPr/>
        </p:nvSpPr>
        <p:spPr>
          <a:xfrm>
            <a:off x="548640" y="1965960"/>
            <a:ext cx="11094415" cy="731520"/>
          </a:xfrm>
          <a:prstGeom prst="roundRect">
            <a:avLst>
              <a:gd name="adj" fmla="val 20000"/>
            </a:avLst>
          </a:prstGeom>
          <a:solidFill>
            <a:srgbClr val="F2F5F8"/>
          </a:solidFill>
          <a:ln w="9525">
            <a:solidFill>
              <a:srgbClr val="E2E8F0"/>
            </a:solidFill>
            <a:prstDash val="solid"/>
          </a:ln>
        </p:spPr>
      </p:sp>
      <p:sp>
        <p:nvSpPr>
          <p:cNvPr id="8" name="Text 6"/>
          <p:cNvSpPr txBox="1"/>
          <p:nvPr/>
        </p:nvSpPr>
        <p:spPr>
          <a:xfrm>
            <a:off x="777240" y="1965960"/>
            <a:ext cx="1997947" cy="73152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Drill cards</a:t>
            </a:r>
            <a:endParaRPr lang="en-US" sz="1600" dirty="0"/>
          </a:p>
        </p:txBody>
      </p:sp>
      <p:sp>
        <p:nvSpPr>
          <p:cNvPr id="9" name="Text 7"/>
          <p:cNvSpPr txBox="1"/>
          <p:nvPr/>
        </p:nvSpPr>
        <p:spPr>
          <a:xfrm>
            <a:off x="3003787" y="1965960"/>
            <a:ext cx="4757016" cy="7315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Transfer shrinks with distance: train in the game</a:t>
            </a:r>
            <a:endParaRPr lang="en-US" sz="1500" dirty="0"/>
          </a:p>
        </p:txBody>
      </p:sp>
      <p:sp>
        <p:nvSpPr>
          <p:cNvPr id="10" name="Text 8"/>
          <p:cNvSpPr txBox="1"/>
          <p:nvPr/>
        </p:nvSpPr>
        <p:spPr>
          <a:xfrm>
            <a:off x="7989403" y="1965960"/>
            <a:ext cx="3425052" cy="731520"/>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No brain-training claims</a:t>
            </a:r>
            <a:endParaRPr lang="en-US" sz="1500" dirty="0"/>
          </a:p>
        </p:txBody>
      </p:sp>
      <p:sp>
        <p:nvSpPr>
          <p:cNvPr id="11" name="Row Picking the level"/>
          <p:cNvSpPr/>
          <p:nvPr/>
        </p:nvSpPr>
        <p:spPr>
          <a:xfrm>
            <a:off x="548640" y="2788920"/>
            <a:ext cx="11094415" cy="731520"/>
          </a:xfrm>
          <a:prstGeom prst="roundRect">
            <a:avLst>
              <a:gd name="adj" fmla="val 20000"/>
            </a:avLst>
          </a:prstGeom>
          <a:solidFill>
            <a:srgbClr val="F2F5F8"/>
          </a:solidFill>
          <a:ln w="9525">
            <a:solidFill>
              <a:srgbClr val="E2E8F0"/>
            </a:solidFill>
            <a:prstDash val="solid"/>
          </a:ln>
        </p:spPr>
      </p:sp>
      <p:sp>
        <p:nvSpPr>
          <p:cNvPr id="12" name="Text 10"/>
          <p:cNvSpPr txBox="1"/>
          <p:nvPr/>
        </p:nvSpPr>
        <p:spPr>
          <a:xfrm>
            <a:off x="777240" y="2788920"/>
            <a:ext cx="1997947" cy="73152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Picking the level</a:t>
            </a:r>
            <a:endParaRPr lang="en-US" sz="1600" dirty="0"/>
          </a:p>
        </p:txBody>
      </p:sp>
      <p:sp>
        <p:nvSpPr>
          <p:cNvPr id="13" name="Text 11"/>
          <p:cNvSpPr txBox="1"/>
          <p:nvPr/>
        </p:nvSpPr>
        <p:spPr>
          <a:xfrm>
            <a:off x="3003787" y="2788920"/>
            <a:ext cx="4757016" cy="7315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Challenge point: difficulty must fit the learners</a:t>
            </a:r>
            <a:endParaRPr lang="en-US" sz="1500" dirty="0"/>
          </a:p>
        </p:txBody>
      </p:sp>
      <p:sp>
        <p:nvSpPr>
          <p:cNvPr id="14" name="Text 12"/>
          <p:cNvSpPr txBox="1"/>
          <p:nvPr/>
        </p:nvSpPr>
        <p:spPr>
          <a:xfrm>
            <a:off x="7989403" y="2788920"/>
            <a:ext cx="3425052" cy="731520"/>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Profiles set the group's level</a:t>
            </a:r>
            <a:endParaRPr lang="en-US" sz="1500" dirty="0"/>
          </a:p>
        </p:txBody>
      </p:sp>
      <p:sp>
        <p:nvSpPr>
          <p:cNvPr id="15" name="Row Instructions"/>
          <p:cNvSpPr/>
          <p:nvPr/>
        </p:nvSpPr>
        <p:spPr>
          <a:xfrm>
            <a:off x="548640" y="3611880"/>
            <a:ext cx="11094415" cy="658368"/>
          </a:xfrm>
          <a:prstGeom prst="roundRect">
            <a:avLst>
              <a:gd name="adj" fmla="val 22222"/>
            </a:avLst>
          </a:prstGeom>
          <a:solidFill>
            <a:srgbClr val="F2F5F8"/>
          </a:solidFill>
          <a:ln w="9525">
            <a:solidFill>
              <a:srgbClr val="E2E8F0"/>
            </a:solidFill>
            <a:prstDash val="solid"/>
          </a:ln>
        </p:spPr>
      </p:sp>
      <p:sp>
        <p:nvSpPr>
          <p:cNvPr id="16" name="Text 14"/>
          <p:cNvSpPr txBox="1"/>
          <p:nvPr/>
        </p:nvSpPr>
        <p:spPr>
          <a:xfrm>
            <a:off x="777240" y="3611880"/>
            <a:ext cx="1997947" cy="658368"/>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Instructions</a:t>
            </a:r>
            <a:endParaRPr lang="en-US" sz="1600" dirty="0"/>
          </a:p>
        </p:txBody>
      </p:sp>
      <p:sp>
        <p:nvSpPr>
          <p:cNvPr id="17" name="Text 15"/>
          <p:cNvSpPr txBox="1"/>
          <p:nvPr/>
        </p:nvSpPr>
        <p:spPr>
          <a:xfrm>
            <a:off x="3003787" y="3611880"/>
            <a:ext cx="4757016" cy="658368"/>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Low working memory: five cues don't stick</a:t>
            </a:r>
            <a:endParaRPr lang="en-US" sz="1500" dirty="0"/>
          </a:p>
        </p:txBody>
      </p:sp>
      <p:sp>
        <p:nvSpPr>
          <p:cNvPr id="18" name="Text 16"/>
          <p:cNvSpPr txBox="1"/>
          <p:nvPr/>
        </p:nvSpPr>
        <p:spPr>
          <a:xfrm>
            <a:off x="7989403" y="3611880"/>
            <a:ext cx="3425052" cy="658368"/>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One cue per card</a:t>
            </a:r>
            <a:endParaRPr lang="en-US" sz="1500" dirty="0"/>
          </a:p>
        </p:txBody>
      </p:sp>
      <p:sp>
        <p:nvSpPr>
          <p:cNvPr id="19" name="Row Checking the flag"/>
          <p:cNvSpPr/>
          <p:nvPr/>
        </p:nvSpPr>
        <p:spPr>
          <a:xfrm>
            <a:off x="548640" y="4361688"/>
            <a:ext cx="11094415" cy="731520"/>
          </a:xfrm>
          <a:prstGeom prst="roundRect">
            <a:avLst>
              <a:gd name="adj" fmla="val 20000"/>
            </a:avLst>
          </a:prstGeom>
          <a:solidFill>
            <a:srgbClr val="F2F5F8"/>
          </a:solidFill>
          <a:ln w="9525">
            <a:solidFill>
              <a:srgbClr val="E2E8F0"/>
            </a:solidFill>
            <a:prstDash val="solid"/>
          </a:ln>
        </p:spPr>
      </p:sp>
      <p:sp>
        <p:nvSpPr>
          <p:cNvPr id="20" name="Text 18"/>
          <p:cNvSpPr txBox="1"/>
          <p:nvPr/>
        </p:nvSpPr>
        <p:spPr>
          <a:xfrm>
            <a:off x="777240" y="4361688"/>
            <a:ext cx="1997947" cy="73152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Checking the flag</a:t>
            </a:r>
            <a:endParaRPr lang="en-US" sz="1600" dirty="0"/>
          </a:p>
        </p:txBody>
      </p:sp>
      <p:sp>
        <p:nvSpPr>
          <p:cNvPr id="21" name="Text 19"/>
          <p:cNvSpPr txBox="1"/>
          <p:nvPr/>
        </p:nvSpPr>
        <p:spPr>
          <a:xfrm>
            <a:off x="3003787" y="4361688"/>
            <a:ext cx="4757016" cy="7315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Confirmation bias: a flag shows what it predicts</a:t>
            </a:r>
            <a:endParaRPr lang="en-US" sz="1500" dirty="0"/>
          </a:p>
        </p:txBody>
      </p:sp>
      <p:sp>
        <p:nvSpPr>
          <p:cNvPr id="22" name="Text 20"/>
          <p:cNvSpPr txBox="1"/>
          <p:nvPr/>
        </p:nvSpPr>
        <p:spPr>
          <a:xfrm>
            <a:off x="7989403" y="4361688"/>
            <a:ext cx="3425052" cy="731520"/>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Coach judges first, then sees the flag</a:t>
            </a:r>
            <a:endParaRPr lang="en-US" sz="1500" dirty="0"/>
          </a:p>
        </p:txBody>
      </p:sp>
      <p:sp>
        <p:nvSpPr>
          <p:cNvPr id="23" name="Row Coach's tablet"/>
          <p:cNvSpPr/>
          <p:nvPr/>
        </p:nvSpPr>
        <p:spPr>
          <a:xfrm>
            <a:off x="548640" y="5184648"/>
            <a:ext cx="11094415" cy="658368"/>
          </a:xfrm>
          <a:prstGeom prst="roundRect">
            <a:avLst>
              <a:gd name="adj" fmla="val 22222"/>
            </a:avLst>
          </a:prstGeom>
          <a:solidFill>
            <a:srgbClr val="F2F5F8"/>
          </a:solidFill>
          <a:ln w="9525">
            <a:solidFill>
              <a:srgbClr val="E2E8F0"/>
            </a:solidFill>
            <a:prstDash val="solid"/>
          </a:ln>
        </p:spPr>
      </p:sp>
      <p:sp>
        <p:nvSpPr>
          <p:cNvPr id="24" name="Text 22"/>
          <p:cNvSpPr txBox="1"/>
          <p:nvPr/>
        </p:nvSpPr>
        <p:spPr>
          <a:xfrm>
            <a:off x="777240" y="5184648"/>
            <a:ext cx="1997947" cy="658368"/>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Coach's tablet</a:t>
            </a:r>
            <a:endParaRPr lang="en-US" sz="1600" dirty="0"/>
          </a:p>
        </p:txBody>
      </p:sp>
      <p:sp>
        <p:nvSpPr>
          <p:cNvPr id="25" name="Text 23"/>
          <p:cNvSpPr txBox="1"/>
          <p:nvPr/>
        </p:nvSpPr>
        <p:spPr>
          <a:xfrm>
            <a:off x="3003787" y="5184648"/>
            <a:ext cx="4757016" cy="658368"/>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Recognition beats recall under time pressure</a:t>
            </a:r>
            <a:endParaRPr lang="en-US" sz="1500" dirty="0"/>
          </a:p>
        </p:txBody>
      </p:sp>
      <p:sp>
        <p:nvSpPr>
          <p:cNvPr id="26" name="Text 24"/>
          <p:cNvSpPr txBox="1"/>
          <p:nvPr/>
        </p:nvSpPr>
        <p:spPr>
          <a:xfrm>
            <a:off x="7989403" y="5184648"/>
            <a:ext cx="3425052" cy="658368"/>
          </a:xfrm>
          <a:prstGeom prst="rect">
            <a:avLst/>
          </a:prstGeom>
          <a:noFill/>
          <a:ln/>
        </p:spPr>
        <p:txBody>
          <a:bodyPr wrap="square" lIns="0" tIns="0" rIns="0" bIns="0" rtlCol="0" anchor="ctr"/>
          <a:lstStyle/>
          <a:p>
            <a:pPr indent="0" marL="0">
              <a:buNone/>
            </a:pPr>
            <a:r>
              <a:rPr lang="en-US" sz="1500" dirty="0">
                <a:solidFill>
                  <a:srgbClr val="5A6573"/>
                </a:solidFill>
                <a:latin typeface="Inter" pitchFamily="34" charset="0"/>
                <a:ea typeface="Inter" pitchFamily="34" charset="-122"/>
                <a:cs typeface="Inter" pitchFamily="34" charset="-120"/>
              </a:rPr>
              <a:t>Three options, one tap</a:t>
            </a:r>
            <a:endParaRPr lang="en-US" sz="15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PROFILE TO DRILL</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How a profile picks a card in under a minute</a:t>
            </a:r>
            <a:endParaRPr lang="en-US" sz="2600" dirty="0"/>
          </a:p>
        </p:txBody>
      </p:sp>
      <p:sp>
        <p:nvSpPr>
          <p:cNvPr id="4" name="Step Flag"/>
          <p:cNvSpPr/>
          <p:nvPr/>
        </p:nvSpPr>
        <p:spPr>
          <a:xfrm>
            <a:off x="548640" y="1664208"/>
            <a:ext cx="2526716" cy="2011680"/>
          </a:xfrm>
          <a:prstGeom prst="roundRect">
            <a:avLst>
              <a:gd name="adj" fmla="val 7273"/>
            </a:avLst>
          </a:prstGeom>
          <a:solidFill>
            <a:srgbClr val="F2F5F8"/>
          </a:solidFill>
          <a:ln w="9525">
            <a:solidFill>
              <a:srgbClr val="E2E8F0"/>
            </a:solidFill>
            <a:prstDash val="solid"/>
          </a:ln>
        </p:spPr>
      </p:sp>
      <p:sp>
        <p:nvSpPr>
          <p:cNvPr id="5" name="Shape 3"/>
          <p:cNvSpPr/>
          <p:nvPr/>
        </p:nvSpPr>
        <p:spPr>
          <a:xfrm>
            <a:off x="749808" y="1865376"/>
            <a:ext cx="457200" cy="457200"/>
          </a:xfrm>
          <a:prstGeom prst="ellipse">
            <a:avLst/>
          </a:prstGeom>
          <a:solidFill>
            <a:srgbClr val="263D57"/>
          </a:solidFill>
          <a:ln/>
        </p:spPr>
      </p:sp>
      <p:sp>
        <p:nvSpPr>
          <p:cNvPr id="6" name="Text 4"/>
          <p:cNvSpPr txBox="1"/>
          <p:nvPr/>
        </p:nvSpPr>
        <p:spPr>
          <a:xfrm>
            <a:off x="749808" y="1865376"/>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Poppins SemiBold" pitchFamily="34" charset="0"/>
                <a:ea typeface="Poppins SemiBold" pitchFamily="34" charset="-122"/>
                <a:cs typeface="Poppins SemiBold" pitchFamily="34" charset="-120"/>
              </a:rPr>
              <a:t>1</a:t>
            </a:r>
            <a:endParaRPr lang="en-US" sz="1700" dirty="0"/>
          </a:p>
        </p:txBody>
      </p:sp>
      <p:sp>
        <p:nvSpPr>
          <p:cNvPr id="7" name="Text 5"/>
          <p:cNvSpPr txBox="1"/>
          <p:nvPr/>
        </p:nvSpPr>
        <p:spPr>
          <a:xfrm>
            <a:off x="1353312" y="1865376"/>
            <a:ext cx="1612316" cy="457200"/>
          </a:xfrm>
          <a:prstGeom prst="rect">
            <a:avLst/>
          </a:prstGeom>
          <a:noFill/>
          <a:ln/>
        </p:spPr>
        <p:txBody>
          <a:bodyPr wrap="square" lIns="0" tIns="0" rIns="0" bIns="0" rtlCol="0" anchor="ctr"/>
          <a:lstStyle/>
          <a:p>
            <a:pPr indent="0" marL="0">
              <a:buNone/>
            </a:pPr>
            <a:r>
              <a:rPr lang="en-US" sz="1900" dirty="0">
                <a:solidFill>
                  <a:srgbClr val="263D57"/>
                </a:solidFill>
                <a:latin typeface="Poppins SemiBold" pitchFamily="34" charset="0"/>
                <a:ea typeface="Poppins SemiBold" pitchFamily="34" charset="-122"/>
                <a:cs typeface="Poppins SemiBold" pitchFamily="34" charset="-120"/>
              </a:rPr>
              <a:t>Flag</a:t>
            </a:r>
            <a:endParaRPr lang="en-US" sz="1900" dirty="0"/>
          </a:p>
        </p:txBody>
      </p:sp>
      <p:sp>
        <p:nvSpPr>
          <p:cNvPr id="8" name="Text 6"/>
          <p:cNvSpPr txBox="1"/>
          <p:nvPr/>
        </p:nvSpPr>
        <p:spPr>
          <a:xfrm>
            <a:off x="749808" y="2505456"/>
            <a:ext cx="2160956" cy="1097280"/>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Scores that stand out, low or high, for the age group</a:t>
            </a:r>
            <a:endParaRPr lang="en-US" sz="1500" dirty="0"/>
          </a:p>
        </p:txBody>
      </p:sp>
      <p:sp>
        <p:nvSpPr>
          <p:cNvPr id="9" name="Shape 7"/>
          <p:cNvSpPr/>
          <p:nvPr/>
        </p:nvSpPr>
        <p:spPr>
          <a:xfrm>
            <a:off x="3130220" y="2551176"/>
            <a:ext cx="219456" cy="237744"/>
          </a:xfrm>
          <a:prstGeom prst="rightArrow">
            <a:avLst/>
          </a:prstGeom>
          <a:solidFill>
            <a:srgbClr val="41C5C5"/>
          </a:solidFill>
          <a:ln/>
        </p:spPr>
      </p:sp>
      <p:sp>
        <p:nvSpPr>
          <p:cNvPr id="10" name="Step Check"/>
          <p:cNvSpPr/>
          <p:nvPr/>
        </p:nvSpPr>
        <p:spPr>
          <a:xfrm>
            <a:off x="3404540" y="1664208"/>
            <a:ext cx="2526716" cy="2011680"/>
          </a:xfrm>
          <a:prstGeom prst="roundRect">
            <a:avLst>
              <a:gd name="adj" fmla="val 7273"/>
            </a:avLst>
          </a:prstGeom>
          <a:solidFill>
            <a:srgbClr val="E2F3F1"/>
          </a:solidFill>
          <a:ln w="22225">
            <a:solidFill>
              <a:srgbClr val="41C5C5"/>
            </a:solidFill>
            <a:prstDash val="solid"/>
          </a:ln>
        </p:spPr>
      </p:sp>
      <p:sp>
        <p:nvSpPr>
          <p:cNvPr id="11" name="Shape 9"/>
          <p:cNvSpPr/>
          <p:nvPr/>
        </p:nvSpPr>
        <p:spPr>
          <a:xfrm>
            <a:off x="3605708" y="1865376"/>
            <a:ext cx="457200" cy="457200"/>
          </a:xfrm>
          <a:prstGeom prst="ellipse">
            <a:avLst/>
          </a:prstGeom>
          <a:solidFill>
            <a:srgbClr val="41C5C5"/>
          </a:solidFill>
          <a:ln/>
        </p:spPr>
      </p:sp>
      <p:sp>
        <p:nvSpPr>
          <p:cNvPr id="12" name="Text 10"/>
          <p:cNvSpPr txBox="1"/>
          <p:nvPr/>
        </p:nvSpPr>
        <p:spPr>
          <a:xfrm>
            <a:off x="3605708" y="1865376"/>
            <a:ext cx="457200" cy="457200"/>
          </a:xfrm>
          <a:prstGeom prst="rect">
            <a:avLst/>
          </a:prstGeom>
          <a:noFill/>
          <a:ln/>
        </p:spPr>
        <p:txBody>
          <a:bodyPr wrap="square" lIns="0" tIns="0" rIns="0" bIns="0" rtlCol="0" anchor="ctr"/>
          <a:lstStyle/>
          <a:p>
            <a:pPr algn="ctr" indent="0" marL="0">
              <a:buNone/>
            </a:pPr>
            <a:r>
              <a:rPr lang="en-US" sz="1700" dirty="0">
                <a:solidFill>
                  <a:srgbClr val="263D57"/>
                </a:solidFill>
                <a:latin typeface="Poppins SemiBold" pitchFamily="34" charset="0"/>
                <a:ea typeface="Poppins SemiBold" pitchFamily="34" charset="-122"/>
                <a:cs typeface="Poppins SemiBold" pitchFamily="34" charset="-120"/>
              </a:rPr>
              <a:t>2</a:t>
            </a:r>
            <a:endParaRPr lang="en-US" sz="1700" dirty="0"/>
          </a:p>
        </p:txBody>
      </p:sp>
      <p:sp>
        <p:nvSpPr>
          <p:cNvPr id="13" name="Text 11"/>
          <p:cNvSpPr txBox="1"/>
          <p:nvPr/>
        </p:nvSpPr>
        <p:spPr>
          <a:xfrm>
            <a:off x="4209212" y="1865376"/>
            <a:ext cx="1612316" cy="457200"/>
          </a:xfrm>
          <a:prstGeom prst="rect">
            <a:avLst/>
          </a:prstGeom>
          <a:noFill/>
          <a:ln/>
        </p:spPr>
        <p:txBody>
          <a:bodyPr wrap="square" lIns="0" tIns="0" rIns="0" bIns="0" rtlCol="0" anchor="ctr"/>
          <a:lstStyle/>
          <a:p>
            <a:pPr indent="0" marL="0">
              <a:buNone/>
            </a:pPr>
            <a:r>
              <a:rPr lang="en-US" sz="1900" dirty="0">
                <a:solidFill>
                  <a:srgbClr val="263D57"/>
                </a:solidFill>
                <a:latin typeface="Poppins SemiBold" pitchFamily="34" charset="0"/>
                <a:ea typeface="Poppins SemiBold" pitchFamily="34" charset="-122"/>
                <a:cs typeface="Poppins SemiBold" pitchFamily="34" charset="-120"/>
              </a:rPr>
              <a:t>Check</a:t>
            </a:r>
            <a:endParaRPr lang="en-US" sz="1900" dirty="0"/>
          </a:p>
        </p:txBody>
      </p:sp>
      <p:sp>
        <p:nvSpPr>
          <p:cNvPr id="14" name="Text 12"/>
          <p:cNvSpPr txBox="1"/>
          <p:nvPr/>
        </p:nvSpPr>
        <p:spPr>
          <a:xfrm>
            <a:off x="3605708" y="2505456"/>
            <a:ext cx="2160956" cy="1097280"/>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Coach judges play first, then sees the flag</a:t>
            </a:r>
            <a:endParaRPr lang="en-US" sz="1500" dirty="0"/>
          </a:p>
        </p:txBody>
      </p:sp>
      <p:sp>
        <p:nvSpPr>
          <p:cNvPr id="15" name="Shape 13"/>
          <p:cNvSpPr/>
          <p:nvPr/>
        </p:nvSpPr>
        <p:spPr>
          <a:xfrm>
            <a:off x="5986120" y="2551176"/>
            <a:ext cx="219456" cy="237744"/>
          </a:xfrm>
          <a:prstGeom prst="rightArrow">
            <a:avLst/>
          </a:prstGeom>
          <a:solidFill>
            <a:srgbClr val="41C5C5"/>
          </a:solidFill>
          <a:ln/>
        </p:spPr>
      </p:sp>
      <p:sp>
        <p:nvSpPr>
          <p:cNvPr id="16" name="Step Pick"/>
          <p:cNvSpPr/>
          <p:nvPr/>
        </p:nvSpPr>
        <p:spPr>
          <a:xfrm>
            <a:off x="6260440" y="1664208"/>
            <a:ext cx="2526716" cy="2011680"/>
          </a:xfrm>
          <a:prstGeom prst="roundRect">
            <a:avLst>
              <a:gd name="adj" fmla="val 7273"/>
            </a:avLst>
          </a:prstGeom>
          <a:solidFill>
            <a:srgbClr val="F2F5F8"/>
          </a:solidFill>
          <a:ln w="9525">
            <a:solidFill>
              <a:srgbClr val="E2E8F0"/>
            </a:solidFill>
            <a:prstDash val="solid"/>
          </a:ln>
        </p:spPr>
      </p:sp>
      <p:sp>
        <p:nvSpPr>
          <p:cNvPr id="17" name="Shape 15"/>
          <p:cNvSpPr/>
          <p:nvPr/>
        </p:nvSpPr>
        <p:spPr>
          <a:xfrm>
            <a:off x="6461608" y="1865376"/>
            <a:ext cx="457200" cy="457200"/>
          </a:xfrm>
          <a:prstGeom prst="ellipse">
            <a:avLst/>
          </a:prstGeom>
          <a:solidFill>
            <a:srgbClr val="263D57"/>
          </a:solidFill>
          <a:ln/>
        </p:spPr>
      </p:sp>
      <p:sp>
        <p:nvSpPr>
          <p:cNvPr id="18" name="Text 16"/>
          <p:cNvSpPr txBox="1"/>
          <p:nvPr/>
        </p:nvSpPr>
        <p:spPr>
          <a:xfrm>
            <a:off x="6461608" y="1865376"/>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Poppins SemiBold" pitchFamily="34" charset="0"/>
                <a:ea typeface="Poppins SemiBold" pitchFamily="34" charset="-122"/>
                <a:cs typeface="Poppins SemiBold" pitchFamily="34" charset="-120"/>
              </a:rPr>
              <a:t>3</a:t>
            </a:r>
            <a:endParaRPr lang="en-US" sz="1700" dirty="0"/>
          </a:p>
        </p:txBody>
      </p:sp>
      <p:sp>
        <p:nvSpPr>
          <p:cNvPr id="19" name="Text 17"/>
          <p:cNvSpPr txBox="1"/>
          <p:nvPr/>
        </p:nvSpPr>
        <p:spPr>
          <a:xfrm>
            <a:off x="7065112" y="1865376"/>
            <a:ext cx="1612316" cy="457200"/>
          </a:xfrm>
          <a:prstGeom prst="rect">
            <a:avLst/>
          </a:prstGeom>
          <a:noFill/>
          <a:ln/>
        </p:spPr>
        <p:txBody>
          <a:bodyPr wrap="square" lIns="0" tIns="0" rIns="0" bIns="0" rtlCol="0" anchor="ctr"/>
          <a:lstStyle/>
          <a:p>
            <a:pPr indent="0" marL="0">
              <a:buNone/>
            </a:pPr>
            <a:r>
              <a:rPr lang="en-US" sz="1900" dirty="0">
                <a:solidFill>
                  <a:srgbClr val="263D57"/>
                </a:solidFill>
                <a:latin typeface="Poppins SemiBold" pitchFamily="34" charset="0"/>
                <a:ea typeface="Poppins SemiBold" pitchFamily="34" charset="-122"/>
                <a:cs typeface="Poppins SemiBold" pitchFamily="34" charset="-120"/>
              </a:rPr>
              <a:t>Pick</a:t>
            </a:r>
            <a:endParaRPr lang="en-US" sz="1900" dirty="0"/>
          </a:p>
        </p:txBody>
      </p:sp>
      <p:sp>
        <p:nvSpPr>
          <p:cNvPr id="20" name="Text 18"/>
          <p:cNvSpPr txBox="1"/>
          <p:nvPr/>
        </p:nvSpPr>
        <p:spPr>
          <a:xfrm>
            <a:off x="6461608" y="2505456"/>
            <a:ext cx="2160956" cy="1097280"/>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A card from that family, one level for all</a:t>
            </a:r>
            <a:endParaRPr lang="en-US" sz="1500" dirty="0"/>
          </a:p>
        </p:txBody>
      </p:sp>
      <p:sp>
        <p:nvSpPr>
          <p:cNvPr id="21" name="Shape 19"/>
          <p:cNvSpPr/>
          <p:nvPr/>
        </p:nvSpPr>
        <p:spPr>
          <a:xfrm>
            <a:off x="8842019" y="2551176"/>
            <a:ext cx="219456" cy="237744"/>
          </a:xfrm>
          <a:prstGeom prst="rightArrow">
            <a:avLst/>
          </a:prstGeom>
          <a:solidFill>
            <a:srgbClr val="41C5C5"/>
          </a:solidFill>
          <a:ln/>
        </p:spPr>
      </p:sp>
      <p:sp>
        <p:nvSpPr>
          <p:cNvPr id="22" name="Step Count"/>
          <p:cNvSpPr/>
          <p:nvPr/>
        </p:nvSpPr>
        <p:spPr>
          <a:xfrm>
            <a:off x="9116339" y="1664208"/>
            <a:ext cx="2526716" cy="2011680"/>
          </a:xfrm>
          <a:prstGeom prst="roundRect">
            <a:avLst>
              <a:gd name="adj" fmla="val 7273"/>
            </a:avLst>
          </a:prstGeom>
          <a:solidFill>
            <a:srgbClr val="F2F5F8"/>
          </a:solidFill>
          <a:ln w="9525">
            <a:solidFill>
              <a:srgbClr val="E2E8F0"/>
            </a:solidFill>
            <a:prstDash val="solid"/>
          </a:ln>
        </p:spPr>
      </p:sp>
      <p:sp>
        <p:nvSpPr>
          <p:cNvPr id="23" name="Shape 21"/>
          <p:cNvSpPr/>
          <p:nvPr/>
        </p:nvSpPr>
        <p:spPr>
          <a:xfrm>
            <a:off x="9317507" y="1865376"/>
            <a:ext cx="457200" cy="457200"/>
          </a:xfrm>
          <a:prstGeom prst="ellipse">
            <a:avLst/>
          </a:prstGeom>
          <a:solidFill>
            <a:srgbClr val="263D57"/>
          </a:solidFill>
          <a:ln/>
        </p:spPr>
      </p:sp>
      <p:sp>
        <p:nvSpPr>
          <p:cNvPr id="24" name="Text 22"/>
          <p:cNvSpPr txBox="1"/>
          <p:nvPr/>
        </p:nvSpPr>
        <p:spPr>
          <a:xfrm>
            <a:off x="9317507" y="1865376"/>
            <a:ext cx="457200" cy="457200"/>
          </a:xfrm>
          <a:prstGeom prst="rect">
            <a:avLst/>
          </a:prstGeom>
          <a:noFill/>
          <a:ln/>
        </p:spPr>
        <p:txBody>
          <a:bodyPr wrap="square" lIns="0" tIns="0" rIns="0" bIns="0" rtlCol="0" anchor="ctr"/>
          <a:lstStyle/>
          <a:p>
            <a:pPr algn="ctr" indent="0" marL="0">
              <a:buNone/>
            </a:pPr>
            <a:r>
              <a:rPr lang="en-US" sz="1700" dirty="0">
                <a:solidFill>
                  <a:srgbClr val="FFFFFF"/>
                </a:solidFill>
                <a:latin typeface="Poppins SemiBold" pitchFamily="34" charset="0"/>
                <a:ea typeface="Poppins SemiBold" pitchFamily="34" charset="-122"/>
                <a:cs typeface="Poppins SemiBold" pitchFamily="34" charset="-120"/>
              </a:rPr>
              <a:t>4</a:t>
            </a:r>
            <a:endParaRPr lang="en-US" sz="1700" dirty="0"/>
          </a:p>
        </p:txBody>
      </p:sp>
      <p:sp>
        <p:nvSpPr>
          <p:cNvPr id="25" name="Text 23"/>
          <p:cNvSpPr txBox="1"/>
          <p:nvPr/>
        </p:nvSpPr>
        <p:spPr>
          <a:xfrm>
            <a:off x="9921011" y="1865376"/>
            <a:ext cx="1612316" cy="457200"/>
          </a:xfrm>
          <a:prstGeom prst="rect">
            <a:avLst/>
          </a:prstGeom>
          <a:noFill/>
          <a:ln/>
        </p:spPr>
        <p:txBody>
          <a:bodyPr wrap="square" lIns="0" tIns="0" rIns="0" bIns="0" rtlCol="0" anchor="ctr"/>
          <a:lstStyle/>
          <a:p>
            <a:pPr indent="0" marL="0">
              <a:buNone/>
            </a:pPr>
            <a:r>
              <a:rPr lang="en-US" sz="1900" dirty="0">
                <a:solidFill>
                  <a:srgbClr val="263D57"/>
                </a:solidFill>
                <a:latin typeface="Poppins SemiBold" pitchFamily="34" charset="0"/>
                <a:ea typeface="Poppins SemiBold" pitchFamily="34" charset="-122"/>
                <a:cs typeface="Poppins SemiBold" pitchFamily="34" charset="-120"/>
              </a:rPr>
              <a:t>Count</a:t>
            </a:r>
            <a:endParaRPr lang="en-US" sz="1900" dirty="0"/>
          </a:p>
        </p:txBody>
      </p:sp>
      <p:sp>
        <p:nvSpPr>
          <p:cNvPr id="26" name="Text 24"/>
          <p:cNvSpPr txBox="1"/>
          <p:nvPr/>
        </p:nvSpPr>
        <p:spPr>
          <a:xfrm>
            <a:off x="9317507" y="2505456"/>
            <a:ext cx="2160956" cy="1097280"/>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One behaviour, three sessions: keep or drop</a:t>
            </a:r>
            <a:endParaRPr lang="en-US" sz="1500" dirty="0"/>
          </a:p>
        </p:txBody>
      </p:sp>
      <p:sp>
        <p:nvSpPr>
          <p:cNvPr id="27" name="Text 25"/>
          <p:cNvSpPr txBox="1"/>
          <p:nvPr/>
        </p:nvSpPr>
        <p:spPr>
          <a:xfrm>
            <a:off x="548640" y="3950208"/>
            <a:ext cx="5486400" cy="228600"/>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AGE DIAL: WHAT THE CARD LOADS</a:t>
            </a:r>
            <a:endParaRPr lang="en-US" sz="1200" dirty="0"/>
          </a:p>
        </p:txBody>
      </p:sp>
      <p:sp>
        <p:nvSpPr>
          <p:cNvPr id="28" name="Text 26"/>
          <p:cNvSpPr txBox="1"/>
          <p:nvPr/>
        </p:nvSpPr>
        <p:spPr>
          <a:xfrm>
            <a:off x="548640" y="4261104"/>
            <a:ext cx="2883332" cy="502920"/>
          </a:xfrm>
          <a:prstGeom prst="homePlate">
            <a:avLst/>
          </a:prstGeom>
          <a:solidFill>
            <a:srgbClr val="AFC0D4"/>
          </a:solidFill>
          <a:ln/>
        </p:spPr>
        <p:txBody>
          <a:bodyPr wrap="square" lIns="0" tIns="0" rIns="0" bIns="0" rtlCol="0" anchor="ctr"/>
          <a:lstStyle/>
          <a:p>
            <a:pPr algn="ctr" indent="0" marL="0">
              <a:buNone/>
            </a:pPr>
            <a:r>
              <a:rPr lang="en-US" sz="1700" dirty="0">
                <a:solidFill>
                  <a:srgbClr val="263D57"/>
                </a:solidFill>
                <a:latin typeface="Poppins SemiBold" pitchFamily="34" charset="0"/>
                <a:ea typeface="Poppins SemiBold" pitchFamily="34" charset="-122"/>
                <a:cs typeface="Poppins SemiBold" pitchFamily="34" charset="-120"/>
              </a:rPr>
              <a:t>8–11</a:t>
            </a:r>
            <a:endParaRPr lang="en-US" sz="1700" dirty="0"/>
          </a:p>
        </p:txBody>
      </p:sp>
      <p:sp>
        <p:nvSpPr>
          <p:cNvPr id="29" name="Text 27"/>
          <p:cNvSpPr txBox="1"/>
          <p:nvPr/>
        </p:nvSpPr>
        <p:spPr>
          <a:xfrm>
            <a:off x="640080" y="4855464"/>
            <a:ext cx="2590724" cy="274320"/>
          </a:xfrm>
          <a:prstGeom prst="rect">
            <a:avLst/>
          </a:prstGeom>
          <a:noFill/>
          <a:ln/>
        </p:spPr>
        <p:txBody>
          <a:bodyPr wrap="square" lIns="0" tIns="0" rIns="0" bIns="0" rtlCol="0" anchor="t"/>
          <a:lstStyle/>
          <a:p>
            <a:pPr algn="ctr" indent="0" marL="0">
              <a:buNone/>
            </a:pPr>
            <a:r>
              <a:rPr lang="en-US" sz="1400" dirty="0">
                <a:solidFill>
                  <a:srgbClr val="263D57"/>
                </a:solidFill>
                <a:latin typeface="Inter" pitchFamily="34" charset="0"/>
                <a:ea typeface="Inter" pitchFamily="34" charset="-122"/>
                <a:cs typeface="Inter" pitchFamily="34" charset="-120"/>
              </a:rPr>
              <a:t>Broad play, no labels</a:t>
            </a:r>
            <a:endParaRPr lang="en-US" sz="1400" dirty="0"/>
          </a:p>
        </p:txBody>
      </p:sp>
      <p:sp>
        <p:nvSpPr>
          <p:cNvPr id="30" name="Text 28"/>
          <p:cNvSpPr txBox="1"/>
          <p:nvPr/>
        </p:nvSpPr>
        <p:spPr>
          <a:xfrm>
            <a:off x="3212516" y="4261104"/>
            <a:ext cx="2993060" cy="502920"/>
          </a:xfrm>
          <a:prstGeom prst="chevron">
            <a:avLst/>
          </a:prstGeom>
          <a:solidFill>
            <a:srgbClr val="6D8BB0"/>
          </a:solidFill>
          <a:ln/>
        </p:spPr>
        <p:txBody>
          <a:bodyPr wrap="square" lIns="0" tIns="0" rIns="0" bIns="0" rtlCol="0" anchor="ctr"/>
          <a:lstStyle/>
          <a:p>
            <a:pPr algn="ctr" indent="0" marL="0">
              <a:buNone/>
            </a:pPr>
            <a:r>
              <a:rPr lang="en-US" sz="1700" dirty="0">
                <a:solidFill>
                  <a:srgbClr val="FFFFFF"/>
                </a:solidFill>
                <a:latin typeface="Poppins SemiBold" pitchFamily="34" charset="0"/>
                <a:ea typeface="Poppins SemiBold" pitchFamily="34" charset="-122"/>
                <a:cs typeface="Poppins SemiBold" pitchFamily="34" charset="-120"/>
              </a:rPr>
              <a:t>12–14</a:t>
            </a:r>
            <a:endParaRPr lang="en-US" sz="1700" dirty="0"/>
          </a:p>
        </p:txBody>
      </p:sp>
      <p:sp>
        <p:nvSpPr>
          <p:cNvPr id="31" name="Text 29"/>
          <p:cNvSpPr txBox="1"/>
          <p:nvPr/>
        </p:nvSpPr>
        <p:spPr>
          <a:xfrm>
            <a:off x="3413684" y="4855464"/>
            <a:ext cx="2590724" cy="274320"/>
          </a:xfrm>
          <a:prstGeom prst="rect">
            <a:avLst/>
          </a:prstGeom>
          <a:noFill/>
          <a:ln/>
        </p:spPr>
        <p:txBody>
          <a:bodyPr wrap="square" lIns="0" tIns="0" rIns="0" bIns="0" rtlCol="0" anchor="t"/>
          <a:lstStyle/>
          <a:p>
            <a:pPr algn="ctr" indent="0" marL="0">
              <a:buNone/>
            </a:pPr>
            <a:r>
              <a:rPr lang="en-US" sz="1400" dirty="0">
                <a:solidFill>
                  <a:srgbClr val="263D57"/>
                </a:solidFill>
                <a:latin typeface="Inter" pitchFamily="34" charset="0"/>
                <a:ea typeface="Inter" pitchFamily="34" charset="-122"/>
                <a:cs typeface="Inter" pitchFamily="34" charset="-120"/>
              </a:rPr>
              <a:t>Load moderate weaknesses</a:t>
            </a:r>
            <a:endParaRPr lang="en-US" sz="1400" dirty="0"/>
          </a:p>
        </p:txBody>
      </p:sp>
      <p:sp>
        <p:nvSpPr>
          <p:cNvPr id="32" name="Text 30"/>
          <p:cNvSpPr txBox="1"/>
          <p:nvPr/>
        </p:nvSpPr>
        <p:spPr>
          <a:xfrm>
            <a:off x="5986120" y="4261104"/>
            <a:ext cx="2993060" cy="502920"/>
          </a:xfrm>
          <a:prstGeom prst="chevron">
            <a:avLst/>
          </a:prstGeom>
          <a:solidFill>
            <a:srgbClr val="476385"/>
          </a:solidFill>
          <a:ln/>
        </p:spPr>
        <p:txBody>
          <a:bodyPr wrap="square" lIns="0" tIns="0" rIns="0" bIns="0" rtlCol="0" anchor="ctr"/>
          <a:lstStyle/>
          <a:p>
            <a:pPr algn="ctr" indent="0" marL="0">
              <a:buNone/>
            </a:pPr>
            <a:r>
              <a:rPr lang="en-US" sz="1700" dirty="0">
                <a:solidFill>
                  <a:srgbClr val="FFFFFF"/>
                </a:solidFill>
                <a:latin typeface="Poppins SemiBold" pitchFamily="34" charset="0"/>
                <a:ea typeface="Poppins SemiBold" pitchFamily="34" charset="-122"/>
                <a:cs typeface="Poppins SemiBold" pitchFamily="34" charset="-120"/>
              </a:rPr>
              <a:t>15–18</a:t>
            </a:r>
            <a:endParaRPr lang="en-US" sz="1700" dirty="0"/>
          </a:p>
        </p:txBody>
      </p:sp>
      <p:sp>
        <p:nvSpPr>
          <p:cNvPr id="33" name="Text 31"/>
          <p:cNvSpPr txBox="1"/>
          <p:nvPr/>
        </p:nvSpPr>
        <p:spPr>
          <a:xfrm>
            <a:off x="6187288" y="4855464"/>
            <a:ext cx="2590724" cy="274320"/>
          </a:xfrm>
          <a:prstGeom prst="rect">
            <a:avLst/>
          </a:prstGeom>
          <a:noFill/>
          <a:ln/>
        </p:spPr>
        <p:txBody>
          <a:bodyPr wrap="square" lIns="0" tIns="0" rIns="0" bIns="0" rtlCol="0" anchor="t"/>
          <a:lstStyle/>
          <a:p>
            <a:pPr algn="ctr" indent="0" marL="0">
              <a:buNone/>
            </a:pPr>
            <a:r>
              <a:rPr lang="en-US" sz="1400" dirty="0">
                <a:solidFill>
                  <a:srgbClr val="263D57"/>
                </a:solidFill>
                <a:latin typeface="Inter" pitchFamily="34" charset="0"/>
                <a:ea typeface="Inter" pitchFamily="34" charset="-122"/>
                <a:cs typeface="Inter" pitchFamily="34" charset="-120"/>
              </a:rPr>
              <a:t>Routines and strengths</a:t>
            </a:r>
            <a:endParaRPr lang="en-US" sz="1400" dirty="0"/>
          </a:p>
        </p:txBody>
      </p:sp>
      <p:sp>
        <p:nvSpPr>
          <p:cNvPr id="34" name="Text 32"/>
          <p:cNvSpPr txBox="1"/>
          <p:nvPr/>
        </p:nvSpPr>
        <p:spPr>
          <a:xfrm>
            <a:off x="8759723" y="4261104"/>
            <a:ext cx="2883332" cy="502920"/>
          </a:xfrm>
          <a:prstGeom prst="chevron">
            <a:avLst/>
          </a:prstGeom>
          <a:solidFill>
            <a:srgbClr val="263D57"/>
          </a:solidFill>
          <a:ln/>
        </p:spPr>
        <p:txBody>
          <a:bodyPr wrap="square" lIns="0" tIns="0" rIns="0" bIns="0" rtlCol="0" anchor="ctr"/>
          <a:lstStyle/>
          <a:p>
            <a:pPr algn="ctr" indent="0" marL="0">
              <a:buNone/>
            </a:pPr>
            <a:r>
              <a:rPr lang="en-US" sz="1700" dirty="0">
                <a:solidFill>
                  <a:srgbClr val="FFFFFF"/>
                </a:solidFill>
                <a:latin typeface="Poppins SemiBold" pitchFamily="34" charset="0"/>
                <a:ea typeface="Poppins SemiBold" pitchFamily="34" charset="-122"/>
                <a:cs typeface="Poppins SemiBold" pitchFamily="34" charset="-120"/>
              </a:rPr>
              <a:t>18+</a:t>
            </a:r>
            <a:endParaRPr lang="en-US" sz="1700" dirty="0"/>
          </a:p>
        </p:txBody>
      </p:sp>
      <p:sp>
        <p:nvSpPr>
          <p:cNvPr id="35" name="Text 33"/>
          <p:cNvSpPr txBox="1"/>
          <p:nvPr/>
        </p:nvSpPr>
        <p:spPr>
          <a:xfrm>
            <a:off x="8960891" y="4855464"/>
            <a:ext cx="2590724" cy="274320"/>
          </a:xfrm>
          <a:prstGeom prst="rect">
            <a:avLst/>
          </a:prstGeom>
          <a:noFill/>
          <a:ln/>
        </p:spPr>
        <p:txBody>
          <a:bodyPr wrap="square" lIns="0" tIns="0" rIns="0" bIns="0" rtlCol="0" anchor="t"/>
          <a:lstStyle/>
          <a:p>
            <a:pPr algn="ctr" indent="0" marL="0">
              <a:buNone/>
            </a:pPr>
            <a:r>
              <a:rPr lang="en-US" sz="1400" dirty="0">
                <a:solidFill>
                  <a:srgbClr val="263D57"/>
                </a:solidFill>
                <a:latin typeface="Inter" pitchFamily="34" charset="0"/>
                <a:ea typeface="Inter" pitchFamily="34" charset="-122"/>
                <a:cs typeface="Inter" pitchFamily="34" charset="-120"/>
              </a:rPr>
              <a:t>Decisions in context</a:t>
            </a:r>
            <a:endParaRPr lang="en-US" sz="1400" dirty="0"/>
          </a:p>
        </p:txBody>
      </p:sp>
      <p:sp>
        <p:nvSpPr>
          <p:cNvPr id="36" name="Shape 34"/>
          <p:cNvSpPr/>
          <p:nvPr/>
        </p:nvSpPr>
        <p:spPr>
          <a:xfrm>
            <a:off x="548640" y="5440680"/>
            <a:ext cx="11094415" cy="621792"/>
          </a:xfrm>
          <a:prstGeom prst="roundRect">
            <a:avLst>
              <a:gd name="adj" fmla="val 14706"/>
            </a:avLst>
          </a:prstGeom>
          <a:solidFill>
            <a:srgbClr val="F2F5F8"/>
          </a:solidFill>
          <a:ln/>
        </p:spPr>
      </p:sp>
      <p:sp>
        <p:nvSpPr>
          <p:cNvPr id="37" name="Text 35"/>
          <p:cNvSpPr txBox="1"/>
          <p:nvPr/>
        </p:nvSpPr>
        <p:spPr>
          <a:xfrm>
            <a:off x="777240" y="5440680"/>
            <a:ext cx="10637215" cy="621792"/>
          </a:xfrm>
          <a:prstGeom prst="rect">
            <a:avLst/>
          </a:prstGeom>
          <a:noFill/>
          <a:ln/>
        </p:spPr>
        <p:txBody>
          <a:bodyPr wrap="square" lIns="0" tIns="0" rIns="0" bIns="0" rtlCol="0" anchor="ctr"/>
          <a:lstStyle/>
          <a:p>
            <a:pPr indent="0" marL="0">
              <a:buNone/>
            </a:pPr>
            <a:r>
              <a:rPr lang="en-US" sz="1400" dirty="0">
                <a:solidFill>
                  <a:srgbClr val="263D57"/>
                </a:solidFill>
                <a:latin typeface="Inter" pitchFamily="34" charset="0"/>
                <a:ea typeface="Inter" pitchFamily="34" charset="-122"/>
                <a:cs typeface="Inter" pitchFamily="34" charset="-120"/>
              </a:rPr>
              <a:t>No study tests weak versus strong; the dial follows your age guidance.</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LIBRARY</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One card = one change to a familiar drill</a:t>
            </a:r>
            <a:endParaRPr lang="en-US" sz="2600" dirty="0"/>
          </a:p>
        </p:txBody>
      </p:sp>
      <p:sp>
        <p:nvSpPr>
          <p:cNvPr id="4" name="Card Receiving under pressure"/>
          <p:cNvSpPr/>
          <p:nvPr/>
        </p:nvSpPr>
        <p:spPr>
          <a:xfrm>
            <a:off x="548640" y="1737360"/>
            <a:ext cx="3545738" cy="4114800"/>
          </a:xfrm>
          <a:prstGeom prst="roundRect">
            <a:avLst>
              <a:gd name="adj" fmla="val 4126"/>
            </a:avLst>
          </a:prstGeom>
          <a:solidFill>
            <a:srgbClr val="E2F3F1"/>
          </a:solidFill>
          <a:ln w="22225">
            <a:solidFill>
              <a:srgbClr val="41C5C5"/>
            </a:solidFill>
            <a:prstDash val="solid"/>
          </a:ln>
        </p:spPr>
      </p:sp>
      <p:sp>
        <p:nvSpPr>
          <p:cNvPr id="5" name="Shape 3"/>
          <p:cNvSpPr/>
          <p:nvPr/>
        </p:nvSpPr>
        <p:spPr>
          <a:xfrm>
            <a:off x="731520" y="1965960"/>
            <a:ext cx="3179978" cy="960120"/>
          </a:xfrm>
          <a:prstGeom prst="roundRect">
            <a:avLst>
              <a:gd name="adj" fmla="val 7619"/>
            </a:avLst>
          </a:prstGeom>
          <a:solidFill>
            <a:srgbClr val="E2F3F1"/>
          </a:solidFill>
          <a:ln/>
        </p:spPr>
      </p:sp>
      <p:sp>
        <p:nvSpPr>
          <p:cNvPr id="6" name="Shape 4"/>
          <p:cNvSpPr/>
          <p:nvPr/>
        </p:nvSpPr>
        <p:spPr>
          <a:xfrm>
            <a:off x="1005840" y="2167128"/>
            <a:ext cx="2631338" cy="557784"/>
          </a:xfrm>
          <a:prstGeom prst="rect">
            <a:avLst/>
          </a:prstGeom>
          <a:solidFill>
            <a:srgbClr val="E2F3F1"/>
          </a:solidFill>
          <a:ln w="19050">
            <a:solidFill>
              <a:srgbClr val="FFFFFF"/>
            </a:solidFill>
            <a:prstDash val="solid"/>
          </a:ln>
        </p:spPr>
      </p:sp>
      <p:sp>
        <p:nvSpPr>
          <p:cNvPr id="7" name="Shape 5"/>
          <p:cNvSpPr/>
          <p:nvPr/>
        </p:nvSpPr>
        <p:spPr>
          <a:xfrm>
            <a:off x="1532108" y="2334463"/>
            <a:ext cx="999909" cy="33467"/>
          </a:xfrm>
          <a:prstGeom prst="line">
            <a:avLst/>
          </a:prstGeom>
          <a:noFill/>
          <a:ln w="22225">
            <a:solidFill>
              <a:srgbClr val="263D57"/>
            </a:solidFill>
            <a:prstDash val="solid"/>
            <a:tailEnd type="triangle"/>
          </a:ln>
        </p:spPr>
      </p:sp>
      <p:sp>
        <p:nvSpPr>
          <p:cNvPr id="8" name="Shape 6"/>
          <p:cNvSpPr/>
          <p:nvPr/>
        </p:nvSpPr>
        <p:spPr>
          <a:xfrm>
            <a:off x="1440668" y="2243023"/>
            <a:ext cx="182880" cy="182880"/>
          </a:xfrm>
          <a:prstGeom prst="ellipse">
            <a:avLst/>
          </a:prstGeom>
          <a:solidFill>
            <a:srgbClr val="41C5C5"/>
          </a:solidFill>
          <a:ln w="15875">
            <a:solidFill>
              <a:srgbClr val="FFFFFF"/>
            </a:solidFill>
            <a:prstDash val="solid"/>
          </a:ln>
        </p:spPr>
      </p:sp>
      <p:sp>
        <p:nvSpPr>
          <p:cNvPr id="9" name="Shape 7"/>
          <p:cNvSpPr/>
          <p:nvPr/>
        </p:nvSpPr>
        <p:spPr>
          <a:xfrm>
            <a:off x="2098502" y="2477292"/>
            <a:ext cx="182880" cy="182880"/>
          </a:xfrm>
          <a:prstGeom prst="ellipse">
            <a:avLst/>
          </a:prstGeom>
          <a:solidFill>
            <a:srgbClr val="41C5C5"/>
          </a:solidFill>
          <a:ln w="15875">
            <a:solidFill>
              <a:srgbClr val="FFFFFF"/>
            </a:solidFill>
            <a:prstDash val="solid"/>
          </a:ln>
        </p:spPr>
      </p:sp>
      <p:sp>
        <p:nvSpPr>
          <p:cNvPr id="10" name="Shape 8"/>
          <p:cNvSpPr/>
          <p:nvPr/>
        </p:nvSpPr>
        <p:spPr>
          <a:xfrm>
            <a:off x="2545830" y="2270912"/>
            <a:ext cx="182880" cy="182880"/>
          </a:xfrm>
          <a:prstGeom prst="ellipse">
            <a:avLst/>
          </a:prstGeom>
          <a:solidFill>
            <a:srgbClr val="41C5C5"/>
          </a:solidFill>
          <a:ln w="15875">
            <a:solidFill>
              <a:srgbClr val="FFFFFF"/>
            </a:solidFill>
            <a:prstDash val="solid"/>
          </a:ln>
        </p:spPr>
      </p:sp>
      <p:sp>
        <p:nvSpPr>
          <p:cNvPr id="11" name="Shape 9"/>
          <p:cNvSpPr/>
          <p:nvPr/>
        </p:nvSpPr>
        <p:spPr>
          <a:xfrm>
            <a:off x="3072097" y="2438248"/>
            <a:ext cx="182880" cy="182880"/>
          </a:xfrm>
          <a:prstGeom prst="ellipse">
            <a:avLst/>
          </a:prstGeom>
          <a:solidFill>
            <a:srgbClr val="41C5C5"/>
          </a:solidFill>
          <a:ln w="15875">
            <a:solidFill>
              <a:srgbClr val="FFFFFF"/>
            </a:solidFill>
            <a:prstDash val="solid"/>
          </a:ln>
        </p:spPr>
      </p:sp>
      <p:sp>
        <p:nvSpPr>
          <p:cNvPr id="12" name="Shape 10"/>
          <p:cNvSpPr/>
          <p:nvPr/>
        </p:nvSpPr>
        <p:spPr>
          <a:xfrm>
            <a:off x="1756428" y="2382469"/>
            <a:ext cx="182880" cy="182880"/>
          </a:xfrm>
          <a:prstGeom prst="ellipse">
            <a:avLst/>
          </a:prstGeom>
          <a:solidFill>
            <a:srgbClr val="263D57"/>
          </a:solidFill>
          <a:ln w="15875">
            <a:solidFill>
              <a:srgbClr val="FFFFFF"/>
            </a:solidFill>
            <a:prstDash val="solid"/>
          </a:ln>
        </p:spPr>
      </p:sp>
      <p:sp>
        <p:nvSpPr>
          <p:cNvPr id="13" name="Shape 11"/>
          <p:cNvSpPr/>
          <p:nvPr/>
        </p:nvSpPr>
        <p:spPr>
          <a:xfrm>
            <a:off x="2230069" y="2215134"/>
            <a:ext cx="182880" cy="182880"/>
          </a:xfrm>
          <a:prstGeom prst="ellipse">
            <a:avLst/>
          </a:prstGeom>
          <a:solidFill>
            <a:srgbClr val="263D57"/>
          </a:solidFill>
          <a:ln w="15875">
            <a:solidFill>
              <a:srgbClr val="FFFFFF"/>
            </a:solidFill>
            <a:prstDash val="solid"/>
          </a:ln>
        </p:spPr>
      </p:sp>
      <p:sp>
        <p:nvSpPr>
          <p:cNvPr id="14" name="Shape 12"/>
          <p:cNvSpPr/>
          <p:nvPr/>
        </p:nvSpPr>
        <p:spPr>
          <a:xfrm>
            <a:off x="2756337" y="2382469"/>
            <a:ext cx="182880" cy="182880"/>
          </a:xfrm>
          <a:prstGeom prst="ellipse">
            <a:avLst/>
          </a:prstGeom>
          <a:solidFill>
            <a:srgbClr val="263D57"/>
          </a:solidFill>
          <a:ln w="15875">
            <a:solidFill>
              <a:srgbClr val="FFFFFF"/>
            </a:solidFill>
            <a:prstDash val="solid"/>
          </a:ln>
        </p:spPr>
      </p:sp>
      <p:sp>
        <p:nvSpPr>
          <p:cNvPr id="15" name="Shape 13"/>
          <p:cNvSpPr/>
          <p:nvPr/>
        </p:nvSpPr>
        <p:spPr>
          <a:xfrm>
            <a:off x="1914309" y="2549804"/>
            <a:ext cx="182880" cy="182880"/>
          </a:xfrm>
          <a:prstGeom prst="ellipse">
            <a:avLst/>
          </a:prstGeom>
          <a:solidFill>
            <a:srgbClr val="263D57"/>
          </a:solidFill>
          <a:ln w="15875">
            <a:solidFill>
              <a:srgbClr val="FFFFFF"/>
            </a:solidFill>
            <a:prstDash val="solid"/>
          </a:ln>
        </p:spPr>
      </p:sp>
      <p:sp>
        <p:nvSpPr>
          <p:cNvPr id="16" name="Shape 14"/>
          <p:cNvSpPr/>
          <p:nvPr/>
        </p:nvSpPr>
        <p:spPr>
          <a:xfrm>
            <a:off x="914400" y="2354580"/>
            <a:ext cx="182880" cy="182880"/>
          </a:xfrm>
          <a:prstGeom prst="ellipse">
            <a:avLst/>
          </a:prstGeom>
          <a:solidFill>
            <a:srgbClr val="EABF23"/>
          </a:solidFill>
          <a:ln w="15875">
            <a:solidFill>
              <a:srgbClr val="FFFFFF"/>
            </a:solidFill>
            <a:prstDash val="solid"/>
          </a:ln>
        </p:spPr>
      </p:sp>
      <p:sp>
        <p:nvSpPr>
          <p:cNvPr id="17" name="Shape 15"/>
          <p:cNvSpPr/>
          <p:nvPr/>
        </p:nvSpPr>
        <p:spPr>
          <a:xfrm>
            <a:off x="3545738" y="2354580"/>
            <a:ext cx="182880" cy="182880"/>
          </a:xfrm>
          <a:prstGeom prst="ellipse">
            <a:avLst/>
          </a:prstGeom>
          <a:solidFill>
            <a:srgbClr val="EABF23"/>
          </a:solidFill>
          <a:ln w="15875">
            <a:solidFill>
              <a:srgbClr val="FFFFFF"/>
            </a:solidFill>
            <a:prstDash val="solid"/>
          </a:ln>
        </p:spPr>
      </p:sp>
      <p:sp>
        <p:nvSpPr>
          <p:cNvPr id="18" name="Shape 16"/>
          <p:cNvSpPr/>
          <p:nvPr/>
        </p:nvSpPr>
        <p:spPr>
          <a:xfrm>
            <a:off x="2230069" y="2633472"/>
            <a:ext cx="182880" cy="182880"/>
          </a:xfrm>
          <a:prstGeom prst="ellipse">
            <a:avLst/>
          </a:prstGeom>
          <a:solidFill>
            <a:srgbClr val="EABF23"/>
          </a:solidFill>
          <a:ln w="15875">
            <a:solidFill>
              <a:srgbClr val="FFFFFF"/>
            </a:solidFill>
            <a:prstDash val="solid"/>
          </a:ln>
        </p:spPr>
      </p:sp>
      <p:sp>
        <p:nvSpPr>
          <p:cNvPr id="19" name="Text 17"/>
          <p:cNvSpPr txBox="1"/>
          <p:nvPr/>
        </p:nvSpPr>
        <p:spPr>
          <a:xfrm>
            <a:off x="2865870" y="2020824"/>
            <a:ext cx="274320" cy="274320"/>
          </a:xfrm>
          <a:prstGeom prst="roundRect">
            <a:avLst>
              <a:gd name="adj" fmla="val 16667"/>
            </a:avLst>
          </a:prstGeom>
          <a:solidFill>
            <a:srgbClr val="263D57"/>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7</a:t>
            </a:r>
            <a:endParaRPr lang="en-US" sz="1200" dirty="0"/>
          </a:p>
        </p:txBody>
      </p:sp>
      <p:sp>
        <p:nvSpPr>
          <p:cNvPr id="20" name="Text 18"/>
          <p:cNvSpPr txBox="1"/>
          <p:nvPr/>
        </p:nvSpPr>
        <p:spPr>
          <a:xfrm>
            <a:off x="2036978" y="1591056"/>
            <a:ext cx="1828800" cy="292608"/>
          </a:xfrm>
          <a:prstGeom prst="roundRect">
            <a:avLst>
              <a:gd name="adj" fmla="val 50000"/>
            </a:avLst>
          </a:prstGeom>
          <a:solidFill>
            <a:srgbClr val="007D8C"/>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 · football study</a:t>
            </a:r>
            <a:endParaRPr lang="en-US" sz="1200" dirty="0"/>
          </a:p>
        </p:txBody>
      </p:sp>
      <p:sp>
        <p:nvSpPr>
          <p:cNvPr id="21" name="Text 19"/>
          <p:cNvSpPr txBox="1"/>
          <p:nvPr/>
        </p:nvSpPr>
        <p:spPr>
          <a:xfrm>
            <a:off x="777240" y="3035808"/>
            <a:ext cx="3088538" cy="384048"/>
          </a:xfrm>
          <a:prstGeom prst="rect">
            <a:avLst/>
          </a:prstGeom>
          <a:noFill/>
          <a:ln/>
        </p:spPr>
        <p:txBody>
          <a:bodyPr wrap="square" lIns="0" tIns="0" rIns="0" bIns="0" rtlCol="0" anchor="ctr"/>
          <a:lstStyle/>
          <a:p>
            <a:pPr indent="0" marL="0">
              <a:buNone/>
            </a:pPr>
            <a:r>
              <a:rPr lang="en-US" sz="1800" dirty="0">
                <a:solidFill>
                  <a:srgbClr val="263D57"/>
                </a:solidFill>
                <a:latin typeface="Poppins SemiBold" pitchFamily="34" charset="0"/>
                <a:ea typeface="Poppins SemiBold" pitchFamily="34" charset="-122"/>
                <a:cs typeface="Poppins SemiBold" pitchFamily="34" charset="-120"/>
              </a:rPr>
              <a:t>Receiving under pressure</a:t>
            </a:r>
            <a:endParaRPr lang="en-US" sz="1800" dirty="0"/>
          </a:p>
        </p:txBody>
      </p:sp>
      <p:sp>
        <p:nvSpPr>
          <p:cNvPr id="22" name="Text 20"/>
          <p:cNvSpPr txBox="1"/>
          <p:nvPr/>
        </p:nvSpPr>
        <p:spPr>
          <a:xfrm>
            <a:off x="777240" y="352044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MECHANISM</a:t>
            </a:r>
            <a:endParaRPr lang="en-US" sz="1200" dirty="0"/>
          </a:p>
        </p:txBody>
      </p:sp>
      <p:sp>
        <p:nvSpPr>
          <p:cNvPr id="23" name="Text 21"/>
          <p:cNvSpPr txBox="1"/>
          <p:nvPr/>
        </p:nvSpPr>
        <p:spPr>
          <a:xfrm>
            <a:off x="777240" y="3758184"/>
            <a:ext cx="3088538" cy="4754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Early scanning speeds the next action</a:t>
            </a:r>
            <a:endParaRPr lang="en-US" sz="1500" dirty="0"/>
          </a:p>
        </p:txBody>
      </p:sp>
      <p:sp>
        <p:nvSpPr>
          <p:cNvPr id="24" name="Text 22"/>
          <p:cNvSpPr txBox="1"/>
          <p:nvPr/>
        </p:nvSpPr>
        <p:spPr>
          <a:xfrm>
            <a:off x="777240" y="434340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CHANGE</a:t>
            </a:r>
            <a:endParaRPr lang="en-US" sz="1200" dirty="0"/>
          </a:p>
        </p:txBody>
      </p:sp>
      <p:sp>
        <p:nvSpPr>
          <p:cNvPr id="25" name="Text 23"/>
          <p:cNvSpPr txBox="1"/>
          <p:nvPr/>
        </p:nvSpPr>
        <p:spPr>
          <a:xfrm>
            <a:off x="777240" y="4581144"/>
            <a:ext cx="3088538" cy="4754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4v4+3: call the number behind you</a:t>
            </a:r>
            <a:endParaRPr lang="en-US" sz="1500" dirty="0"/>
          </a:p>
        </p:txBody>
      </p:sp>
      <p:sp>
        <p:nvSpPr>
          <p:cNvPr id="26" name="Text 24"/>
          <p:cNvSpPr txBox="1"/>
          <p:nvPr/>
        </p:nvSpPr>
        <p:spPr>
          <a:xfrm>
            <a:off x="777240" y="516636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COUNT</a:t>
            </a:r>
            <a:endParaRPr lang="en-US" sz="1200" dirty="0"/>
          </a:p>
        </p:txBody>
      </p:sp>
      <p:sp>
        <p:nvSpPr>
          <p:cNvPr id="27" name="Text 25"/>
          <p:cNvSpPr txBox="1"/>
          <p:nvPr/>
        </p:nvSpPr>
        <p:spPr>
          <a:xfrm>
            <a:off x="777240" y="5404104"/>
            <a:ext cx="3088538" cy="2468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Scans before receiving</a:t>
            </a:r>
            <a:endParaRPr lang="en-US" sz="1500" dirty="0"/>
          </a:p>
        </p:txBody>
      </p:sp>
      <p:sp>
        <p:nvSpPr>
          <p:cNvPr id="28" name="Card Pressing on one trigger"/>
          <p:cNvSpPr/>
          <p:nvPr/>
        </p:nvSpPr>
        <p:spPr>
          <a:xfrm>
            <a:off x="4322978" y="1737360"/>
            <a:ext cx="3545738" cy="4114800"/>
          </a:xfrm>
          <a:prstGeom prst="roundRect">
            <a:avLst>
              <a:gd name="adj" fmla="val 4126"/>
            </a:avLst>
          </a:prstGeom>
          <a:solidFill>
            <a:srgbClr val="F2F5F8"/>
          </a:solidFill>
          <a:ln w="9525">
            <a:solidFill>
              <a:srgbClr val="E2E8F0"/>
            </a:solidFill>
            <a:prstDash val="solid"/>
          </a:ln>
        </p:spPr>
      </p:sp>
      <p:sp>
        <p:nvSpPr>
          <p:cNvPr id="29" name="Shape 27"/>
          <p:cNvSpPr/>
          <p:nvPr/>
        </p:nvSpPr>
        <p:spPr>
          <a:xfrm>
            <a:off x="4505858" y="1965960"/>
            <a:ext cx="3179978" cy="960120"/>
          </a:xfrm>
          <a:prstGeom prst="roundRect">
            <a:avLst>
              <a:gd name="adj" fmla="val 7619"/>
            </a:avLst>
          </a:prstGeom>
          <a:solidFill>
            <a:srgbClr val="E2F3F1"/>
          </a:solidFill>
          <a:ln/>
        </p:spPr>
      </p:sp>
      <p:sp>
        <p:nvSpPr>
          <p:cNvPr id="30" name="Shape 28"/>
          <p:cNvSpPr/>
          <p:nvPr/>
        </p:nvSpPr>
        <p:spPr>
          <a:xfrm>
            <a:off x="4780178" y="2112264"/>
            <a:ext cx="2631338" cy="667512"/>
          </a:xfrm>
          <a:prstGeom prst="rect">
            <a:avLst/>
          </a:prstGeom>
          <a:solidFill>
            <a:srgbClr val="E2F3F1"/>
          </a:solidFill>
          <a:ln w="19050">
            <a:solidFill>
              <a:srgbClr val="FFFFFF"/>
            </a:solidFill>
            <a:prstDash val="solid"/>
          </a:ln>
        </p:spPr>
      </p:sp>
      <p:sp>
        <p:nvSpPr>
          <p:cNvPr id="31" name="Shape 29"/>
          <p:cNvSpPr/>
          <p:nvPr/>
        </p:nvSpPr>
        <p:spPr>
          <a:xfrm>
            <a:off x="5995069" y="2446020"/>
            <a:ext cx="709538" cy="0"/>
          </a:xfrm>
          <a:prstGeom prst="line">
            <a:avLst/>
          </a:prstGeom>
          <a:noFill/>
          <a:ln w="22225">
            <a:solidFill>
              <a:srgbClr val="263D57"/>
            </a:solidFill>
            <a:prstDash val="dash"/>
            <a:tailEnd type="triangle"/>
          </a:ln>
        </p:spPr>
      </p:sp>
      <p:sp>
        <p:nvSpPr>
          <p:cNvPr id="32" name="Shape 30"/>
          <p:cNvSpPr/>
          <p:nvPr/>
        </p:nvSpPr>
        <p:spPr>
          <a:xfrm>
            <a:off x="5379598" y="2313981"/>
            <a:ext cx="1306720" cy="58887"/>
          </a:xfrm>
          <a:prstGeom prst="line">
            <a:avLst/>
          </a:prstGeom>
          <a:noFill/>
          <a:ln w="22225">
            <a:solidFill>
              <a:srgbClr val="41C5C5"/>
            </a:solidFill>
            <a:prstDash val="solid"/>
            <a:tailEnd type="triangle"/>
          </a:ln>
        </p:spPr>
      </p:sp>
      <p:sp>
        <p:nvSpPr>
          <p:cNvPr id="33" name="Shape 31"/>
          <p:cNvSpPr/>
          <p:nvPr/>
        </p:nvSpPr>
        <p:spPr>
          <a:xfrm flipV="1">
            <a:off x="5379598" y="2519172"/>
            <a:ext cx="1306720" cy="72238"/>
          </a:xfrm>
          <a:prstGeom prst="line">
            <a:avLst/>
          </a:prstGeom>
          <a:noFill/>
          <a:ln w="22225">
            <a:solidFill>
              <a:srgbClr val="41C5C5"/>
            </a:solidFill>
            <a:prstDash val="solid"/>
            <a:tailEnd type="triangle"/>
          </a:ln>
        </p:spPr>
      </p:sp>
      <p:sp>
        <p:nvSpPr>
          <p:cNvPr id="34" name="Shape 32"/>
          <p:cNvSpPr/>
          <p:nvPr/>
        </p:nvSpPr>
        <p:spPr>
          <a:xfrm>
            <a:off x="6300567" y="2287280"/>
            <a:ext cx="385752" cy="85588"/>
          </a:xfrm>
          <a:prstGeom prst="line">
            <a:avLst/>
          </a:prstGeom>
          <a:noFill/>
          <a:ln w="22225">
            <a:solidFill>
              <a:srgbClr val="41C5C5"/>
            </a:solidFill>
            <a:prstDash val="solid"/>
            <a:tailEnd type="triangle"/>
          </a:ln>
        </p:spPr>
      </p:sp>
      <p:sp>
        <p:nvSpPr>
          <p:cNvPr id="35" name="Shape 33"/>
          <p:cNvSpPr/>
          <p:nvPr/>
        </p:nvSpPr>
        <p:spPr>
          <a:xfrm>
            <a:off x="6399108" y="2568184"/>
            <a:ext cx="182880" cy="182880"/>
          </a:xfrm>
          <a:prstGeom prst="ellipse">
            <a:avLst/>
          </a:prstGeom>
          <a:solidFill>
            <a:srgbClr val="263D57"/>
          </a:solidFill>
          <a:ln w="15875">
            <a:solidFill>
              <a:srgbClr val="FFFFFF"/>
            </a:solidFill>
            <a:prstDash val="solid"/>
          </a:ln>
        </p:spPr>
      </p:sp>
      <p:sp>
        <p:nvSpPr>
          <p:cNvPr id="36" name="Shape 34"/>
          <p:cNvSpPr/>
          <p:nvPr/>
        </p:nvSpPr>
        <p:spPr>
          <a:xfrm>
            <a:off x="7004316" y="2187702"/>
            <a:ext cx="182880" cy="182880"/>
          </a:xfrm>
          <a:prstGeom prst="ellipse">
            <a:avLst/>
          </a:prstGeom>
          <a:solidFill>
            <a:srgbClr val="263D57"/>
          </a:solidFill>
          <a:ln w="15875">
            <a:solidFill>
              <a:srgbClr val="FFFFFF"/>
            </a:solidFill>
            <a:prstDash val="solid"/>
          </a:ln>
        </p:spPr>
      </p:sp>
      <p:sp>
        <p:nvSpPr>
          <p:cNvPr id="37" name="Shape 35"/>
          <p:cNvSpPr/>
          <p:nvPr/>
        </p:nvSpPr>
        <p:spPr>
          <a:xfrm>
            <a:off x="5793901" y="2354580"/>
            <a:ext cx="182880" cy="182880"/>
          </a:xfrm>
          <a:prstGeom prst="ellipse">
            <a:avLst/>
          </a:prstGeom>
          <a:solidFill>
            <a:srgbClr val="263D57"/>
          </a:solidFill>
          <a:ln w="15875">
            <a:solidFill>
              <a:srgbClr val="FFFFFF"/>
            </a:solidFill>
            <a:prstDash val="solid"/>
          </a:ln>
        </p:spPr>
      </p:sp>
      <p:sp>
        <p:nvSpPr>
          <p:cNvPr id="38" name="Shape 36"/>
          <p:cNvSpPr/>
          <p:nvPr/>
        </p:nvSpPr>
        <p:spPr>
          <a:xfrm>
            <a:off x="6741182" y="2354580"/>
            <a:ext cx="182880" cy="182880"/>
          </a:xfrm>
          <a:prstGeom prst="ellipse">
            <a:avLst/>
          </a:prstGeom>
          <a:solidFill>
            <a:srgbClr val="263D57"/>
          </a:solidFill>
          <a:ln w="15875">
            <a:solidFill>
              <a:srgbClr val="FFFFFF"/>
            </a:solidFill>
            <a:prstDash val="solid"/>
          </a:ln>
        </p:spPr>
      </p:sp>
      <p:sp>
        <p:nvSpPr>
          <p:cNvPr id="39" name="Shape 37"/>
          <p:cNvSpPr/>
          <p:nvPr/>
        </p:nvSpPr>
        <p:spPr>
          <a:xfrm>
            <a:off x="5215006" y="2167677"/>
            <a:ext cx="182880" cy="182880"/>
          </a:xfrm>
          <a:prstGeom prst="ellipse">
            <a:avLst/>
          </a:prstGeom>
          <a:solidFill>
            <a:srgbClr val="41C5C5"/>
          </a:solidFill>
          <a:ln w="15875">
            <a:solidFill>
              <a:srgbClr val="FFFFFF"/>
            </a:solidFill>
            <a:prstDash val="solid"/>
          </a:ln>
        </p:spPr>
      </p:sp>
      <p:sp>
        <p:nvSpPr>
          <p:cNvPr id="40" name="Shape 38"/>
          <p:cNvSpPr/>
          <p:nvPr/>
        </p:nvSpPr>
        <p:spPr>
          <a:xfrm>
            <a:off x="5215006" y="2554834"/>
            <a:ext cx="182880" cy="182880"/>
          </a:xfrm>
          <a:prstGeom prst="ellipse">
            <a:avLst/>
          </a:prstGeom>
          <a:solidFill>
            <a:srgbClr val="41C5C5"/>
          </a:solidFill>
          <a:ln w="15875">
            <a:solidFill>
              <a:srgbClr val="FFFFFF"/>
            </a:solidFill>
            <a:prstDash val="solid"/>
          </a:ln>
        </p:spPr>
      </p:sp>
      <p:sp>
        <p:nvSpPr>
          <p:cNvPr id="41" name="Shape 39"/>
          <p:cNvSpPr/>
          <p:nvPr/>
        </p:nvSpPr>
        <p:spPr>
          <a:xfrm>
            <a:off x="6135975" y="2140976"/>
            <a:ext cx="182880" cy="182880"/>
          </a:xfrm>
          <a:prstGeom prst="ellipse">
            <a:avLst/>
          </a:prstGeom>
          <a:solidFill>
            <a:srgbClr val="41C5C5"/>
          </a:solidFill>
          <a:ln w="15875">
            <a:solidFill>
              <a:srgbClr val="FFFFFF"/>
            </a:solidFill>
            <a:prstDash val="solid"/>
          </a:ln>
        </p:spPr>
      </p:sp>
      <p:sp>
        <p:nvSpPr>
          <p:cNvPr id="42" name="Shape 40"/>
          <p:cNvSpPr/>
          <p:nvPr/>
        </p:nvSpPr>
        <p:spPr>
          <a:xfrm>
            <a:off x="6388261" y="2153412"/>
            <a:ext cx="237744" cy="237744"/>
          </a:xfrm>
          <a:prstGeom prst="ellipse">
            <a:avLst/>
          </a:prstGeom>
          <a:solidFill>
            <a:srgbClr val="EABF23"/>
          </a:solidFill>
          <a:ln/>
        </p:spPr>
      </p:sp>
      <p:sp>
        <p:nvSpPr>
          <p:cNvPr id="43" name="Text 41"/>
          <p:cNvSpPr txBox="1"/>
          <p:nvPr/>
        </p:nvSpPr>
        <p:spPr>
          <a:xfrm>
            <a:off x="6388261" y="2153412"/>
            <a:ext cx="237744" cy="237744"/>
          </a:xfrm>
          <a:prstGeom prst="rect">
            <a:avLst/>
          </a:prstGeom>
          <a:noFill/>
          <a:ln/>
        </p:spPr>
        <p:txBody>
          <a:bodyPr wrap="square" lIns="0" tIns="0" rIns="0" bIns="0" rtlCol="0" anchor="ctr"/>
          <a:lstStyle/>
          <a:p>
            <a:pPr algn="ctr" indent="0" marL="0">
              <a:buNone/>
            </a:pPr>
            <a:r>
              <a:rPr lang="en-US" sz="1200" b="1" dirty="0">
                <a:solidFill>
                  <a:srgbClr val="263D57"/>
                </a:solidFill>
                <a:latin typeface="Inter" pitchFamily="34" charset="0"/>
                <a:ea typeface="Inter" pitchFamily="34" charset="-122"/>
                <a:cs typeface="Inter" pitchFamily="34" charset="-120"/>
              </a:rPr>
              <a:t>!</a:t>
            </a:r>
            <a:endParaRPr lang="en-US" sz="1200" dirty="0"/>
          </a:p>
        </p:txBody>
      </p:sp>
      <p:sp>
        <p:nvSpPr>
          <p:cNvPr id="44" name="Text 42"/>
          <p:cNvSpPr txBox="1"/>
          <p:nvPr/>
        </p:nvSpPr>
        <p:spPr>
          <a:xfrm>
            <a:off x="5811317" y="1591056"/>
            <a:ext cx="1828800" cy="292608"/>
          </a:xfrm>
          <a:prstGeom prst="roundRect">
            <a:avLst>
              <a:gd name="adj" fmla="val 50000"/>
            </a:avLst>
          </a:prstGeom>
          <a:solidFill>
            <a:srgbClr val="41C5C5"/>
          </a:solidFill>
          <a:ln/>
        </p:spPr>
        <p:txBody>
          <a:bodyPr wrap="square" lIns="0" tIns="0" rIns="0" bIns="0" rtlCol="0" anchor="ctr"/>
          <a:lstStyle/>
          <a:p>
            <a:pPr algn="ctr" indent="0" marL="0">
              <a:buNone/>
            </a:pPr>
            <a:r>
              <a:rPr lang="en-US" sz="1200" b="1" dirty="0">
                <a:solidFill>
                  <a:srgbClr val="263D57"/>
                </a:solidFill>
                <a:latin typeface="Inter" pitchFamily="34" charset="0"/>
                <a:ea typeface="Inter" pitchFamily="34" charset="-122"/>
                <a:cs typeface="Inter" pitchFamily="34" charset="-120"/>
              </a:rPr>
              <a:t>B · other sport</a:t>
            </a:r>
            <a:endParaRPr lang="en-US" sz="1200" dirty="0"/>
          </a:p>
        </p:txBody>
      </p:sp>
      <p:sp>
        <p:nvSpPr>
          <p:cNvPr id="45" name="Text 43"/>
          <p:cNvSpPr txBox="1"/>
          <p:nvPr/>
        </p:nvSpPr>
        <p:spPr>
          <a:xfrm>
            <a:off x="4551578" y="3035808"/>
            <a:ext cx="3088538" cy="384048"/>
          </a:xfrm>
          <a:prstGeom prst="rect">
            <a:avLst/>
          </a:prstGeom>
          <a:noFill/>
          <a:ln/>
        </p:spPr>
        <p:txBody>
          <a:bodyPr wrap="square" lIns="0" tIns="0" rIns="0" bIns="0" rtlCol="0" anchor="ctr"/>
          <a:lstStyle/>
          <a:p>
            <a:pPr indent="0" marL="0">
              <a:buNone/>
            </a:pPr>
            <a:r>
              <a:rPr lang="en-US" sz="1800" dirty="0">
                <a:solidFill>
                  <a:srgbClr val="263D57"/>
                </a:solidFill>
                <a:latin typeface="Poppins SemiBold" pitchFamily="34" charset="0"/>
                <a:ea typeface="Poppins SemiBold" pitchFamily="34" charset="-122"/>
                <a:cs typeface="Poppins SemiBold" pitchFamily="34" charset="-120"/>
              </a:rPr>
              <a:t>Pressing on one trigger</a:t>
            </a:r>
            <a:endParaRPr lang="en-US" sz="1800" dirty="0"/>
          </a:p>
        </p:txBody>
      </p:sp>
      <p:sp>
        <p:nvSpPr>
          <p:cNvPr id="46" name="Text 44"/>
          <p:cNvSpPr txBox="1"/>
          <p:nvPr/>
        </p:nvSpPr>
        <p:spPr>
          <a:xfrm>
            <a:off x="4551578" y="352044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MECHANISM</a:t>
            </a:r>
            <a:endParaRPr lang="en-US" sz="1200" dirty="0"/>
          </a:p>
        </p:txBody>
      </p:sp>
      <p:sp>
        <p:nvSpPr>
          <p:cNvPr id="47" name="Text 45"/>
          <p:cNvSpPr txBox="1"/>
          <p:nvPr/>
        </p:nvSpPr>
        <p:spPr>
          <a:xfrm>
            <a:off x="4551578" y="3758184"/>
            <a:ext cx="3088538" cy="4754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Working memory limits usable cues</a:t>
            </a:r>
            <a:endParaRPr lang="en-US" sz="1500" dirty="0"/>
          </a:p>
        </p:txBody>
      </p:sp>
      <p:sp>
        <p:nvSpPr>
          <p:cNvPr id="48" name="Text 46"/>
          <p:cNvSpPr txBox="1"/>
          <p:nvPr/>
        </p:nvSpPr>
        <p:spPr>
          <a:xfrm>
            <a:off x="4551578" y="434340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CHANGE</a:t>
            </a:r>
            <a:endParaRPr lang="en-US" sz="1200" dirty="0"/>
          </a:p>
        </p:txBody>
      </p:sp>
      <p:sp>
        <p:nvSpPr>
          <p:cNvPr id="49" name="Text 47"/>
          <p:cNvSpPr txBox="1"/>
          <p:nvPr/>
        </p:nvSpPr>
        <p:spPr>
          <a:xfrm>
            <a:off x="4551578" y="4581144"/>
            <a:ext cx="3088538" cy="2468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6v6: one trigger, no rule list</a:t>
            </a:r>
            <a:endParaRPr lang="en-US" sz="1500" dirty="0"/>
          </a:p>
        </p:txBody>
      </p:sp>
      <p:sp>
        <p:nvSpPr>
          <p:cNvPr id="50" name="Text 48"/>
          <p:cNvSpPr txBox="1"/>
          <p:nvPr/>
        </p:nvSpPr>
        <p:spPr>
          <a:xfrm>
            <a:off x="4551578" y="493776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COUNT</a:t>
            </a:r>
            <a:endParaRPr lang="en-US" sz="1200" dirty="0"/>
          </a:p>
        </p:txBody>
      </p:sp>
      <p:sp>
        <p:nvSpPr>
          <p:cNvPr id="51" name="Text 49"/>
          <p:cNvSpPr txBox="1"/>
          <p:nvPr/>
        </p:nvSpPr>
        <p:spPr>
          <a:xfrm>
            <a:off x="4551578" y="5175504"/>
            <a:ext cx="3088538" cy="2468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Presses on the trigger</a:t>
            </a:r>
            <a:endParaRPr lang="en-US" sz="1500" dirty="0"/>
          </a:p>
        </p:txBody>
      </p:sp>
      <p:sp>
        <p:nvSpPr>
          <p:cNvPr id="52" name="Card The easy pass is closed"/>
          <p:cNvSpPr/>
          <p:nvPr/>
        </p:nvSpPr>
        <p:spPr>
          <a:xfrm>
            <a:off x="8097317" y="1737360"/>
            <a:ext cx="3545738" cy="4114800"/>
          </a:xfrm>
          <a:prstGeom prst="roundRect">
            <a:avLst>
              <a:gd name="adj" fmla="val 4126"/>
            </a:avLst>
          </a:prstGeom>
          <a:solidFill>
            <a:srgbClr val="F2F5F8"/>
          </a:solidFill>
          <a:ln w="9525">
            <a:solidFill>
              <a:srgbClr val="E2E8F0"/>
            </a:solidFill>
            <a:prstDash val="solid"/>
          </a:ln>
        </p:spPr>
      </p:sp>
      <p:sp>
        <p:nvSpPr>
          <p:cNvPr id="53" name="Shape 51"/>
          <p:cNvSpPr/>
          <p:nvPr/>
        </p:nvSpPr>
        <p:spPr>
          <a:xfrm>
            <a:off x="8280197" y="1965960"/>
            <a:ext cx="3179978" cy="960120"/>
          </a:xfrm>
          <a:prstGeom prst="roundRect">
            <a:avLst>
              <a:gd name="adj" fmla="val 7619"/>
            </a:avLst>
          </a:prstGeom>
          <a:solidFill>
            <a:srgbClr val="E2F3F1"/>
          </a:solidFill>
          <a:ln/>
        </p:spPr>
      </p:sp>
      <p:sp>
        <p:nvSpPr>
          <p:cNvPr id="54" name="Shape 52"/>
          <p:cNvSpPr/>
          <p:nvPr/>
        </p:nvSpPr>
        <p:spPr>
          <a:xfrm>
            <a:off x="9524543" y="2100377"/>
            <a:ext cx="691286" cy="691286"/>
          </a:xfrm>
          <a:prstGeom prst="ellipse">
            <a:avLst/>
          </a:prstGeom>
          <a:solidFill>
            <a:srgbClr val="E2F3F1"/>
          </a:solidFill>
          <a:ln w="19050">
            <a:solidFill>
              <a:srgbClr val="FFFFFF"/>
            </a:solidFill>
            <a:prstDash val="solid"/>
          </a:ln>
        </p:spPr>
      </p:sp>
      <p:sp>
        <p:nvSpPr>
          <p:cNvPr id="55" name="Shape 53"/>
          <p:cNvSpPr/>
          <p:nvPr/>
        </p:nvSpPr>
        <p:spPr>
          <a:xfrm>
            <a:off x="9870186" y="2100377"/>
            <a:ext cx="255574" cy="202258"/>
          </a:xfrm>
          <a:prstGeom prst="line">
            <a:avLst/>
          </a:prstGeom>
          <a:noFill/>
          <a:ln w="22225">
            <a:solidFill>
              <a:srgbClr val="263D57"/>
            </a:solidFill>
            <a:prstDash val="solid"/>
            <a:tailEnd type="triangle"/>
          </a:ln>
        </p:spPr>
      </p:sp>
      <p:sp>
        <p:nvSpPr>
          <p:cNvPr id="56" name="Shape 54"/>
          <p:cNvSpPr/>
          <p:nvPr/>
        </p:nvSpPr>
        <p:spPr>
          <a:xfrm flipH="1" flipV="1">
            <a:off x="9906762" y="2210105"/>
            <a:ext cx="182422" cy="238834"/>
          </a:xfrm>
          <a:prstGeom prst="line">
            <a:avLst/>
          </a:prstGeom>
          <a:noFill/>
          <a:ln w="22225">
            <a:solidFill>
              <a:srgbClr val="EB5E28"/>
            </a:solidFill>
            <a:prstDash val="dash"/>
            <a:tailEnd type="triangle"/>
          </a:ln>
        </p:spPr>
      </p:sp>
      <p:sp>
        <p:nvSpPr>
          <p:cNvPr id="57" name="Shape 55"/>
          <p:cNvSpPr/>
          <p:nvPr/>
        </p:nvSpPr>
        <p:spPr>
          <a:xfrm>
            <a:off x="9778746" y="2008937"/>
            <a:ext cx="182880" cy="182880"/>
          </a:xfrm>
          <a:prstGeom prst="ellipse">
            <a:avLst/>
          </a:prstGeom>
          <a:solidFill>
            <a:srgbClr val="41C5C5"/>
          </a:solidFill>
          <a:ln w="15875">
            <a:solidFill>
              <a:srgbClr val="FFFFFF"/>
            </a:solidFill>
            <a:prstDash val="solid"/>
          </a:ln>
        </p:spPr>
      </p:sp>
      <p:sp>
        <p:nvSpPr>
          <p:cNvPr id="58" name="Shape 56"/>
          <p:cNvSpPr/>
          <p:nvPr/>
        </p:nvSpPr>
        <p:spPr>
          <a:xfrm>
            <a:off x="10107472" y="2247770"/>
            <a:ext cx="182880" cy="182880"/>
          </a:xfrm>
          <a:prstGeom prst="ellipse">
            <a:avLst/>
          </a:prstGeom>
          <a:solidFill>
            <a:srgbClr val="41C5C5"/>
          </a:solidFill>
          <a:ln w="15875">
            <a:solidFill>
              <a:srgbClr val="FFFFFF"/>
            </a:solidFill>
            <a:prstDash val="solid"/>
          </a:ln>
        </p:spPr>
      </p:sp>
      <p:sp>
        <p:nvSpPr>
          <p:cNvPr id="59" name="Shape 57"/>
          <p:cNvSpPr/>
          <p:nvPr/>
        </p:nvSpPr>
        <p:spPr>
          <a:xfrm>
            <a:off x="9981910" y="2634211"/>
            <a:ext cx="182880" cy="182880"/>
          </a:xfrm>
          <a:prstGeom prst="ellipse">
            <a:avLst/>
          </a:prstGeom>
          <a:solidFill>
            <a:srgbClr val="41C5C5"/>
          </a:solidFill>
          <a:ln w="15875">
            <a:solidFill>
              <a:srgbClr val="FFFFFF"/>
            </a:solidFill>
            <a:prstDash val="solid"/>
          </a:ln>
        </p:spPr>
      </p:sp>
      <p:sp>
        <p:nvSpPr>
          <p:cNvPr id="60" name="Shape 58"/>
          <p:cNvSpPr/>
          <p:nvPr/>
        </p:nvSpPr>
        <p:spPr>
          <a:xfrm>
            <a:off x="9575582" y="2634211"/>
            <a:ext cx="182880" cy="182880"/>
          </a:xfrm>
          <a:prstGeom prst="ellipse">
            <a:avLst/>
          </a:prstGeom>
          <a:solidFill>
            <a:srgbClr val="41C5C5"/>
          </a:solidFill>
          <a:ln w="15875">
            <a:solidFill>
              <a:srgbClr val="FFFFFF"/>
            </a:solidFill>
            <a:prstDash val="solid"/>
          </a:ln>
        </p:spPr>
      </p:sp>
      <p:sp>
        <p:nvSpPr>
          <p:cNvPr id="61" name="Shape 59"/>
          <p:cNvSpPr/>
          <p:nvPr/>
        </p:nvSpPr>
        <p:spPr>
          <a:xfrm>
            <a:off x="9450020" y="2247770"/>
            <a:ext cx="182880" cy="182880"/>
          </a:xfrm>
          <a:prstGeom prst="ellipse">
            <a:avLst/>
          </a:prstGeom>
          <a:solidFill>
            <a:srgbClr val="41C5C5"/>
          </a:solidFill>
          <a:ln w="15875">
            <a:solidFill>
              <a:srgbClr val="FFFFFF"/>
            </a:solidFill>
            <a:prstDash val="solid"/>
          </a:ln>
        </p:spPr>
      </p:sp>
      <p:sp>
        <p:nvSpPr>
          <p:cNvPr id="62" name="Shape 60"/>
          <p:cNvSpPr/>
          <p:nvPr/>
        </p:nvSpPr>
        <p:spPr>
          <a:xfrm>
            <a:off x="9614154" y="2400300"/>
            <a:ext cx="182880" cy="182880"/>
          </a:xfrm>
          <a:prstGeom prst="ellipse">
            <a:avLst/>
          </a:prstGeom>
          <a:solidFill>
            <a:srgbClr val="263D57"/>
          </a:solidFill>
          <a:ln w="15875">
            <a:solidFill>
              <a:srgbClr val="FFFFFF"/>
            </a:solidFill>
            <a:prstDash val="solid"/>
          </a:ln>
        </p:spPr>
      </p:sp>
      <p:sp>
        <p:nvSpPr>
          <p:cNvPr id="63" name="Shape 61"/>
          <p:cNvSpPr/>
          <p:nvPr/>
        </p:nvSpPr>
        <p:spPr>
          <a:xfrm>
            <a:off x="9961626" y="2491740"/>
            <a:ext cx="182880" cy="182880"/>
          </a:xfrm>
          <a:prstGeom prst="ellipse">
            <a:avLst/>
          </a:prstGeom>
          <a:solidFill>
            <a:srgbClr val="263D57"/>
          </a:solidFill>
          <a:ln w="15875">
            <a:solidFill>
              <a:srgbClr val="FFFFFF"/>
            </a:solidFill>
            <a:prstDash val="solid"/>
          </a:ln>
        </p:spPr>
      </p:sp>
      <p:sp>
        <p:nvSpPr>
          <p:cNvPr id="64" name="Shape 62"/>
          <p:cNvSpPr/>
          <p:nvPr/>
        </p:nvSpPr>
        <p:spPr>
          <a:xfrm>
            <a:off x="9970541" y="2247226"/>
            <a:ext cx="164592" cy="164592"/>
          </a:xfrm>
          <a:prstGeom prst="line">
            <a:avLst/>
          </a:prstGeom>
          <a:noFill/>
          <a:ln w="28575">
            <a:solidFill>
              <a:srgbClr val="EB5E28"/>
            </a:solidFill>
            <a:prstDash val="solid"/>
          </a:ln>
        </p:spPr>
      </p:sp>
      <p:sp>
        <p:nvSpPr>
          <p:cNvPr id="65" name="Shape 63"/>
          <p:cNvSpPr/>
          <p:nvPr/>
        </p:nvSpPr>
        <p:spPr>
          <a:xfrm flipH="1">
            <a:off x="9970541" y="2247226"/>
            <a:ext cx="164592" cy="164592"/>
          </a:xfrm>
          <a:prstGeom prst="line">
            <a:avLst/>
          </a:prstGeom>
          <a:noFill/>
          <a:ln w="28575">
            <a:solidFill>
              <a:srgbClr val="EB5E28"/>
            </a:solidFill>
            <a:prstDash val="solid"/>
          </a:ln>
        </p:spPr>
      </p:sp>
      <p:sp>
        <p:nvSpPr>
          <p:cNvPr id="66" name="Text 64"/>
          <p:cNvSpPr txBox="1"/>
          <p:nvPr/>
        </p:nvSpPr>
        <p:spPr>
          <a:xfrm>
            <a:off x="9585655" y="1591056"/>
            <a:ext cx="1828800" cy="292608"/>
          </a:xfrm>
          <a:prstGeom prst="roundRect">
            <a:avLst>
              <a:gd name="adj" fmla="val 50000"/>
            </a:avLst>
          </a:prstGeom>
          <a:solidFill>
            <a:srgbClr val="8A94A3"/>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C · coaching logic</a:t>
            </a:r>
            <a:endParaRPr lang="en-US" sz="1200" dirty="0"/>
          </a:p>
        </p:txBody>
      </p:sp>
      <p:sp>
        <p:nvSpPr>
          <p:cNvPr id="67" name="Text 65"/>
          <p:cNvSpPr txBox="1"/>
          <p:nvPr/>
        </p:nvSpPr>
        <p:spPr>
          <a:xfrm>
            <a:off x="8325917" y="3035808"/>
            <a:ext cx="3088538" cy="384048"/>
          </a:xfrm>
          <a:prstGeom prst="rect">
            <a:avLst/>
          </a:prstGeom>
          <a:noFill/>
          <a:ln/>
        </p:spPr>
        <p:txBody>
          <a:bodyPr wrap="square" lIns="0" tIns="0" rIns="0" bIns="0" rtlCol="0" anchor="ctr"/>
          <a:lstStyle/>
          <a:p>
            <a:pPr indent="0" marL="0">
              <a:buNone/>
            </a:pPr>
            <a:r>
              <a:rPr lang="en-US" sz="1800" dirty="0">
                <a:solidFill>
                  <a:srgbClr val="263D57"/>
                </a:solidFill>
                <a:latin typeface="Poppins SemiBold" pitchFamily="34" charset="0"/>
                <a:ea typeface="Poppins SemiBold" pitchFamily="34" charset="-122"/>
                <a:cs typeface="Poppins SemiBold" pitchFamily="34" charset="-120"/>
              </a:rPr>
              <a:t>The easy pass is closed</a:t>
            </a:r>
            <a:endParaRPr lang="en-US" sz="1800" dirty="0"/>
          </a:p>
        </p:txBody>
      </p:sp>
      <p:sp>
        <p:nvSpPr>
          <p:cNvPr id="68" name="Text 66"/>
          <p:cNvSpPr txBox="1"/>
          <p:nvPr/>
        </p:nvSpPr>
        <p:spPr>
          <a:xfrm>
            <a:off x="8325917" y="352044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MECHANISM</a:t>
            </a:r>
            <a:endParaRPr lang="en-US" sz="1200" dirty="0"/>
          </a:p>
        </p:txBody>
      </p:sp>
      <p:sp>
        <p:nvSpPr>
          <p:cNvPr id="69" name="Text 67"/>
          <p:cNvSpPr txBox="1"/>
          <p:nvPr/>
        </p:nvSpPr>
        <p:spPr>
          <a:xfrm>
            <a:off x="8325917" y="3758184"/>
            <a:ext cx="3088538" cy="2468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Inhibiting the habitual pass</a:t>
            </a:r>
            <a:endParaRPr lang="en-US" sz="1500" dirty="0"/>
          </a:p>
        </p:txBody>
      </p:sp>
      <p:sp>
        <p:nvSpPr>
          <p:cNvPr id="70" name="Text 68"/>
          <p:cNvSpPr txBox="1"/>
          <p:nvPr/>
        </p:nvSpPr>
        <p:spPr>
          <a:xfrm>
            <a:off x="8325917" y="411480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CHANGE</a:t>
            </a:r>
            <a:endParaRPr lang="en-US" sz="1200" dirty="0"/>
          </a:p>
        </p:txBody>
      </p:sp>
      <p:sp>
        <p:nvSpPr>
          <p:cNvPr id="71" name="Text 69"/>
          <p:cNvSpPr txBox="1"/>
          <p:nvPr/>
        </p:nvSpPr>
        <p:spPr>
          <a:xfrm>
            <a:off x="8325917" y="4352544"/>
            <a:ext cx="3088538" cy="2468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5v2: no return to the passer</a:t>
            </a:r>
            <a:endParaRPr lang="en-US" sz="1500" dirty="0"/>
          </a:p>
        </p:txBody>
      </p:sp>
      <p:sp>
        <p:nvSpPr>
          <p:cNvPr id="72" name="Text 70"/>
          <p:cNvSpPr txBox="1"/>
          <p:nvPr/>
        </p:nvSpPr>
        <p:spPr>
          <a:xfrm>
            <a:off x="8325917" y="4709160"/>
            <a:ext cx="3088538" cy="219456"/>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COUNT</a:t>
            </a:r>
            <a:endParaRPr lang="en-US" sz="1200" dirty="0"/>
          </a:p>
        </p:txBody>
      </p:sp>
      <p:sp>
        <p:nvSpPr>
          <p:cNvPr id="73" name="Text 71"/>
          <p:cNvSpPr txBox="1"/>
          <p:nvPr/>
        </p:nvSpPr>
        <p:spPr>
          <a:xfrm>
            <a:off x="8325917" y="4946904"/>
            <a:ext cx="3088538" cy="246888"/>
          </a:xfrm>
          <a:prstGeom prst="rect">
            <a:avLst/>
          </a:prstGeom>
          <a:noFill/>
          <a:ln/>
        </p:spPr>
        <p:txBody>
          <a:bodyPr wrap="square" lIns="0" tIns="0" rIns="0" bIns="0" rtlCol="0" anchor="t"/>
          <a:lstStyle/>
          <a:p>
            <a:pPr indent="0" marL="0">
              <a:buNone/>
            </a:pPr>
            <a:r>
              <a:rPr lang="en-US" sz="1500" dirty="0">
                <a:solidFill>
                  <a:srgbClr val="2A323C"/>
                </a:solidFill>
                <a:latin typeface="Inter" pitchFamily="34" charset="0"/>
                <a:ea typeface="Inter" pitchFamily="34" charset="-122"/>
                <a:cs typeface="Inter" pitchFamily="34" charset="-120"/>
              </a:rPr>
              <a:t>Losses after a closed lane</a:t>
            </a:r>
            <a:endParaRPr lang="en-US" sz="15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AI WORKFLOW</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Aim: from card to visual in under 30 minutes</a:t>
            </a:r>
            <a:endParaRPr lang="en-US" sz="2600" dirty="0"/>
          </a:p>
        </p:txBody>
      </p:sp>
      <p:sp>
        <p:nvSpPr>
          <p:cNvPr id="4" name="Step Card spec"/>
          <p:cNvSpPr/>
          <p:nvPr/>
        </p:nvSpPr>
        <p:spPr>
          <a:xfrm>
            <a:off x="548640" y="1691640"/>
            <a:ext cx="2526716" cy="2514600"/>
          </a:xfrm>
          <a:prstGeom prst="roundRect">
            <a:avLst>
              <a:gd name="adj" fmla="val 5818"/>
            </a:avLst>
          </a:prstGeom>
          <a:solidFill>
            <a:srgbClr val="F2F5F8"/>
          </a:solidFill>
          <a:ln w="9525">
            <a:solidFill>
              <a:srgbClr val="E2E8F0"/>
            </a:solidFill>
            <a:prstDash val="solid"/>
          </a:ln>
        </p:spPr>
      </p:sp>
      <p:sp>
        <p:nvSpPr>
          <p:cNvPr id="5" name="Shape 3"/>
          <p:cNvSpPr/>
          <p:nvPr/>
        </p:nvSpPr>
        <p:spPr>
          <a:xfrm>
            <a:off x="749808" y="1892808"/>
            <a:ext cx="475488" cy="475488"/>
          </a:xfrm>
          <a:prstGeom prst="roundRect">
            <a:avLst>
              <a:gd name="adj" fmla="val 23077"/>
            </a:avLst>
          </a:prstGeom>
          <a:solidFill>
            <a:srgbClr val="E2F3F1"/>
          </a:solidFill>
          <a:ln/>
        </p:spPr>
      </p:sp>
      <p:pic>
        <p:nvPicPr>
          <p:cNvPr id="6" name="Image 0" descr="preencoded.png">    </p:cNvPr>
          <p:cNvPicPr>
            <a:picLocks noChangeAspect="1"/>
          </p:cNvPicPr>
          <p:nvPr/>
        </p:nvPicPr>
        <p:blipFill>
          <a:blip r:embed="rId1"/>
          <a:stretch>
            <a:fillRect/>
          </a:stretch>
        </p:blipFill>
        <p:spPr>
          <a:xfrm>
            <a:off x="854415" y="1997415"/>
            <a:ext cx="266273" cy="266273"/>
          </a:xfrm>
          <a:prstGeom prst="rect">
            <a:avLst/>
          </a:prstGeom>
        </p:spPr>
      </p:pic>
      <p:sp>
        <p:nvSpPr>
          <p:cNvPr id="7" name="Text 4"/>
          <p:cNvSpPr txBox="1"/>
          <p:nvPr/>
        </p:nvSpPr>
        <p:spPr>
          <a:xfrm>
            <a:off x="2572436"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1</a:t>
            </a:r>
            <a:endParaRPr lang="en-US" sz="1400" dirty="0"/>
          </a:p>
        </p:txBody>
      </p:sp>
      <p:sp>
        <p:nvSpPr>
          <p:cNvPr id="8" name="Text 5"/>
          <p:cNvSpPr txBox="1"/>
          <p:nvPr/>
        </p:nvSpPr>
        <p:spPr>
          <a:xfrm>
            <a:off x="749808" y="2514600"/>
            <a:ext cx="212438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Card spec</a:t>
            </a:r>
            <a:endParaRPr lang="en-US" sz="1600" dirty="0"/>
          </a:p>
        </p:txBody>
      </p:sp>
      <p:sp>
        <p:nvSpPr>
          <p:cNvPr id="9" name="Text 6"/>
          <p:cNvSpPr txBox="1"/>
          <p:nvPr/>
        </p:nvSpPr>
        <p:spPr>
          <a:xfrm>
            <a:off x="749808" y="2907792"/>
            <a:ext cx="216095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Pitch, players, change and count as fields</a:t>
            </a:r>
            <a:endParaRPr lang="en-US" sz="1400" dirty="0"/>
          </a:p>
        </p:txBody>
      </p:sp>
      <p:sp>
        <p:nvSpPr>
          <p:cNvPr id="10" name="Shape 7"/>
          <p:cNvSpPr/>
          <p:nvPr/>
        </p:nvSpPr>
        <p:spPr>
          <a:xfrm>
            <a:off x="3130220" y="2830068"/>
            <a:ext cx="219456" cy="237744"/>
          </a:xfrm>
          <a:prstGeom prst="rightArrow">
            <a:avLst/>
          </a:prstGeom>
          <a:solidFill>
            <a:srgbClr val="41C5C5"/>
          </a:solidFill>
          <a:ln/>
        </p:spPr>
      </p:sp>
      <p:sp>
        <p:nvSpPr>
          <p:cNvPr id="11" name="Step Diagram"/>
          <p:cNvSpPr/>
          <p:nvPr/>
        </p:nvSpPr>
        <p:spPr>
          <a:xfrm>
            <a:off x="3404540" y="1691640"/>
            <a:ext cx="2526716" cy="2514600"/>
          </a:xfrm>
          <a:prstGeom prst="roundRect">
            <a:avLst>
              <a:gd name="adj" fmla="val 5818"/>
            </a:avLst>
          </a:prstGeom>
          <a:solidFill>
            <a:srgbClr val="F2F5F8"/>
          </a:solidFill>
          <a:ln w="9525">
            <a:solidFill>
              <a:srgbClr val="E2E8F0"/>
            </a:solidFill>
            <a:prstDash val="solid"/>
          </a:ln>
        </p:spPr>
      </p:sp>
      <p:sp>
        <p:nvSpPr>
          <p:cNvPr id="12" name="Shape 9"/>
          <p:cNvSpPr/>
          <p:nvPr/>
        </p:nvSpPr>
        <p:spPr>
          <a:xfrm>
            <a:off x="3605708" y="1892808"/>
            <a:ext cx="475488" cy="475488"/>
          </a:xfrm>
          <a:prstGeom prst="roundRect">
            <a:avLst>
              <a:gd name="adj" fmla="val 23077"/>
            </a:avLst>
          </a:prstGeom>
          <a:solidFill>
            <a:srgbClr val="E2F3F1"/>
          </a:solidFill>
          <a:ln/>
        </p:spPr>
      </p:sp>
      <p:pic>
        <p:nvPicPr>
          <p:cNvPr id="13" name="Image 1" descr="preencoded.png">    </p:cNvPr>
          <p:cNvPicPr>
            <a:picLocks noChangeAspect="1"/>
          </p:cNvPicPr>
          <p:nvPr/>
        </p:nvPicPr>
        <p:blipFill>
          <a:blip r:embed="rId2"/>
          <a:stretch>
            <a:fillRect/>
          </a:stretch>
        </p:blipFill>
        <p:spPr>
          <a:xfrm>
            <a:off x="3710315" y="1997415"/>
            <a:ext cx="266273" cy="266273"/>
          </a:xfrm>
          <a:prstGeom prst="rect">
            <a:avLst/>
          </a:prstGeom>
        </p:spPr>
      </p:pic>
      <p:sp>
        <p:nvSpPr>
          <p:cNvPr id="14" name="Text 10"/>
          <p:cNvSpPr txBox="1"/>
          <p:nvPr/>
        </p:nvSpPr>
        <p:spPr>
          <a:xfrm>
            <a:off x="5428336"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2</a:t>
            </a:r>
            <a:endParaRPr lang="en-US" sz="1400" dirty="0"/>
          </a:p>
        </p:txBody>
      </p:sp>
      <p:sp>
        <p:nvSpPr>
          <p:cNvPr id="15" name="Text 11"/>
          <p:cNvSpPr txBox="1"/>
          <p:nvPr/>
        </p:nvSpPr>
        <p:spPr>
          <a:xfrm>
            <a:off x="3605708" y="2514600"/>
            <a:ext cx="212438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Diagram</a:t>
            </a:r>
            <a:endParaRPr lang="en-US" sz="1600" dirty="0"/>
          </a:p>
        </p:txBody>
      </p:sp>
      <p:sp>
        <p:nvSpPr>
          <p:cNvPr id="16" name="Text 12"/>
          <p:cNvSpPr txBox="1"/>
          <p:nvPr/>
        </p:nvSpPr>
        <p:spPr>
          <a:xfrm>
            <a:off x="3605708" y="2907792"/>
            <a:ext cx="216095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Top-down pitch drawn from the spec</a:t>
            </a:r>
            <a:endParaRPr lang="en-US" sz="1400" dirty="0"/>
          </a:p>
        </p:txBody>
      </p:sp>
      <p:sp>
        <p:nvSpPr>
          <p:cNvPr id="17" name="Shape 13"/>
          <p:cNvSpPr/>
          <p:nvPr/>
        </p:nvSpPr>
        <p:spPr>
          <a:xfrm>
            <a:off x="5986120" y="2830068"/>
            <a:ext cx="219456" cy="237744"/>
          </a:xfrm>
          <a:prstGeom prst="rightArrow">
            <a:avLst/>
          </a:prstGeom>
          <a:solidFill>
            <a:srgbClr val="41C5C5"/>
          </a:solidFill>
          <a:ln/>
        </p:spPr>
      </p:sp>
      <p:sp>
        <p:nvSpPr>
          <p:cNvPr id="18" name="Step Animation"/>
          <p:cNvSpPr/>
          <p:nvPr/>
        </p:nvSpPr>
        <p:spPr>
          <a:xfrm>
            <a:off x="6260440" y="1691640"/>
            <a:ext cx="2526716" cy="2514600"/>
          </a:xfrm>
          <a:prstGeom prst="roundRect">
            <a:avLst>
              <a:gd name="adj" fmla="val 5818"/>
            </a:avLst>
          </a:prstGeom>
          <a:solidFill>
            <a:srgbClr val="F2F5F8"/>
          </a:solidFill>
          <a:ln w="9525">
            <a:solidFill>
              <a:srgbClr val="E2E8F0"/>
            </a:solidFill>
            <a:prstDash val="solid"/>
          </a:ln>
        </p:spPr>
      </p:sp>
      <p:sp>
        <p:nvSpPr>
          <p:cNvPr id="19" name="Shape 15"/>
          <p:cNvSpPr/>
          <p:nvPr/>
        </p:nvSpPr>
        <p:spPr>
          <a:xfrm>
            <a:off x="6461608" y="1892808"/>
            <a:ext cx="475488" cy="475488"/>
          </a:xfrm>
          <a:prstGeom prst="roundRect">
            <a:avLst>
              <a:gd name="adj" fmla="val 23077"/>
            </a:avLst>
          </a:prstGeom>
          <a:solidFill>
            <a:srgbClr val="E2F3F1"/>
          </a:solidFill>
          <a:ln/>
        </p:spPr>
      </p:sp>
      <p:pic>
        <p:nvPicPr>
          <p:cNvPr id="20" name="Image 2" descr="preencoded.png">    </p:cNvPr>
          <p:cNvPicPr>
            <a:picLocks noChangeAspect="1"/>
          </p:cNvPicPr>
          <p:nvPr/>
        </p:nvPicPr>
        <p:blipFill>
          <a:blip r:embed="rId3"/>
          <a:stretch>
            <a:fillRect/>
          </a:stretch>
        </p:blipFill>
        <p:spPr>
          <a:xfrm>
            <a:off x="6566215" y="1997415"/>
            <a:ext cx="266273" cy="266273"/>
          </a:xfrm>
          <a:prstGeom prst="rect">
            <a:avLst/>
          </a:prstGeom>
        </p:spPr>
      </p:pic>
      <p:sp>
        <p:nvSpPr>
          <p:cNvPr id="21" name="Text 16"/>
          <p:cNvSpPr txBox="1"/>
          <p:nvPr/>
        </p:nvSpPr>
        <p:spPr>
          <a:xfrm>
            <a:off x="8284235"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3</a:t>
            </a:r>
            <a:endParaRPr lang="en-US" sz="1400" dirty="0"/>
          </a:p>
        </p:txBody>
      </p:sp>
      <p:sp>
        <p:nvSpPr>
          <p:cNvPr id="22" name="Text 17"/>
          <p:cNvSpPr txBox="1"/>
          <p:nvPr/>
        </p:nvSpPr>
        <p:spPr>
          <a:xfrm>
            <a:off x="6461608" y="2514600"/>
            <a:ext cx="212438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Animation</a:t>
            </a:r>
            <a:endParaRPr lang="en-US" sz="1600" dirty="0"/>
          </a:p>
        </p:txBody>
      </p:sp>
      <p:sp>
        <p:nvSpPr>
          <p:cNvPr id="23" name="Text 18"/>
          <p:cNvSpPr txBox="1"/>
          <p:nvPr/>
        </p:nvSpPr>
        <p:spPr>
          <a:xfrm>
            <a:off x="6461608" y="2907792"/>
            <a:ext cx="216095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8–12 second loop of the change</a:t>
            </a:r>
            <a:endParaRPr lang="en-US" sz="1400" dirty="0"/>
          </a:p>
        </p:txBody>
      </p:sp>
      <p:sp>
        <p:nvSpPr>
          <p:cNvPr id="24" name="Shape 19"/>
          <p:cNvSpPr/>
          <p:nvPr/>
        </p:nvSpPr>
        <p:spPr>
          <a:xfrm>
            <a:off x="8842019" y="2830068"/>
            <a:ext cx="219456" cy="237744"/>
          </a:xfrm>
          <a:prstGeom prst="rightArrow">
            <a:avLst/>
          </a:prstGeom>
          <a:solidFill>
            <a:srgbClr val="41C5C5"/>
          </a:solidFill>
          <a:ln/>
        </p:spPr>
      </p:sp>
      <p:sp>
        <p:nvSpPr>
          <p:cNvPr id="25" name="Step Check"/>
          <p:cNvSpPr/>
          <p:nvPr/>
        </p:nvSpPr>
        <p:spPr>
          <a:xfrm>
            <a:off x="9116339" y="1691640"/>
            <a:ext cx="2526716" cy="2514600"/>
          </a:xfrm>
          <a:prstGeom prst="roundRect">
            <a:avLst>
              <a:gd name="adj" fmla="val 5818"/>
            </a:avLst>
          </a:prstGeom>
          <a:solidFill>
            <a:srgbClr val="F2F5F8"/>
          </a:solidFill>
          <a:ln w="9525">
            <a:solidFill>
              <a:srgbClr val="E2E8F0"/>
            </a:solidFill>
            <a:prstDash val="solid"/>
          </a:ln>
        </p:spPr>
      </p:sp>
      <p:sp>
        <p:nvSpPr>
          <p:cNvPr id="26" name="Shape 21"/>
          <p:cNvSpPr/>
          <p:nvPr/>
        </p:nvSpPr>
        <p:spPr>
          <a:xfrm>
            <a:off x="9317507" y="1892808"/>
            <a:ext cx="475488" cy="475488"/>
          </a:xfrm>
          <a:prstGeom prst="roundRect">
            <a:avLst>
              <a:gd name="adj" fmla="val 23077"/>
            </a:avLst>
          </a:prstGeom>
          <a:solidFill>
            <a:srgbClr val="E2F3F1"/>
          </a:solidFill>
          <a:ln/>
        </p:spPr>
      </p:sp>
      <p:pic>
        <p:nvPicPr>
          <p:cNvPr id="27" name="Image 3" descr="preencoded.png">    </p:cNvPr>
          <p:cNvPicPr>
            <a:picLocks noChangeAspect="1"/>
          </p:cNvPicPr>
          <p:nvPr/>
        </p:nvPicPr>
        <p:blipFill>
          <a:blip r:embed="rId4"/>
          <a:stretch>
            <a:fillRect/>
          </a:stretch>
        </p:blipFill>
        <p:spPr>
          <a:xfrm>
            <a:off x="9422115" y="1997415"/>
            <a:ext cx="266273" cy="266273"/>
          </a:xfrm>
          <a:prstGeom prst="rect">
            <a:avLst/>
          </a:prstGeom>
        </p:spPr>
      </p:pic>
      <p:sp>
        <p:nvSpPr>
          <p:cNvPr id="28" name="Text 22"/>
          <p:cNvSpPr txBox="1"/>
          <p:nvPr/>
        </p:nvSpPr>
        <p:spPr>
          <a:xfrm>
            <a:off x="11140135"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4</a:t>
            </a:r>
            <a:endParaRPr lang="en-US" sz="1400" dirty="0"/>
          </a:p>
        </p:txBody>
      </p:sp>
      <p:sp>
        <p:nvSpPr>
          <p:cNvPr id="29" name="Text 23"/>
          <p:cNvSpPr txBox="1"/>
          <p:nvPr/>
        </p:nvSpPr>
        <p:spPr>
          <a:xfrm>
            <a:off x="9317507" y="2514600"/>
            <a:ext cx="212438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Check</a:t>
            </a:r>
            <a:endParaRPr lang="en-US" sz="1600" dirty="0"/>
          </a:p>
        </p:txBody>
      </p:sp>
      <p:sp>
        <p:nvSpPr>
          <p:cNvPr id="30" name="Text 24"/>
          <p:cNvSpPr txBox="1"/>
          <p:nvPr/>
        </p:nvSpPr>
        <p:spPr>
          <a:xfrm>
            <a:off x="9317507" y="2907792"/>
            <a:ext cx="216095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A coach and BrainsFirst approve</a:t>
            </a:r>
            <a:endParaRPr lang="en-US" sz="1400" dirty="0"/>
          </a:p>
        </p:txBody>
      </p:sp>
      <p:sp>
        <p:nvSpPr>
          <p:cNvPr id="31" name="Shape 25"/>
          <p:cNvSpPr/>
          <p:nvPr/>
        </p:nvSpPr>
        <p:spPr>
          <a:xfrm>
            <a:off x="548640" y="4526280"/>
            <a:ext cx="5432908" cy="1463040"/>
          </a:xfrm>
          <a:prstGeom prst="roundRect">
            <a:avLst>
              <a:gd name="adj" fmla="val 7500"/>
            </a:avLst>
          </a:prstGeom>
          <a:solidFill>
            <a:srgbClr val="F2F5F8"/>
          </a:solidFill>
          <a:ln/>
        </p:spPr>
      </p:sp>
      <p:sp>
        <p:nvSpPr>
          <p:cNvPr id="32" name="Text 26"/>
          <p:cNvSpPr txBox="1"/>
          <p:nvPr/>
        </p:nvSpPr>
        <p:spPr>
          <a:xfrm>
            <a:off x="822960" y="4709160"/>
            <a:ext cx="4884268"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Why a spec</a:t>
            </a:r>
            <a:endParaRPr lang="en-US" sz="1600" dirty="0"/>
          </a:p>
        </p:txBody>
      </p:sp>
      <p:sp>
        <p:nvSpPr>
          <p:cNvPr id="33" name="Text 27"/>
          <p:cNvSpPr txBox="1"/>
          <p:nvPr/>
        </p:nvSpPr>
        <p:spPr>
          <a:xfrm>
            <a:off x="822960" y="5120640"/>
            <a:ext cx="4884268" cy="7315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Same look on every card; nothing to unlearn.</a:t>
            </a:r>
            <a:endParaRPr lang="en-US" sz="1400" dirty="0"/>
          </a:p>
        </p:txBody>
      </p:sp>
      <p:sp>
        <p:nvSpPr>
          <p:cNvPr id="34" name="Shape 28"/>
          <p:cNvSpPr/>
          <p:nvPr/>
        </p:nvSpPr>
        <p:spPr>
          <a:xfrm>
            <a:off x="6210148" y="4526280"/>
            <a:ext cx="5432908" cy="1463040"/>
          </a:xfrm>
          <a:prstGeom prst="roundRect">
            <a:avLst>
              <a:gd name="adj" fmla="val 7500"/>
            </a:avLst>
          </a:prstGeom>
          <a:solidFill>
            <a:srgbClr val="F2F5F8"/>
          </a:solidFill>
          <a:ln/>
        </p:spPr>
      </p:sp>
      <p:sp>
        <p:nvSpPr>
          <p:cNvPr id="35" name="Text 29"/>
          <p:cNvSpPr txBox="1"/>
          <p:nvPr/>
        </p:nvSpPr>
        <p:spPr>
          <a:xfrm>
            <a:off x="6484468" y="4709160"/>
            <a:ext cx="4884268"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Still open</a:t>
            </a:r>
            <a:endParaRPr lang="en-US" sz="1600" dirty="0"/>
          </a:p>
        </p:txBody>
      </p:sp>
      <p:sp>
        <p:nvSpPr>
          <p:cNvPr id="36" name="Text 30"/>
          <p:cNvSpPr txBox="1"/>
          <p:nvPr/>
        </p:nvSpPr>
        <p:spPr>
          <a:xfrm>
            <a:off x="6484468" y="5120640"/>
            <a:ext cx="4884268" cy="7315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Video tool, account, budget and filming (question 4).</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PROTOTYPE AND TEST</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The coach's view, and how we test it</a:t>
            </a:r>
            <a:endParaRPr lang="en-US" sz="2600" dirty="0"/>
          </a:p>
        </p:txBody>
      </p:sp>
      <p:sp>
        <p:nvSpPr>
          <p:cNvPr id="4" name="Shape 2"/>
          <p:cNvSpPr/>
          <p:nvPr/>
        </p:nvSpPr>
        <p:spPr>
          <a:xfrm>
            <a:off x="548640" y="1691640"/>
            <a:ext cx="4937760" cy="4251960"/>
          </a:xfrm>
          <a:prstGeom prst="roundRect">
            <a:avLst>
              <a:gd name="adj" fmla="val 6022"/>
            </a:avLst>
          </a:prstGeom>
          <a:solidFill>
            <a:srgbClr val="263D57"/>
          </a:solidFill>
          <a:ln/>
        </p:spPr>
      </p:sp>
      <p:sp>
        <p:nvSpPr>
          <p:cNvPr id="5" name="Shape 3"/>
          <p:cNvSpPr/>
          <p:nvPr/>
        </p:nvSpPr>
        <p:spPr>
          <a:xfrm>
            <a:off x="749808" y="1892808"/>
            <a:ext cx="4535424" cy="3849624"/>
          </a:xfrm>
          <a:prstGeom prst="roundRect">
            <a:avLst>
              <a:gd name="adj" fmla="val 2375"/>
            </a:avLst>
          </a:prstGeom>
          <a:solidFill>
            <a:srgbClr val="FFFFFF"/>
          </a:solidFill>
          <a:ln w="9525">
            <a:solidFill>
              <a:srgbClr val="FFFFFF"/>
            </a:solidFill>
            <a:prstDash val="solid"/>
          </a:ln>
        </p:spPr>
      </p:sp>
      <p:sp>
        <p:nvSpPr>
          <p:cNvPr id="6" name="Text 4"/>
          <p:cNvSpPr txBox="1"/>
          <p:nvPr/>
        </p:nvSpPr>
        <p:spPr>
          <a:xfrm>
            <a:off x="978408" y="2075688"/>
            <a:ext cx="4078224" cy="320040"/>
          </a:xfrm>
          <a:prstGeom prst="rect">
            <a:avLst/>
          </a:prstGeom>
          <a:noFill/>
          <a:ln/>
        </p:spPr>
        <p:txBody>
          <a:bodyPr wrap="square" lIns="0" tIns="0" rIns="0" bIns="0" rtlCol="0" anchor="t"/>
          <a:lstStyle/>
          <a:p>
            <a:pPr indent="0" marL="0">
              <a:buNone/>
            </a:pPr>
            <a:r>
              <a:rPr lang="en-US" sz="1500" b="1" dirty="0">
                <a:solidFill>
                  <a:srgbClr val="263D57"/>
                </a:solidFill>
                <a:latin typeface="Poppins SemiBold" pitchFamily="34" charset="0"/>
                <a:ea typeface="Poppins SemiBold" pitchFamily="34" charset="-122"/>
                <a:cs typeface="Poppins SemiBold" pitchFamily="34" charset="-120"/>
              </a:rPr>
              <a:t>U14 · Tuesday 18:30</a:t>
            </a:r>
            <a:endParaRPr lang="en-US" sz="1500" dirty="0"/>
          </a:p>
        </p:txBody>
      </p:sp>
      <p:sp>
        <p:nvSpPr>
          <p:cNvPr id="7" name="Text 5"/>
          <p:cNvSpPr txBox="1"/>
          <p:nvPr/>
        </p:nvSpPr>
        <p:spPr>
          <a:xfrm>
            <a:off x="978408" y="2395728"/>
            <a:ext cx="4078224" cy="228600"/>
          </a:xfrm>
          <a:prstGeom prst="rect">
            <a:avLst/>
          </a:prstGeom>
          <a:noFill/>
          <a:ln/>
        </p:spPr>
        <p:txBody>
          <a:bodyPr wrap="square" lIns="0" tIns="0" rIns="0" bIns="0" rtlCol="0" anchor="t"/>
          <a:lstStyle/>
          <a:p>
            <a:pPr indent="0" marL="0">
              <a:buNone/>
            </a:pPr>
            <a:r>
              <a:rPr lang="en-US" sz="1200" dirty="0">
                <a:solidFill>
                  <a:srgbClr val="8A94A3"/>
                </a:solidFill>
                <a:latin typeface="Inter" pitchFamily="34" charset="0"/>
                <a:ea typeface="Inter" pitchFamily="34" charset="-122"/>
                <a:cs typeface="Inter" pitchFamily="34" charset="-120"/>
              </a:rPr>
              <a:t>No names or scores on the pitch</a:t>
            </a:r>
            <a:endParaRPr lang="en-US" sz="1200" dirty="0"/>
          </a:p>
        </p:txBody>
      </p:sp>
      <p:sp>
        <p:nvSpPr>
          <p:cNvPr id="8" name="Text 6"/>
          <p:cNvSpPr txBox="1"/>
          <p:nvPr/>
        </p:nvSpPr>
        <p:spPr>
          <a:xfrm>
            <a:off x="978408" y="2734056"/>
            <a:ext cx="1298448" cy="292608"/>
          </a:xfrm>
          <a:prstGeom prst="roundRect">
            <a:avLst>
              <a:gd name="adj" fmla="val 50000"/>
            </a:avLst>
          </a:prstGeom>
          <a:solidFill>
            <a:srgbClr val="E2F3F1"/>
          </a:solidFill>
          <a:ln/>
        </p:spPr>
        <p:txBody>
          <a:bodyPr wrap="square" lIns="0" tIns="0" rIns="0" bIns="0" rtlCol="0" anchor="ctr"/>
          <a:lstStyle/>
          <a:p>
            <a:pPr algn="ctr" indent="0" marL="0">
              <a:buNone/>
            </a:pPr>
            <a:r>
              <a:rPr lang="en-US" sz="1200" b="1" dirty="0">
                <a:solidFill>
                  <a:srgbClr val="007D8C"/>
                </a:solidFill>
                <a:latin typeface="Inter" pitchFamily="34" charset="0"/>
                <a:ea typeface="Inter" pitchFamily="34" charset="-122"/>
                <a:cs typeface="Inter" pitchFamily="34" charset="-120"/>
              </a:rPr>
              <a:t>3 players</a:t>
            </a:r>
            <a:endParaRPr lang="en-US" sz="1200" dirty="0"/>
          </a:p>
        </p:txBody>
      </p:sp>
      <p:sp>
        <p:nvSpPr>
          <p:cNvPr id="9" name="Text 7"/>
          <p:cNvSpPr txBox="1"/>
          <p:nvPr/>
        </p:nvSpPr>
        <p:spPr>
          <a:xfrm>
            <a:off x="2368296" y="2734056"/>
            <a:ext cx="1298448" cy="292608"/>
          </a:xfrm>
          <a:prstGeom prst="roundRect">
            <a:avLst>
              <a:gd name="adj" fmla="val 50000"/>
            </a:avLst>
          </a:prstGeom>
          <a:solidFill>
            <a:srgbClr val="E2F3F1"/>
          </a:solidFill>
          <a:ln/>
        </p:spPr>
        <p:txBody>
          <a:bodyPr wrap="square" lIns="0" tIns="0" rIns="0" bIns="0" rtlCol="0" anchor="ctr"/>
          <a:lstStyle/>
          <a:p>
            <a:pPr algn="ctr" indent="0" marL="0">
              <a:buNone/>
            </a:pPr>
            <a:r>
              <a:rPr lang="en-US" sz="1200" b="1" dirty="0">
                <a:solidFill>
                  <a:srgbClr val="007D8C"/>
                </a:solidFill>
                <a:latin typeface="Inter" pitchFamily="34" charset="0"/>
                <a:ea typeface="Inter" pitchFamily="34" charset="-122"/>
                <a:cs typeface="Inter" pitchFamily="34" charset="-120"/>
              </a:rPr>
              <a:t>Pressure</a:t>
            </a:r>
            <a:endParaRPr lang="en-US" sz="1200" dirty="0"/>
          </a:p>
        </p:txBody>
      </p:sp>
      <p:sp>
        <p:nvSpPr>
          <p:cNvPr id="10" name="Text 8"/>
          <p:cNvSpPr txBox="1"/>
          <p:nvPr/>
        </p:nvSpPr>
        <p:spPr>
          <a:xfrm>
            <a:off x="3758184" y="2734056"/>
            <a:ext cx="1298448" cy="292608"/>
          </a:xfrm>
          <a:prstGeom prst="roundRect">
            <a:avLst>
              <a:gd name="adj" fmla="val 50000"/>
            </a:avLst>
          </a:prstGeom>
          <a:solidFill>
            <a:srgbClr val="E2F3F1"/>
          </a:solidFill>
          <a:ln/>
        </p:spPr>
        <p:txBody>
          <a:bodyPr wrap="square" lIns="0" tIns="0" rIns="0" bIns="0" rtlCol="0" anchor="ctr"/>
          <a:lstStyle/>
          <a:p>
            <a:pPr algn="ctr" indent="0" marL="0">
              <a:buNone/>
            </a:pPr>
            <a:r>
              <a:rPr lang="en-US" sz="1200" b="1" dirty="0">
                <a:solidFill>
                  <a:srgbClr val="007D8C"/>
                </a:solidFill>
                <a:latin typeface="Inter" pitchFamily="34" charset="0"/>
                <a:ea typeface="Inter" pitchFamily="34" charset="-122"/>
                <a:cs typeface="Inter" pitchFamily="34" charset="-120"/>
              </a:rPr>
              <a:t>Level 2</a:t>
            </a:r>
            <a:endParaRPr lang="en-US" sz="1200" dirty="0"/>
          </a:p>
        </p:txBody>
      </p:sp>
      <p:sp>
        <p:nvSpPr>
          <p:cNvPr id="11" name="Shape 9"/>
          <p:cNvSpPr/>
          <p:nvPr/>
        </p:nvSpPr>
        <p:spPr>
          <a:xfrm>
            <a:off x="978408" y="3191256"/>
            <a:ext cx="4078224" cy="512064"/>
          </a:xfrm>
          <a:prstGeom prst="roundRect">
            <a:avLst>
              <a:gd name="adj" fmla="val 14286"/>
            </a:avLst>
          </a:prstGeom>
          <a:solidFill>
            <a:srgbClr val="F2F5F8"/>
          </a:solidFill>
          <a:ln w="9525">
            <a:solidFill>
              <a:srgbClr val="E2E8F0"/>
            </a:solidFill>
            <a:prstDash val="solid"/>
          </a:ln>
        </p:spPr>
      </p:sp>
      <p:sp>
        <p:nvSpPr>
          <p:cNvPr id="12" name="Shape 10"/>
          <p:cNvSpPr/>
          <p:nvPr/>
        </p:nvSpPr>
        <p:spPr>
          <a:xfrm>
            <a:off x="1097280" y="3310128"/>
            <a:ext cx="274320" cy="274320"/>
          </a:xfrm>
          <a:prstGeom prst="roundRect">
            <a:avLst>
              <a:gd name="adj" fmla="val 20000"/>
            </a:avLst>
          </a:prstGeom>
          <a:solidFill>
            <a:srgbClr val="41C5C5"/>
          </a:solidFill>
          <a:ln/>
        </p:spPr>
      </p:sp>
      <p:sp>
        <p:nvSpPr>
          <p:cNvPr id="13" name="Text 11"/>
          <p:cNvSpPr txBox="1"/>
          <p:nvPr/>
        </p:nvSpPr>
        <p:spPr>
          <a:xfrm>
            <a:off x="1527048" y="3191256"/>
            <a:ext cx="3346704" cy="512064"/>
          </a:xfrm>
          <a:prstGeom prst="rect">
            <a:avLst/>
          </a:prstGeom>
          <a:noFill/>
          <a:ln/>
        </p:spPr>
        <p:txBody>
          <a:bodyPr wrap="square" lIns="0" tIns="0" rIns="0" bIns="0" rtlCol="0" anchor="ctr"/>
          <a:lstStyle/>
          <a:p>
            <a:pPr indent="0" marL="0">
              <a:buNone/>
            </a:pPr>
            <a:r>
              <a:rPr lang="en-US" sz="1200" b="1" dirty="0">
                <a:solidFill>
                  <a:srgbClr val="263D57"/>
                </a:solidFill>
                <a:latin typeface="Inter" pitchFamily="34" charset="0"/>
                <a:ea typeface="Inter" pitchFamily="34" charset="-122"/>
                <a:cs typeface="Inter" pitchFamily="34" charset="-120"/>
              </a:rPr>
              <a:t>4v4+3 · call the number</a:t>
            </a:r>
            <a:endParaRPr lang="en-US" sz="1200" dirty="0"/>
          </a:p>
        </p:txBody>
      </p:sp>
      <p:sp>
        <p:nvSpPr>
          <p:cNvPr id="14" name="Shape 12"/>
          <p:cNvSpPr/>
          <p:nvPr/>
        </p:nvSpPr>
        <p:spPr>
          <a:xfrm>
            <a:off x="978408" y="3794760"/>
            <a:ext cx="4078224" cy="512064"/>
          </a:xfrm>
          <a:prstGeom prst="roundRect">
            <a:avLst>
              <a:gd name="adj" fmla="val 14286"/>
            </a:avLst>
          </a:prstGeom>
          <a:solidFill>
            <a:srgbClr val="F2F5F8"/>
          </a:solidFill>
          <a:ln w="9525">
            <a:solidFill>
              <a:srgbClr val="E2E8F0"/>
            </a:solidFill>
            <a:prstDash val="solid"/>
          </a:ln>
        </p:spPr>
      </p:sp>
      <p:sp>
        <p:nvSpPr>
          <p:cNvPr id="15" name="Shape 13"/>
          <p:cNvSpPr/>
          <p:nvPr/>
        </p:nvSpPr>
        <p:spPr>
          <a:xfrm>
            <a:off x="1097280" y="3913632"/>
            <a:ext cx="274320" cy="274320"/>
          </a:xfrm>
          <a:prstGeom prst="roundRect">
            <a:avLst>
              <a:gd name="adj" fmla="val 20000"/>
            </a:avLst>
          </a:prstGeom>
          <a:solidFill>
            <a:srgbClr val="EABF23"/>
          </a:solidFill>
          <a:ln/>
        </p:spPr>
      </p:sp>
      <p:sp>
        <p:nvSpPr>
          <p:cNvPr id="16" name="Text 14"/>
          <p:cNvSpPr txBox="1"/>
          <p:nvPr/>
        </p:nvSpPr>
        <p:spPr>
          <a:xfrm>
            <a:off x="1527048" y="3794760"/>
            <a:ext cx="3346704" cy="512064"/>
          </a:xfrm>
          <a:prstGeom prst="rect">
            <a:avLst/>
          </a:prstGeom>
          <a:noFill/>
          <a:ln/>
        </p:spPr>
        <p:txBody>
          <a:bodyPr wrap="square" lIns="0" tIns="0" rIns="0" bIns="0" rtlCol="0" anchor="ctr"/>
          <a:lstStyle/>
          <a:p>
            <a:pPr indent="0" marL="0">
              <a:buNone/>
            </a:pPr>
            <a:r>
              <a:rPr lang="en-US" sz="1200" b="1" dirty="0">
                <a:solidFill>
                  <a:srgbClr val="263D57"/>
                </a:solidFill>
                <a:latin typeface="Inter" pitchFamily="34" charset="0"/>
                <a:ea typeface="Inter" pitchFamily="34" charset="-122"/>
                <a:cs typeface="Inter" pitchFamily="34" charset="-120"/>
              </a:rPr>
              <a:t>Pressing · one trigger</a:t>
            </a:r>
            <a:endParaRPr lang="en-US" sz="1200" dirty="0"/>
          </a:p>
        </p:txBody>
      </p:sp>
      <p:sp>
        <p:nvSpPr>
          <p:cNvPr id="17" name="Shape 15"/>
          <p:cNvSpPr/>
          <p:nvPr/>
        </p:nvSpPr>
        <p:spPr>
          <a:xfrm>
            <a:off x="978408" y="4398264"/>
            <a:ext cx="4078224" cy="512064"/>
          </a:xfrm>
          <a:prstGeom prst="roundRect">
            <a:avLst>
              <a:gd name="adj" fmla="val 14286"/>
            </a:avLst>
          </a:prstGeom>
          <a:solidFill>
            <a:srgbClr val="F2F5F8"/>
          </a:solidFill>
          <a:ln w="9525">
            <a:solidFill>
              <a:srgbClr val="E2E8F0"/>
            </a:solidFill>
            <a:prstDash val="solid"/>
          </a:ln>
        </p:spPr>
      </p:sp>
      <p:sp>
        <p:nvSpPr>
          <p:cNvPr id="18" name="Shape 16"/>
          <p:cNvSpPr/>
          <p:nvPr/>
        </p:nvSpPr>
        <p:spPr>
          <a:xfrm>
            <a:off x="1097280" y="4517136"/>
            <a:ext cx="274320" cy="274320"/>
          </a:xfrm>
          <a:prstGeom prst="roundRect">
            <a:avLst>
              <a:gd name="adj" fmla="val 20000"/>
            </a:avLst>
          </a:prstGeom>
          <a:solidFill>
            <a:srgbClr val="263D57"/>
          </a:solidFill>
          <a:ln/>
        </p:spPr>
      </p:sp>
      <p:sp>
        <p:nvSpPr>
          <p:cNvPr id="19" name="Text 17"/>
          <p:cNvSpPr txBox="1"/>
          <p:nvPr/>
        </p:nvSpPr>
        <p:spPr>
          <a:xfrm>
            <a:off x="1527048" y="4398264"/>
            <a:ext cx="3346704" cy="512064"/>
          </a:xfrm>
          <a:prstGeom prst="rect">
            <a:avLst/>
          </a:prstGeom>
          <a:noFill/>
          <a:ln/>
        </p:spPr>
        <p:txBody>
          <a:bodyPr wrap="square" lIns="0" tIns="0" rIns="0" bIns="0" rtlCol="0" anchor="ctr"/>
          <a:lstStyle/>
          <a:p>
            <a:pPr indent="0" marL="0">
              <a:buNone/>
            </a:pPr>
            <a:r>
              <a:rPr lang="en-US" sz="1200" b="1" dirty="0">
                <a:solidFill>
                  <a:srgbClr val="263D57"/>
                </a:solidFill>
                <a:latin typeface="Inter" pitchFamily="34" charset="0"/>
                <a:ea typeface="Inter" pitchFamily="34" charset="-122"/>
                <a:cs typeface="Inter" pitchFamily="34" charset="-120"/>
              </a:rPr>
              <a:t>Rondo · no return pass</a:t>
            </a:r>
            <a:endParaRPr lang="en-US" sz="1200" dirty="0"/>
          </a:p>
        </p:txBody>
      </p:sp>
      <p:sp>
        <p:nvSpPr>
          <p:cNvPr id="20" name="Text 18"/>
          <p:cNvSpPr txBox="1"/>
          <p:nvPr/>
        </p:nvSpPr>
        <p:spPr>
          <a:xfrm>
            <a:off x="3502152" y="5175504"/>
            <a:ext cx="1554480" cy="384048"/>
          </a:xfrm>
          <a:prstGeom prst="roundRect">
            <a:avLst>
              <a:gd name="adj" fmla="val 50000"/>
            </a:avLst>
          </a:prstGeom>
          <a:solidFill>
            <a:srgbClr val="41C5C5"/>
          </a:solidFill>
          <a:ln/>
        </p:spPr>
        <p:txBody>
          <a:bodyPr wrap="square" lIns="0" tIns="0" rIns="0" bIns="0" rtlCol="0" anchor="ctr"/>
          <a:lstStyle/>
          <a:p>
            <a:pPr algn="ctr" indent="0" marL="0">
              <a:buNone/>
            </a:pPr>
            <a:r>
              <a:rPr lang="en-US" sz="1200" b="1" dirty="0">
                <a:solidFill>
                  <a:srgbClr val="263D57"/>
                </a:solidFill>
                <a:latin typeface="Inter" pitchFamily="34" charset="0"/>
                <a:ea typeface="Inter" pitchFamily="34" charset="-122"/>
                <a:cs typeface="Inter" pitchFamily="34" charset="-120"/>
              </a:rPr>
              <a:t>Use tonight</a:t>
            </a:r>
            <a:endParaRPr lang="en-US" sz="1200" dirty="0"/>
          </a:p>
        </p:txBody>
      </p:sp>
      <p:sp>
        <p:nvSpPr>
          <p:cNvPr id="21" name="Text 19"/>
          <p:cNvSpPr txBox="1"/>
          <p:nvPr/>
        </p:nvSpPr>
        <p:spPr>
          <a:xfrm>
            <a:off x="5989320" y="1691640"/>
            <a:ext cx="5653735" cy="365760"/>
          </a:xfrm>
          <a:prstGeom prst="rect">
            <a:avLst/>
          </a:prstGeom>
          <a:noFill/>
          <a:ln/>
        </p:spPr>
        <p:txBody>
          <a:bodyPr wrap="square" lIns="0" tIns="0" rIns="0" bIns="0" rtlCol="0" anchor="t"/>
          <a:lstStyle/>
          <a:p>
            <a:pPr indent="0" marL="0">
              <a:buNone/>
            </a:pPr>
            <a:r>
              <a:rPr lang="en-US" sz="1800" dirty="0">
                <a:solidFill>
                  <a:srgbClr val="263D57"/>
                </a:solidFill>
                <a:latin typeface="Poppins SemiBold" pitchFamily="34" charset="0"/>
                <a:ea typeface="Poppins SemiBold" pitchFamily="34" charset="-122"/>
                <a:cs typeface="Poppins SemiBold" pitchFamily="34" charset="-120"/>
              </a:rPr>
              <a:t>Coach test, weeks 2 and 3</a:t>
            </a:r>
            <a:endParaRPr lang="en-US" sz="1800" dirty="0"/>
          </a:p>
        </p:txBody>
      </p:sp>
      <p:sp>
        <p:nvSpPr>
          <p:cNvPr id="22" name="Shape 20"/>
          <p:cNvSpPr/>
          <p:nvPr/>
        </p:nvSpPr>
        <p:spPr>
          <a:xfrm>
            <a:off x="5989320" y="2212848"/>
            <a:ext cx="420624" cy="420624"/>
          </a:xfrm>
          <a:prstGeom prst="roundRect">
            <a:avLst>
              <a:gd name="adj" fmla="val 25000"/>
            </a:avLst>
          </a:prstGeom>
          <a:solidFill>
            <a:srgbClr val="E2F3F1"/>
          </a:solidFill>
          <a:ln/>
        </p:spPr>
      </p:sp>
      <p:pic>
        <p:nvPicPr>
          <p:cNvPr id="23" name="Image 0" descr="preencoded.png">    </p:cNvPr>
          <p:cNvPicPr>
            <a:picLocks noChangeAspect="1"/>
          </p:cNvPicPr>
          <p:nvPr/>
        </p:nvPicPr>
        <p:blipFill>
          <a:blip r:embed="rId1"/>
          <a:stretch>
            <a:fillRect/>
          </a:stretch>
        </p:blipFill>
        <p:spPr>
          <a:xfrm>
            <a:off x="6081857" y="2305385"/>
            <a:ext cx="235549" cy="235549"/>
          </a:xfrm>
          <a:prstGeom prst="rect">
            <a:avLst/>
          </a:prstGeom>
        </p:spPr>
      </p:pic>
      <p:sp>
        <p:nvSpPr>
          <p:cNvPr id="24" name="Text 21"/>
          <p:cNvSpPr txBox="1"/>
          <p:nvPr/>
        </p:nvSpPr>
        <p:spPr>
          <a:xfrm>
            <a:off x="6583680" y="2194560"/>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5+ coaches; we recruit 2 ourselves</a:t>
            </a:r>
            <a:endParaRPr lang="en-US" sz="1500" dirty="0"/>
          </a:p>
        </p:txBody>
      </p:sp>
      <p:sp>
        <p:nvSpPr>
          <p:cNvPr id="25" name="Shape 22"/>
          <p:cNvSpPr/>
          <p:nvPr/>
        </p:nvSpPr>
        <p:spPr>
          <a:xfrm>
            <a:off x="5989320" y="2834640"/>
            <a:ext cx="420624" cy="420624"/>
          </a:xfrm>
          <a:prstGeom prst="roundRect">
            <a:avLst>
              <a:gd name="adj" fmla="val 25000"/>
            </a:avLst>
          </a:prstGeom>
          <a:solidFill>
            <a:srgbClr val="E2F3F1"/>
          </a:solidFill>
          <a:ln/>
        </p:spPr>
      </p:sp>
      <p:pic>
        <p:nvPicPr>
          <p:cNvPr id="26" name="Image 1" descr="preencoded.png">    </p:cNvPr>
          <p:cNvPicPr>
            <a:picLocks noChangeAspect="1"/>
          </p:cNvPicPr>
          <p:nvPr/>
        </p:nvPicPr>
        <p:blipFill>
          <a:blip r:embed="rId2"/>
          <a:stretch>
            <a:fillRect/>
          </a:stretch>
        </p:blipFill>
        <p:spPr>
          <a:xfrm>
            <a:off x="6081857" y="2927177"/>
            <a:ext cx="235549" cy="235549"/>
          </a:xfrm>
          <a:prstGeom prst="rect">
            <a:avLst/>
          </a:prstGeom>
        </p:spPr>
      </p:pic>
      <p:sp>
        <p:nvSpPr>
          <p:cNvPr id="27" name="Text 23"/>
          <p:cNvSpPr txBox="1"/>
          <p:nvPr/>
        </p:nvSpPr>
        <p:spPr>
          <a:xfrm>
            <a:off x="6583680" y="2816352"/>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Blind: 6 clips, 3 of flagged players</a:t>
            </a:r>
            <a:endParaRPr lang="en-US" sz="1500" dirty="0"/>
          </a:p>
        </p:txBody>
      </p:sp>
      <p:sp>
        <p:nvSpPr>
          <p:cNvPr id="28" name="Shape 24"/>
          <p:cNvSpPr/>
          <p:nvPr/>
        </p:nvSpPr>
        <p:spPr>
          <a:xfrm>
            <a:off x="5989320" y="3456432"/>
            <a:ext cx="420624" cy="420624"/>
          </a:xfrm>
          <a:prstGeom prst="roundRect">
            <a:avLst>
              <a:gd name="adj" fmla="val 25000"/>
            </a:avLst>
          </a:prstGeom>
          <a:solidFill>
            <a:srgbClr val="E2F3F1"/>
          </a:solidFill>
          <a:ln/>
        </p:spPr>
      </p:sp>
      <p:pic>
        <p:nvPicPr>
          <p:cNvPr id="29" name="Image 2" descr="preencoded.png">    </p:cNvPr>
          <p:cNvPicPr>
            <a:picLocks noChangeAspect="1"/>
          </p:cNvPicPr>
          <p:nvPr/>
        </p:nvPicPr>
        <p:blipFill>
          <a:blip r:embed="rId3"/>
          <a:stretch>
            <a:fillRect/>
          </a:stretch>
        </p:blipFill>
        <p:spPr>
          <a:xfrm>
            <a:off x="6081857" y="3548969"/>
            <a:ext cx="235549" cy="235549"/>
          </a:xfrm>
          <a:prstGeom prst="rect">
            <a:avLst/>
          </a:prstGeom>
        </p:spPr>
      </p:pic>
      <p:sp>
        <p:nvSpPr>
          <p:cNvPr id="30" name="Text 25"/>
          <p:cNvSpPr txBox="1"/>
          <p:nvPr/>
        </p:nvSpPr>
        <p:spPr>
          <a:xfrm>
            <a:off x="6583680" y="3438144"/>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Rate first: is the behaviour seen more often?</a:t>
            </a:r>
            <a:endParaRPr lang="en-US" sz="1500" dirty="0"/>
          </a:p>
        </p:txBody>
      </p:sp>
      <p:sp>
        <p:nvSpPr>
          <p:cNvPr id="31" name="Shape 26"/>
          <p:cNvSpPr/>
          <p:nvPr/>
        </p:nvSpPr>
        <p:spPr>
          <a:xfrm>
            <a:off x="5989320" y="4078224"/>
            <a:ext cx="420624" cy="420624"/>
          </a:xfrm>
          <a:prstGeom prst="roundRect">
            <a:avLst>
              <a:gd name="adj" fmla="val 25000"/>
            </a:avLst>
          </a:prstGeom>
          <a:solidFill>
            <a:srgbClr val="E2F3F1"/>
          </a:solidFill>
          <a:ln/>
        </p:spPr>
      </p:sp>
      <p:pic>
        <p:nvPicPr>
          <p:cNvPr id="32" name="Image 3" descr="preencoded.png">    </p:cNvPr>
          <p:cNvPicPr>
            <a:picLocks noChangeAspect="1"/>
          </p:cNvPicPr>
          <p:nvPr/>
        </p:nvPicPr>
        <p:blipFill>
          <a:blip r:embed="rId4"/>
          <a:stretch>
            <a:fillRect/>
          </a:stretch>
        </p:blipFill>
        <p:spPr>
          <a:xfrm>
            <a:off x="6081857" y="4170761"/>
            <a:ext cx="235549" cy="235549"/>
          </a:xfrm>
          <a:prstGeom prst="rect">
            <a:avLst/>
          </a:prstGeom>
        </p:spPr>
      </p:pic>
      <p:sp>
        <p:nvSpPr>
          <p:cNvPr id="33" name="Text 27"/>
          <p:cNvSpPr txBox="1"/>
          <p:nvPr/>
        </p:nvSpPr>
        <p:spPr>
          <a:xfrm>
            <a:off x="6583680" y="4059936"/>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Pick a card in under 60 seconds?</a:t>
            </a:r>
            <a:endParaRPr lang="en-US" sz="1500" dirty="0"/>
          </a:p>
        </p:txBody>
      </p:sp>
      <p:sp>
        <p:nvSpPr>
          <p:cNvPr id="34" name="Shape 28"/>
          <p:cNvSpPr/>
          <p:nvPr/>
        </p:nvSpPr>
        <p:spPr>
          <a:xfrm>
            <a:off x="5989320" y="4700016"/>
            <a:ext cx="420624" cy="420624"/>
          </a:xfrm>
          <a:prstGeom prst="roundRect">
            <a:avLst>
              <a:gd name="adj" fmla="val 25000"/>
            </a:avLst>
          </a:prstGeom>
          <a:solidFill>
            <a:srgbClr val="E2F3F1"/>
          </a:solidFill>
          <a:ln/>
        </p:spPr>
      </p:sp>
      <p:pic>
        <p:nvPicPr>
          <p:cNvPr id="35" name="Image 4" descr="preencoded.png">    </p:cNvPr>
          <p:cNvPicPr>
            <a:picLocks noChangeAspect="1"/>
          </p:cNvPicPr>
          <p:nvPr/>
        </p:nvPicPr>
        <p:blipFill>
          <a:blip r:embed="rId5"/>
          <a:stretch>
            <a:fillRect/>
          </a:stretch>
        </p:blipFill>
        <p:spPr>
          <a:xfrm>
            <a:off x="6081857" y="4792553"/>
            <a:ext cx="235549" cy="235549"/>
          </a:xfrm>
          <a:prstGeom prst="rect">
            <a:avLst/>
          </a:prstGeom>
        </p:spPr>
      </p:pic>
      <p:sp>
        <p:nvSpPr>
          <p:cNvPr id="36" name="Text 29"/>
          <p:cNvSpPr txBox="1"/>
          <p:nvPr/>
        </p:nvSpPr>
        <p:spPr>
          <a:xfrm>
            <a:off x="6583680" y="4681728"/>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'I'll use this on Tuesday': yes or no</a:t>
            </a:r>
            <a:endParaRPr lang="en-US" sz="1500" dirty="0"/>
          </a:p>
        </p:txBody>
      </p:sp>
      <p:sp>
        <p:nvSpPr>
          <p:cNvPr id="37" name="Shape 30"/>
          <p:cNvSpPr/>
          <p:nvPr/>
        </p:nvSpPr>
        <p:spPr>
          <a:xfrm>
            <a:off x="5989320" y="5413248"/>
            <a:ext cx="5653735" cy="548640"/>
          </a:xfrm>
          <a:prstGeom prst="roundRect">
            <a:avLst>
              <a:gd name="adj" fmla="val 16667"/>
            </a:avLst>
          </a:prstGeom>
          <a:solidFill>
            <a:srgbClr val="E2F3F1"/>
          </a:solidFill>
          <a:ln w="19050">
            <a:solidFill>
              <a:srgbClr val="41C5C5"/>
            </a:solidFill>
            <a:prstDash val="solid"/>
          </a:ln>
        </p:spPr>
      </p:sp>
      <p:sp>
        <p:nvSpPr>
          <p:cNvPr id="38" name="Text 31"/>
          <p:cNvSpPr txBox="1"/>
          <p:nvPr/>
        </p:nvSpPr>
        <p:spPr>
          <a:xfrm>
            <a:off x="6217920" y="5413248"/>
            <a:ext cx="5196535" cy="548640"/>
          </a:xfrm>
          <a:prstGeom prst="rect">
            <a:avLst/>
          </a:prstGeom>
          <a:noFill/>
          <a:ln/>
        </p:spPr>
        <p:txBody>
          <a:bodyPr wrap="square" lIns="0" tIns="0" rIns="0" bIns="0" rtlCol="0" anchor="ctr"/>
          <a:lstStyle/>
          <a:p>
            <a:pPr indent="0" marL="0">
              <a:buNone/>
            </a:pPr>
            <a:r>
              <a:rPr lang="en-US" sz="1400" b="1" dirty="0">
                <a:solidFill>
                  <a:srgbClr val="263D57"/>
                </a:solidFill>
                <a:latin typeface="Inter" pitchFamily="34" charset="0"/>
                <a:ea typeface="Inter" pitchFamily="34" charset="-122"/>
                <a:cs typeface="Inter" pitchFamily="34" charset="-120"/>
              </a:rPr>
              <a:t>Tests use and whether flags point right, not match effect.</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QUESTIONS</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Six questions whose answers change our plan</a:t>
            </a:r>
            <a:endParaRPr lang="en-US" sz="2600" dirty="0"/>
          </a:p>
        </p:txBody>
      </p:sp>
      <p:sp>
        <p:nvSpPr>
          <p:cNvPr id="4" name="Text 2"/>
          <p:cNvSpPr txBox="1"/>
          <p:nvPr/>
        </p:nvSpPr>
        <p:spPr>
          <a:xfrm>
            <a:off x="6355080" y="1645920"/>
            <a:ext cx="2611984" cy="256032"/>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IF YES</a:t>
            </a:r>
            <a:endParaRPr lang="en-US" sz="1200" dirty="0"/>
          </a:p>
        </p:txBody>
      </p:sp>
      <p:sp>
        <p:nvSpPr>
          <p:cNvPr id="5" name="Text 3"/>
          <p:cNvSpPr txBox="1"/>
          <p:nvPr/>
        </p:nvSpPr>
        <p:spPr>
          <a:xfrm>
            <a:off x="9076792" y="1645920"/>
            <a:ext cx="2611984" cy="256032"/>
          </a:xfrm>
          <a:prstGeom prst="rect">
            <a:avLst/>
          </a:prstGeom>
          <a:noFill/>
          <a:ln/>
        </p:spPr>
        <p:txBody>
          <a:bodyPr wrap="square" lIns="0" tIns="0" rIns="0" bIns="0" rtlCol="0" anchor="t"/>
          <a:lstStyle/>
          <a:p>
            <a:pPr indent="0" marL="0">
              <a:buNone/>
            </a:pPr>
            <a:r>
              <a:rPr lang="en-US" sz="1200" b="1" spc="100" kern="0" dirty="0">
                <a:solidFill>
                  <a:srgbClr val="007D8C"/>
                </a:solidFill>
                <a:latin typeface="Inter" pitchFamily="34" charset="0"/>
                <a:ea typeface="Inter" pitchFamily="34" charset="-122"/>
                <a:cs typeface="Inter" pitchFamily="34" charset="-120"/>
              </a:rPr>
              <a:t>IF NO</a:t>
            </a:r>
            <a:endParaRPr lang="en-US" sz="1200" dirty="0"/>
          </a:p>
        </p:txBody>
      </p:sp>
      <p:sp>
        <p:nvSpPr>
          <p:cNvPr id="6" name="Question 1"/>
          <p:cNvSpPr/>
          <p:nvPr/>
        </p:nvSpPr>
        <p:spPr>
          <a:xfrm>
            <a:off x="548640" y="1956816"/>
            <a:ext cx="11094415" cy="637032"/>
          </a:xfrm>
          <a:prstGeom prst="roundRect">
            <a:avLst>
              <a:gd name="adj" fmla="val 22967"/>
            </a:avLst>
          </a:prstGeom>
          <a:solidFill>
            <a:srgbClr val="F2F5F8"/>
          </a:solidFill>
          <a:ln w="9525">
            <a:solidFill>
              <a:srgbClr val="E2E8F0"/>
            </a:solidFill>
            <a:prstDash val="solid"/>
          </a:ln>
        </p:spPr>
      </p:sp>
      <p:sp>
        <p:nvSpPr>
          <p:cNvPr id="7" name="Shape 5"/>
          <p:cNvSpPr/>
          <p:nvPr/>
        </p:nvSpPr>
        <p:spPr>
          <a:xfrm>
            <a:off x="731520" y="2083308"/>
            <a:ext cx="384048" cy="384048"/>
          </a:xfrm>
          <a:prstGeom prst="ellipse">
            <a:avLst/>
          </a:prstGeom>
          <a:solidFill>
            <a:srgbClr val="263D57"/>
          </a:solidFill>
          <a:ln/>
        </p:spPr>
      </p:sp>
      <p:sp>
        <p:nvSpPr>
          <p:cNvPr id="8" name="Text 6"/>
          <p:cNvSpPr txBox="1"/>
          <p:nvPr/>
        </p:nvSpPr>
        <p:spPr>
          <a:xfrm>
            <a:off x="731520" y="208330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1</a:t>
            </a:r>
            <a:endParaRPr lang="en-US" sz="1400" dirty="0"/>
          </a:p>
        </p:txBody>
      </p:sp>
      <p:sp>
        <p:nvSpPr>
          <p:cNvPr id="9" name="Text 7"/>
          <p:cNvSpPr txBox="1"/>
          <p:nvPr/>
        </p:nvSpPr>
        <p:spPr>
          <a:xfrm>
            <a:off x="1280160" y="1956816"/>
            <a:ext cx="4800600" cy="637032"/>
          </a:xfrm>
          <a:prstGeom prst="rect">
            <a:avLst/>
          </a:prstGeom>
          <a:noFill/>
          <a:ln/>
        </p:spPr>
        <p:txBody>
          <a:bodyPr wrap="square" lIns="0" tIns="0" rIns="0" bIns="0" rtlCol="0" anchor="ctr"/>
          <a:lstStyle/>
          <a:p>
            <a:pPr indent="0" marL="0">
              <a:buNone/>
            </a:pPr>
            <a:r>
              <a:rPr lang="en-US" sz="1600" b="1" dirty="0">
                <a:solidFill>
                  <a:srgbClr val="263D57"/>
                </a:solidFill>
                <a:latin typeface="Inter" pitchFamily="34" charset="0"/>
                <a:ea typeface="Inter" pitchFamily="34" charset="-122"/>
                <a:cs typeface="Inter" pitchFamily="34" charset="-120"/>
              </a:rPr>
              <a:t>Labels and profiles with clips by 30 Oct?</a:t>
            </a:r>
            <a:endParaRPr lang="en-US" sz="1600" dirty="0"/>
          </a:p>
        </p:txBody>
      </p:sp>
      <p:sp>
        <p:nvSpPr>
          <p:cNvPr id="10" name="Shape 8"/>
          <p:cNvSpPr/>
          <p:nvPr/>
        </p:nvSpPr>
        <p:spPr>
          <a:xfrm>
            <a:off x="6217920" y="2020824"/>
            <a:ext cx="2611984" cy="509016"/>
          </a:xfrm>
          <a:prstGeom prst="roundRect">
            <a:avLst>
              <a:gd name="adj" fmla="val 14371"/>
            </a:avLst>
          </a:prstGeom>
          <a:solidFill>
            <a:srgbClr val="E2F3F1"/>
          </a:solidFill>
          <a:ln w="9525">
            <a:solidFill>
              <a:srgbClr val="E2F3F1"/>
            </a:solidFill>
            <a:prstDash val="solid"/>
          </a:ln>
        </p:spPr>
      </p:sp>
      <p:sp>
        <p:nvSpPr>
          <p:cNvPr id="11" name="Text 9"/>
          <p:cNvSpPr txBox="1"/>
          <p:nvPr/>
        </p:nvSpPr>
        <p:spPr>
          <a:xfrm>
            <a:off x="6355080" y="2020824"/>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real flags</a:t>
            </a:r>
            <a:endParaRPr lang="en-US" sz="1500" dirty="0"/>
          </a:p>
        </p:txBody>
      </p:sp>
      <p:sp>
        <p:nvSpPr>
          <p:cNvPr id="12" name="Shape 10"/>
          <p:cNvSpPr/>
          <p:nvPr/>
        </p:nvSpPr>
        <p:spPr>
          <a:xfrm>
            <a:off x="8939632" y="2020824"/>
            <a:ext cx="2611984" cy="509016"/>
          </a:xfrm>
          <a:prstGeom prst="roundRect">
            <a:avLst>
              <a:gd name="adj" fmla="val 14371"/>
            </a:avLst>
          </a:prstGeom>
          <a:solidFill>
            <a:srgbClr val="FFFFFF"/>
          </a:solidFill>
          <a:ln w="9525">
            <a:solidFill>
              <a:srgbClr val="E2E8F0"/>
            </a:solidFill>
            <a:prstDash val="solid"/>
          </a:ln>
        </p:spPr>
      </p:sp>
      <p:sp>
        <p:nvSpPr>
          <p:cNvPr id="13" name="Text 11"/>
          <p:cNvSpPr txBox="1"/>
          <p:nvPr/>
        </p:nvSpPr>
        <p:spPr>
          <a:xfrm>
            <a:off x="9076792" y="2020824"/>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simulated profiles</a:t>
            </a:r>
            <a:endParaRPr lang="en-US" sz="1500" dirty="0"/>
          </a:p>
        </p:txBody>
      </p:sp>
      <p:sp>
        <p:nvSpPr>
          <p:cNvPr id="14" name="Question 2"/>
          <p:cNvSpPr/>
          <p:nvPr/>
        </p:nvSpPr>
        <p:spPr>
          <a:xfrm>
            <a:off x="548640" y="2667000"/>
            <a:ext cx="11094415" cy="637032"/>
          </a:xfrm>
          <a:prstGeom prst="roundRect">
            <a:avLst>
              <a:gd name="adj" fmla="val 22967"/>
            </a:avLst>
          </a:prstGeom>
          <a:solidFill>
            <a:srgbClr val="F2F5F8"/>
          </a:solidFill>
          <a:ln w="9525">
            <a:solidFill>
              <a:srgbClr val="E2E8F0"/>
            </a:solidFill>
            <a:prstDash val="solid"/>
          </a:ln>
        </p:spPr>
      </p:sp>
      <p:sp>
        <p:nvSpPr>
          <p:cNvPr id="15" name="Shape 13"/>
          <p:cNvSpPr/>
          <p:nvPr/>
        </p:nvSpPr>
        <p:spPr>
          <a:xfrm>
            <a:off x="731520" y="2793492"/>
            <a:ext cx="384048" cy="384048"/>
          </a:xfrm>
          <a:prstGeom prst="ellipse">
            <a:avLst/>
          </a:prstGeom>
          <a:solidFill>
            <a:srgbClr val="263D57"/>
          </a:solidFill>
          <a:ln/>
        </p:spPr>
      </p:sp>
      <p:sp>
        <p:nvSpPr>
          <p:cNvPr id="16" name="Text 14"/>
          <p:cNvSpPr txBox="1"/>
          <p:nvPr/>
        </p:nvSpPr>
        <p:spPr>
          <a:xfrm>
            <a:off x="731520" y="279349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2</a:t>
            </a:r>
            <a:endParaRPr lang="en-US" sz="1400" dirty="0"/>
          </a:p>
        </p:txBody>
      </p:sp>
      <p:sp>
        <p:nvSpPr>
          <p:cNvPr id="17" name="Text 15"/>
          <p:cNvSpPr txBox="1"/>
          <p:nvPr/>
        </p:nvSpPr>
        <p:spPr>
          <a:xfrm>
            <a:off x="1280160" y="2667000"/>
            <a:ext cx="4800600" cy="637032"/>
          </a:xfrm>
          <a:prstGeom prst="rect">
            <a:avLst/>
          </a:prstGeom>
          <a:noFill/>
          <a:ln/>
        </p:spPr>
        <p:txBody>
          <a:bodyPr wrap="square" lIns="0" tIns="0" rIns="0" bIns="0" rtlCol="0" anchor="ctr"/>
          <a:lstStyle/>
          <a:p>
            <a:pPr indent="0" marL="0">
              <a:buNone/>
            </a:pPr>
            <a:r>
              <a:rPr lang="en-US" sz="1600" b="1" dirty="0">
                <a:solidFill>
                  <a:srgbClr val="263D57"/>
                </a:solidFill>
                <a:latin typeface="Inter" pitchFamily="34" charset="0"/>
                <a:ea typeface="Inter" pitchFamily="34" charset="-122"/>
                <a:cs typeface="Inter" pitchFamily="34" charset="-120"/>
              </a:rPr>
              <a:t>May coaches see a minor's profile?</a:t>
            </a:r>
            <a:endParaRPr lang="en-US" sz="1600" dirty="0"/>
          </a:p>
        </p:txBody>
      </p:sp>
      <p:sp>
        <p:nvSpPr>
          <p:cNvPr id="18" name="Shape 16"/>
          <p:cNvSpPr/>
          <p:nvPr/>
        </p:nvSpPr>
        <p:spPr>
          <a:xfrm>
            <a:off x="6217920" y="2731008"/>
            <a:ext cx="2611984" cy="509016"/>
          </a:xfrm>
          <a:prstGeom prst="roundRect">
            <a:avLst>
              <a:gd name="adj" fmla="val 14371"/>
            </a:avLst>
          </a:prstGeom>
          <a:solidFill>
            <a:srgbClr val="E2F3F1"/>
          </a:solidFill>
          <a:ln w="9525">
            <a:solidFill>
              <a:srgbClr val="E2F3F1"/>
            </a:solidFill>
            <a:prstDash val="solid"/>
          </a:ln>
        </p:spPr>
      </p:sp>
      <p:sp>
        <p:nvSpPr>
          <p:cNvPr id="19" name="Text 17"/>
          <p:cNvSpPr txBox="1"/>
          <p:nvPr/>
        </p:nvSpPr>
        <p:spPr>
          <a:xfrm>
            <a:off x="6355080" y="2731008"/>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no scores shown</a:t>
            </a:r>
            <a:endParaRPr lang="en-US" sz="1500" dirty="0"/>
          </a:p>
        </p:txBody>
      </p:sp>
      <p:sp>
        <p:nvSpPr>
          <p:cNvPr id="20" name="Shape 18"/>
          <p:cNvSpPr/>
          <p:nvPr/>
        </p:nvSpPr>
        <p:spPr>
          <a:xfrm>
            <a:off x="8939632" y="2731008"/>
            <a:ext cx="2611984" cy="509016"/>
          </a:xfrm>
          <a:prstGeom prst="roundRect">
            <a:avLst>
              <a:gd name="adj" fmla="val 14371"/>
            </a:avLst>
          </a:prstGeom>
          <a:solidFill>
            <a:srgbClr val="FFFFFF"/>
          </a:solidFill>
          <a:ln w="9525">
            <a:solidFill>
              <a:srgbClr val="E2E8F0"/>
            </a:solidFill>
            <a:prstDash val="solid"/>
          </a:ln>
        </p:spPr>
      </p:sp>
      <p:sp>
        <p:nvSpPr>
          <p:cNvPr id="21" name="Text 19"/>
          <p:cNvSpPr txBox="1"/>
          <p:nvPr/>
        </p:nvSpPr>
        <p:spPr>
          <a:xfrm>
            <a:off x="9076792" y="2731008"/>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staff pick cards</a:t>
            </a:r>
            <a:endParaRPr lang="en-US" sz="1500" dirty="0"/>
          </a:p>
        </p:txBody>
      </p:sp>
      <p:sp>
        <p:nvSpPr>
          <p:cNvPr id="22" name="Question 3"/>
          <p:cNvSpPr/>
          <p:nvPr/>
        </p:nvSpPr>
        <p:spPr>
          <a:xfrm>
            <a:off x="548640" y="3377184"/>
            <a:ext cx="11094415" cy="637032"/>
          </a:xfrm>
          <a:prstGeom prst="roundRect">
            <a:avLst>
              <a:gd name="adj" fmla="val 22967"/>
            </a:avLst>
          </a:prstGeom>
          <a:solidFill>
            <a:srgbClr val="F2F5F8"/>
          </a:solidFill>
          <a:ln w="9525">
            <a:solidFill>
              <a:srgbClr val="E2E8F0"/>
            </a:solidFill>
            <a:prstDash val="solid"/>
          </a:ln>
        </p:spPr>
      </p:sp>
      <p:sp>
        <p:nvSpPr>
          <p:cNvPr id="23" name="Shape 21"/>
          <p:cNvSpPr/>
          <p:nvPr/>
        </p:nvSpPr>
        <p:spPr>
          <a:xfrm>
            <a:off x="731520" y="3503676"/>
            <a:ext cx="384048" cy="384048"/>
          </a:xfrm>
          <a:prstGeom prst="ellipse">
            <a:avLst/>
          </a:prstGeom>
          <a:solidFill>
            <a:srgbClr val="263D57"/>
          </a:solidFill>
          <a:ln/>
        </p:spPr>
      </p:sp>
      <p:sp>
        <p:nvSpPr>
          <p:cNvPr id="24" name="Text 22"/>
          <p:cNvSpPr txBox="1"/>
          <p:nvPr/>
        </p:nvSpPr>
        <p:spPr>
          <a:xfrm>
            <a:off x="731520" y="350367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3</a:t>
            </a:r>
            <a:endParaRPr lang="en-US" sz="1400" dirty="0"/>
          </a:p>
        </p:txBody>
      </p:sp>
      <p:sp>
        <p:nvSpPr>
          <p:cNvPr id="25" name="Text 23"/>
          <p:cNvSpPr txBox="1"/>
          <p:nvPr/>
        </p:nvSpPr>
        <p:spPr>
          <a:xfrm>
            <a:off x="1280160" y="3377184"/>
            <a:ext cx="4800600" cy="637032"/>
          </a:xfrm>
          <a:prstGeom prst="rect">
            <a:avLst/>
          </a:prstGeom>
          <a:noFill/>
          <a:ln/>
        </p:spPr>
        <p:txBody>
          <a:bodyPr wrap="square" lIns="0" tIns="0" rIns="0" bIns="0" rtlCol="0" anchor="ctr"/>
          <a:lstStyle/>
          <a:p>
            <a:pPr indent="0" marL="0">
              <a:buNone/>
            </a:pPr>
            <a:r>
              <a:rPr lang="en-US" sz="1600" b="1" dirty="0">
                <a:solidFill>
                  <a:srgbClr val="263D57"/>
                </a:solidFill>
                <a:latin typeface="Inter" pitchFamily="34" charset="0"/>
                <a:ea typeface="Inter" pitchFamily="34" charset="-122"/>
                <a:cs typeface="Inter" pitchFamily="34" charset="-120"/>
              </a:rPr>
              <a:t>Is someone already turning drills into exercises?</a:t>
            </a:r>
            <a:endParaRPr lang="en-US" sz="1600" dirty="0"/>
          </a:p>
        </p:txBody>
      </p:sp>
      <p:sp>
        <p:nvSpPr>
          <p:cNvPr id="26" name="Shape 24"/>
          <p:cNvSpPr/>
          <p:nvPr/>
        </p:nvSpPr>
        <p:spPr>
          <a:xfrm>
            <a:off x="6217920" y="3441192"/>
            <a:ext cx="2611984" cy="509016"/>
          </a:xfrm>
          <a:prstGeom prst="roundRect">
            <a:avLst>
              <a:gd name="adj" fmla="val 14371"/>
            </a:avLst>
          </a:prstGeom>
          <a:solidFill>
            <a:srgbClr val="E2F3F1"/>
          </a:solidFill>
          <a:ln w="9525">
            <a:solidFill>
              <a:srgbClr val="E2F3F1"/>
            </a:solidFill>
            <a:prstDash val="solid"/>
          </a:ln>
        </p:spPr>
      </p:sp>
      <p:sp>
        <p:nvSpPr>
          <p:cNvPr id="27" name="Text 25"/>
          <p:cNvSpPr txBox="1"/>
          <p:nvPr/>
        </p:nvSpPr>
        <p:spPr>
          <a:xfrm>
            <a:off x="6355080" y="3441192"/>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we build rule, test</a:t>
            </a:r>
            <a:endParaRPr lang="en-US" sz="1500" dirty="0"/>
          </a:p>
        </p:txBody>
      </p:sp>
      <p:sp>
        <p:nvSpPr>
          <p:cNvPr id="28" name="Shape 26"/>
          <p:cNvSpPr/>
          <p:nvPr/>
        </p:nvSpPr>
        <p:spPr>
          <a:xfrm>
            <a:off x="8939632" y="3441192"/>
            <a:ext cx="2611984" cy="509016"/>
          </a:xfrm>
          <a:prstGeom prst="roundRect">
            <a:avLst>
              <a:gd name="adj" fmla="val 14371"/>
            </a:avLst>
          </a:prstGeom>
          <a:solidFill>
            <a:srgbClr val="FFFFFF"/>
          </a:solidFill>
          <a:ln w="9525">
            <a:solidFill>
              <a:srgbClr val="E2E8F0"/>
            </a:solidFill>
            <a:prstDash val="solid"/>
          </a:ln>
        </p:spPr>
      </p:sp>
      <p:sp>
        <p:nvSpPr>
          <p:cNvPr id="29" name="Text 27"/>
          <p:cNvSpPr txBox="1"/>
          <p:nvPr/>
        </p:nvSpPr>
        <p:spPr>
          <a:xfrm>
            <a:off x="9076792" y="3441192"/>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we also build cards</a:t>
            </a:r>
            <a:endParaRPr lang="en-US" sz="1500" dirty="0"/>
          </a:p>
        </p:txBody>
      </p:sp>
      <p:sp>
        <p:nvSpPr>
          <p:cNvPr id="30" name="Question 4"/>
          <p:cNvSpPr/>
          <p:nvPr/>
        </p:nvSpPr>
        <p:spPr>
          <a:xfrm>
            <a:off x="548640" y="4087368"/>
            <a:ext cx="11094415" cy="637032"/>
          </a:xfrm>
          <a:prstGeom prst="roundRect">
            <a:avLst>
              <a:gd name="adj" fmla="val 22967"/>
            </a:avLst>
          </a:prstGeom>
          <a:solidFill>
            <a:srgbClr val="F2F5F8"/>
          </a:solidFill>
          <a:ln w="9525">
            <a:solidFill>
              <a:srgbClr val="E2E8F0"/>
            </a:solidFill>
            <a:prstDash val="solid"/>
          </a:ln>
        </p:spPr>
      </p:sp>
      <p:sp>
        <p:nvSpPr>
          <p:cNvPr id="31" name="Shape 29"/>
          <p:cNvSpPr/>
          <p:nvPr/>
        </p:nvSpPr>
        <p:spPr>
          <a:xfrm>
            <a:off x="731520" y="4213860"/>
            <a:ext cx="384048" cy="384048"/>
          </a:xfrm>
          <a:prstGeom prst="ellipse">
            <a:avLst/>
          </a:prstGeom>
          <a:solidFill>
            <a:srgbClr val="263D57"/>
          </a:solidFill>
          <a:ln/>
        </p:spPr>
      </p:sp>
      <p:sp>
        <p:nvSpPr>
          <p:cNvPr id="32" name="Text 30"/>
          <p:cNvSpPr txBox="1"/>
          <p:nvPr/>
        </p:nvSpPr>
        <p:spPr>
          <a:xfrm>
            <a:off x="731520" y="42138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4</a:t>
            </a:r>
            <a:endParaRPr lang="en-US" sz="1400" dirty="0"/>
          </a:p>
        </p:txBody>
      </p:sp>
      <p:sp>
        <p:nvSpPr>
          <p:cNvPr id="33" name="Text 31"/>
          <p:cNvSpPr txBox="1"/>
          <p:nvPr/>
        </p:nvSpPr>
        <p:spPr>
          <a:xfrm>
            <a:off x="1280160" y="4087368"/>
            <a:ext cx="4800600" cy="637032"/>
          </a:xfrm>
          <a:prstGeom prst="rect">
            <a:avLst/>
          </a:prstGeom>
          <a:noFill/>
          <a:ln/>
        </p:spPr>
        <p:txBody>
          <a:bodyPr wrap="square" lIns="0" tIns="0" rIns="0" bIns="0" rtlCol="0" anchor="ctr"/>
          <a:lstStyle/>
          <a:p>
            <a:pPr indent="0" marL="0">
              <a:buNone/>
            </a:pPr>
            <a:r>
              <a:rPr lang="en-US" sz="1600" b="1" dirty="0">
                <a:solidFill>
                  <a:srgbClr val="263D57"/>
                </a:solidFill>
                <a:latin typeface="Inter" pitchFamily="34" charset="0"/>
                <a:ea typeface="Inter" pitchFamily="34" charset="-122"/>
                <a:cs typeface="Inter" pitchFamily="34" charset="-120"/>
              </a:rPr>
              <a:t>Video tool, budget and filming agreed?</a:t>
            </a:r>
            <a:endParaRPr lang="en-US" sz="1600" dirty="0"/>
          </a:p>
        </p:txBody>
      </p:sp>
      <p:sp>
        <p:nvSpPr>
          <p:cNvPr id="34" name="Shape 32"/>
          <p:cNvSpPr/>
          <p:nvPr/>
        </p:nvSpPr>
        <p:spPr>
          <a:xfrm>
            <a:off x="6217920" y="4151376"/>
            <a:ext cx="2611984" cy="509016"/>
          </a:xfrm>
          <a:prstGeom prst="roundRect">
            <a:avLst>
              <a:gd name="adj" fmla="val 14371"/>
            </a:avLst>
          </a:prstGeom>
          <a:solidFill>
            <a:srgbClr val="E2F3F1"/>
          </a:solidFill>
          <a:ln w="9525">
            <a:solidFill>
              <a:srgbClr val="E2F3F1"/>
            </a:solidFill>
            <a:prstDash val="solid"/>
          </a:ln>
        </p:spPr>
      </p:sp>
      <p:sp>
        <p:nvSpPr>
          <p:cNvPr id="35" name="Text 33"/>
          <p:cNvSpPr txBox="1"/>
          <p:nvPr/>
        </p:nvSpPr>
        <p:spPr>
          <a:xfrm>
            <a:off x="6355080" y="4151376"/>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clips of real drills</a:t>
            </a:r>
            <a:endParaRPr lang="en-US" sz="1500" dirty="0"/>
          </a:p>
        </p:txBody>
      </p:sp>
      <p:sp>
        <p:nvSpPr>
          <p:cNvPr id="36" name="Shape 34"/>
          <p:cNvSpPr/>
          <p:nvPr/>
        </p:nvSpPr>
        <p:spPr>
          <a:xfrm>
            <a:off x="8939632" y="4151376"/>
            <a:ext cx="2611984" cy="509016"/>
          </a:xfrm>
          <a:prstGeom prst="roundRect">
            <a:avLst>
              <a:gd name="adj" fmla="val 14371"/>
            </a:avLst>
          </a:prstGeom>
          <a:solidFill>
            <a:srgbClr val="FFFFFF"/>
          </a:solidFill>
          <a:ln w="9525">
            <a:solidFill>
              <a:srgbClr val="E2E8F0"/>
            </a:solidFill>
            <a:prstDash val="solid"/>
          </a:ln>
        </p:spPr>
      </p:sp>
      <p:sp>
        <p:nvSpPr>
          <p:cNvPr id="37" name="Text 35"/>
          <p:cNvSpPr txBox="1"/>
          <p:nvPr/>
        </p:nvSpPr>
        <p:spPr>
          <a:xfrm>
            <a:off x="9076792" y="4151376"/>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diagrams only</a:t>
            </a:r>
            <a:endParaRPr lang="en-US" sz="1500" dirty="0"/>
          </a:p>
        </p:txBody>
      </p:sp>
      <p:sp>
        <p:nvSpPr>
          <p:cNvPr id="38" name="Question 5"/>
          <p:cNvSpPr/>
          <p:nvPr/>
        </p:nvSpPr>
        <p:spPr>
          <a:xfrm>
            <a:off x="548640" y="4797552"/>
            <a:ext cx="11094415" cy="637032"/>
          </a:xfrm>
          <a:prstGeom prst="roundRect">
            <a:avLst>
              <a:gd name="adj" fmla="val 22967"/>
            </a:avLst>
          </a:prstGeom>
          <a:solidFill>
            <a:srgbClr val="F2F5F8"/>
          </a:solidFill>
          <a:ln w="9525">
            <a:solidFill>
              <a:srgbClr val="E2E8F0"/>
            </a:solidFill>
            <a:prstDash val="solid"/>
          </a:ln>
        </p:spPr>
      </p:sp>
      <p:sp>
        <p:nvSpPr>
          <p:cNvPr id="39" name="Shape 37"/>
          <p:cNvSpPr/>
          <p:nvPr/>
        </p:nvSpPr>
        <p:spPr>
          <a:xfrm>
            <a:off x="731520" y="4924044"/>
            <a:ext cx="384048" cy="384048"/>
          </a:xfrm>
          <a:prstGeom prst="ellipse">
            <a:avLst/>
          </a:prstGeom>
          <a:solidFill>
            <a:srgbClr val="263D57"/>
          </a:solidFill>
          <a:ln/>
        </p:spPr>
      </p:sp>
      <p:sp>
        <p:nvSpPr>
          <p:cNvPr id="40" name="Text 38"/>
          <p:cNvSpPr txBox="1"/>
          <p:nvPr/>
        </p:nvSpPr>
        <p:spPr>
          <a:xfrm>
            <a:off x="731520" y="492404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5</a:t>
            </a:r>
            <a:endParaRPr lang="en-US" sz="1400" dirty="0"/>
          </a:p>
        </p:txBody>
      </p:sp>
      <p:sp>
        <p:nvSpPr>
          <p:cNvPr id="41" name="Text 39"/>
          <p:cNvSpPr txBox="1"/>
          <p:nvPr/>
        </p:nvSpPr>
        <p:spPr>
          <a:xfrm>
            <a:off x="1280160" y="4797552"/>
            <a:ext cx="4800600" cy="637032"/>
          </a:xfrm>
          <a:prstGeom prst="rect">
            <a:avLst/>
          </a:prstGeom>
          <a:noFill/>
          <a:ln/>
        </p:spPr>
        <p:txBody>
          <a:bodyPr wrap="square" lIns="0" tIns="0" rIns="0" bIns="0" rtlCol="0" anchor="ctr"/>
          <a:lstStyle/>
          <a:p>
            <a:pPr indent="0" marL="0">
              <a:buNone/>
            </a:pPr>
            <a:r>
              <a:rPr lang="en-US" sz="1600" b="1" dirty="0">
                <a:solidFill>
                  <a:srgbClr val="263D57"/>
                </a:solidFill>
                <a:latin typeface="Inter" pitchFamily="34" charset="0"/>
                <a:ea typeface="Inter" pitchFamily="34" charset="-122"/>
                <a:cs typeface="Inter" pitchFamily="34" charset="-120"/>
              </a:rPr>
              <a:t>Academy coaches introduced by 30 Oct?</a:t>
            </a:r>
            <a:endParaRPr lang="en-US" sz="1600" dirty="0"/>
          </a:p>
        </p:txBody>
      </p:sp>
      <p:sp>
        <p:nvSpPr>
          <p:cNvPr id="42" name="Shape 40"/>
          <p:cNvSpPr/>
          <p:nvPr/>
        </p:nvSpPr>
        <p:spPr>
          <a:xfrm>
            <a:off x="6217920" y="4861560"/>
            <a:ext cx="2611984" cy="509016"/>
          </a:xfrm>
          <a:prstGeom prst="roundRect">
            <a:avLst>
              <a:gd name="adj" fmla="val 14371"/>
            </a:avLst>
          </a:prstGeom>
          <a:solidFill>
            <a:srgbClr val="E2F3F1"/>
          </a:solidFill>
          <a:ln w="9525">
            <a:solidFill>
              <a:srgbClr val="E2F3F1"/>
            </a:solidFill>
            <a:prstDash val="solid"/>
          </a:ln>
        </p:spPr>
      </p:sp>
      <p:sp>
        <p:nvSpPr>
          <p:cNvPr id="43" name="Text 41"/>
          <p:cNvSpPr txBox="1"/>
          <p:nvPr/>
        </p:nvSpPr>
        <p:spPr>
          <a:xfrm>
            <a:off x="6355080" y="4861560"/>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academy test, week 2</a:t>
            </a:r>
            <a:endParaRPr lang="en-US" sz="1500" dirty="0"/>
          </a:p>
        </p:txBody>
      </p:sp>
      <p:sp>
        <p:nvSpPr>
          <p:cNvPr id="44" name="Shape 42"/>
          <p:cNvSpPr/>
          <p:nvPr/>
        </p:nvSpPr>
        <p:spPr>
          <a:xfrm>
            <a:off x="8939632" y="4861560"/>
            <a:ext cx="2611984" cy="509016"/>
          </a:xfrm>
          <a:prstGeom prst="roundRect">
            <a:avLst>
              <a:gd name="adj" fmla="val 14371"/>
            </a:avLst>
          </a:prstGeom>
          <a:solidFill>
            <a:srgbClr val="FFFFFF"/>
          </a:solidFill>
          <a:ln w="9525">
            <a:solidFill>
              <a:srgbClr val="E2E8F0"/>
            </a:solidFill>
            <a:prstDash val="solid"/>
          </a:ln>
        </p:spPr>
      </p:sp>
      <p:sp>
        <p:nvSpPr>
          <p:cNvPr id="45" name="Text 43"/>
          <p:cNvSpPr txBox="1"/>
          <p:nvPr/>
        </p:nvSpPr>
        <p:spPr>
          <a:xfrm>
            <a:off x="9076792" y="4861560"/>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amateur coaches</a:t>
            </a:r>
            <a:endParaRPr lang="en-US" sz="1500" dirty="0"/>
          </a:p>
        </p:txBody>
      </p:sp>
      <p:sp>
        <p:nvSpPr>
          <p:cNvPr id="46" name="Question 6"/>
          <p:cNvSpPr/>
          <p:nvPr/>
        </p:nvSpPr>
        <p:spPr>
          <a:xfrm>
            <a:off x="548640" y="5507736"/>
            <a:ext cx="11094415" cy="637032"/>
          </a:xfrm>
          <a:prstGeom prst="roundRect">
            <a:avLst>
              <a:gd name="adj" fmla="val 22967"/>
            </a:avLst>
          </a:prstGeom>
          <a:solidFill>
            <a:srgbClr val="F2F5F8"/>
          </a:solidFill>
          <a:ln w="9525">
            <a:solidFill>
              <a:srgbClr val="E2E8F0"/>
            </a:solidFill>
            <a:prstDash val="solid"/>
          </a:ln>
        </p:spPr>
      </p:sp>
      <p:sp>
        <p:nvSpPr>
          <p:cNvPr id="47" name="Shape 45"/>
          <p:cNvSpPr/>
          <p:nvPr/>
        </p:nvSpPr>
        <p:spPr>
          <a:xfrm>
            <a:off x="731520" y="5634228"/>
            <a:ext cx="384048" cy="384048"/>
          </a:xfrm>
          <a:prstGeom prst="ellipse">
            <a:avLst/>
          </a:prstGeom>
          <a:solidFill>
            <a:srgbClr val="263D57"/>
          </a:solidFill>
          <a:ln/>
        </p:spPr>
      </p:sp>
      <p:sp>
        <p:nvSpPr>
          <p:cNvPr id="48" name="Text 46"/>
          <p:cNvSpPr txBox="1"/>
          <p:nvPr/>
        </p:nvSpPr>
        <p:spPr>
          <a:xfrm>
            <a:off x="731520" y="563422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6</a:t>
            </a:r>
            <a:endParaRPr lang="en-US" sz="1400" dirty="0"/>
          </a:p>
        </p:txBody>
      </p:sp>
      <p:sp>
        <p:nvSpPr>
          <p:cNvPr id="49" name="Text 47"/>
          <p:cNvSpPr txBox="1"/>
          <p:nvPr/>
        </p:nvSpPr>
        <p:spPr>
          <a:xfrm>
            <a:off x="1280160" y="5507736"/>
            <a:ext cx="4800600" cy="637032"/>
          </a:xfrm>
          <a:prstGeom prst="rect">
            <a:avLst/>
          </a:prstGeom>
          <a:noFill/>
          <a:ln/>
        </p:spPr>
        <p:txBody>
          <a:bodyPr wrap="square" lIns="0" tIns="0" rIns="0" bIns="0" rtlCol="0" anchor="ctr"/>
          <a:lstStyle/>
          <a:p>
            <a:pPr indent="0" marL="0">
              <a:buNone/>
            </a:pPr>
            <a:r>
              <a:rPr lang="en-US" sz="1600" b="1" dirty="0">
                <a:solidFill>
                  <a:srgbClr val="263D57"/>
                </a:solidFill>
                <a:latin typeface="Inter" pitchFamily="34" charset="0"/>
                <a:ea typeface="Inter" pitchFamily="34" charset="-122"/>
                <a:cs typeface="Inter" pitchFamily="34" charset="-120"/>
              </a:rPr>
              <a:t>Is the coach the first user?</a:t>
            </a:r>
            <a:endParaRPr lang="en-US" sz="1600" dirty="0"/>
          </a:p>
        </p:txBody>
      </p:sp>
      <p:sp>
        <p:nvSpPr>
          <p:cNvPr id="50" name="Shape 48"/>
          <p:cNvSpPr/>
          <p:nvPr/>
        </p:nvSpPr>
        <p:spPr>
          <a:xfrm>
            <a:off x="6217920" y="5571744"/>
            <a:ext cx="2611984" cy="509016"/>
          </a:xfrm>
          <a:prstGeom prst="roundRect">
            <a:avLst>
              <a:gd name="adj" fmla="val 14371"/>
            </a:avLst>
          </a:prstGeom>
          <a:solidFill>
            <a:srgbClr val="E2F3F1"/>
          </a:solidFill>
          <a:ln w="9525">
            <a:solidFill>
              <a:srgbClr val="E2F3F1"/>
            </a:solidFill>
            <a:prstDash val="solid"/>
          </a:ln>
        </p:spPr>
      </p:sp>
      <p:sp>
        <p:nvSpPr>
          <p:cNvPr id="51" name="Text 49"/>
          <p:cNvSpPr txBox="1"/>
          <p:nvPr/>
        </p:nvSpPr>
        <p:spPr>
          <a:xfrm>
            <a:off x="6355080" y="5571744"/>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library and tablet</a:t>
            </a:r>
            <a:endParaRPr lang="en-US" sz="1500" dirty="0"/>
          </a:p>
        </p:txBody>
      </p:sp>
      <p:sp>
        <p:nvSpPr>
          <p:cNvPr id="52" name="Shape 50"/>
          <p:cNvSpPr/>
          <p:nvPr/>
        </p:nvSpPr>
        <p:spPr>
          <a:xfrm>
            <a:off x="8939632" y="5571744"/>
            <a:ext cx="2611984" cy="509016"/>
          </a:xfrm>
          <a:prstGeom prst="roundRect">
            <a:avLst>
              <a:gd name="adj" fmla="val 14371"/>
            </a:avLst>
          </a:prstGeom>
          <a:solidFill>
            <a:srgbClr val="FFFFFF"/>
          </a:solidFill>
          <a:ln w="9525">
            <a:solidFill>
              <a:srgbClr val="E2E8F0"/>
            </a:solidFill>
            <a:prstDash val="solid"/>
          </a:ln>
        </p:spPr>
      </p:sp>
      <p:sp>
        <p:nvSpPr>
          <p:cNvPr id="53" name="Text 51"/>
          <p:cNvSpPr txBox="1"/>
          <p:nvPr/>
        </p:nvSpPr>
        <p:spPr>
          <a:xfrm>
            <a:off x="9076792" y="5571744"/>
            <a:ext cx="2337664" cy="509016"/>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progress view first</a:t>
            </a:r>
            <a:endParaRPr lang="en-US" sz="15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WORK DIVISION</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Who owns which question, and by when</a:t>
            </a:r>
            <a:endParaRPr lang="en-US" sz="2600" dirty="0"/>
          </a:p>
        </p:txBody>
      </p:sp>
      <p:sp>
        <p:nvSpPr>
          <p:cNvPr id="4" name="Text 2"/>
          <p:cNvSpPr txBox="1"/>
          <p:nvPr/>
        </p:nvSpPr>
        <p:spPr>
          <a:xfrm>
            <a:off x="548640" y="1645920"/>
            <a:ext cx="1848433" cy="384048"/>
          </a:xfrm>
          <a:prstGeom prst="rect">
            <a:avLst/>
          </a:prstGeom>
          <a:noFill/>
          <a:ln/>
        </p:spPr>
        <p:txBody>
          <a:bodyPr wrap="square" lIns="0" tIns="0" rIns="0" bIns="0" rtlCol="0" anchor="b"/>
          <a:lstStyle/>
          <a:p>
            <a:pPr indent="0" marL="0">
              <a:buNone/>
            </a:pPr>
            <a:r>
              <a:rPr lang="en-US" sz="1200" b="1" spc="100" kern="0" dirty="0">
                <a:solidFill>
                  <a:srgbClr val="007D8C"/>
                </a:solidFill>
                <a:latin typeface="Inter" pitchFamily="34" charset="0"/>
                <a:ea typeface="Inter" pitchFamily="34" charset="-122"/>
                <a:cs typeface="Inter" pitchFamily="34" charset="-120"/>
              </a:rPr>
              <a:t>OWNER</a:t>
            </a:r>
            <a:endParaRPr lang="en-US" sz="1200" dirty="0"/>
          </a:p>
        </p:txBody>
      </p:sp>
      <p:sp>
        <p:nvSpPr>
          <p:cNvPr id="5" name="Text 3"/>
          <p:cNvSpPr txBox="1"/>
          <p:nvPr/>
        </p:nvSpPr>
        <p:spPr>
          <a:xfrm>
            <a:off x="2671393" y="1645920"/>
            <a:ext cx="3561615" cy="384048"/>
          </a:xfrm>
          <a:prstGeom prst="rect">
            <a:avLst/>
          </a:prstGeom>
          <a:noFill/>
          <a:ln/>
        </p:spPr>
        <p:txBody>
          <a:bodyPr wrap="square" lIns="0" tIns="0" rIns="0" bIns="0" rtlCol="0" anchor="b"/>
          <a:lstStyle/>
          <a:p>
            <a:pPr indent="0" marL="0">
              <a:buNone/>
            </a:pPr>
            <a:r>
              <a:rPr lang="en-US" sz="1200" b="1" spc="100" kern="0" dirty="0">
                <a:solidFill>
                  <a:srgbClr val="007D8C"/>
                </a:solidFill>
                <a:latin typeface="Inter" pitchFamily="34" charset="0"/>
                <a:ea typeface="Inter" pitchFamily="34" charset="-122"/>
                <a:cs typeface="Inter" pitchFamily="34" charset="-120"/>
              </a:rPr>
              <a:t>QUESTION · METHOD</a:t>
            </a:r>
            <a:endParaRPr lang="en-US" sz="1200" dirty="0"/>
          </a:p>
        </p:txBody>
      </p:sp>
      <p:sp>
        <p:nvSpPr>
          <p:cNvPr id="6" name="Shape 4"/>
          <p:cNvSpPr/>
          <p:nvPr/>
        </p:nvSpPr>
        <p:spPr>
          <a:xfrm>
            <a:off x="6141568" y="1627632"/>
            <a:ext cx="2705024" cy="402336"/>
          </a:xfrm>
          <a:prstGeom prst="roundRect">
            <a:avLst>
              <a:gd name="adj" fmla="val 50000"/>
            </a:avLst>
          </a:prstGeom>
          <a:solidFill>
            <a:srgbClr val="263D57"/>
          </a:solidFill>
          <a:ln/>
        </p:spPr>
      </p:sp>
      <p:sp>
        <p:nvSpPr>
          <p:cNvPr id="7" name="Text 5"/>
          <p:cNvSpPr txBox="1"/>
          <p:nvPr/>
        </p:nvSpPr>
        <p:spPr>
          <a:xfrm>
            <a:off x="6141568" y="1627632"/>
            <a:ext cx="2705024"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Fri 30 Oct</a:t>
            </a:r>
            <a:endParaRPr lang="en-US" sz="1500" dirty="0"/>
          </a:p>
        </p:txBody>
      </p:sp>
      <p:sp>
        <p:nvSpPr>
          <p:cNvPr id="8" name="Shape 6"/>
          <p:cNvSpPr/>
          <p:nvPr/>
        </p:nvSpPr>
        <p:spPr>
          <a:xfrm>
            <a:off x="8938031" y="1627632"/>
            <a:ext cx="2705024" cy="402336"/>
          </a:xfrm>
          <a:prstGeom prst="roundRect">
            <a:avLst>
              <a:gd name="adj" fmla="val 50000"/>
            </a:avLst>
          </a:prstGeom>
          <a:solidFill>
            <a:srgbClr val="41C5C5"/>
          </a:solidFill>
          <a:ln/>
        </p:spPr>
      </p:sp>
      <p:sp>
        <p:nvSpPr>
          <p:cNvPr id="9" name="Text 7"/>
          <p:cNvSpPr txBox="1"/>
          <p:nvPr/>
        </p:nvSpPr>
        <p:spPr>
          <a:xfrm>
            <a:off x="8938031" y="1627632"/>
            <a:ext cx="2705024" cy="402336"/>
          </a:xfrm>
          <a:prstGeom prst="rect">
            <a:avLst/>
          </a:prstGeom>
          <a:noFill/>
          <a:ln/>
        </p:spPr>
        <p:txBody>
          <a:bodyPr wrap="square" lIns="0" tIns="0" rIns="0" bIns="0" rtlCol="0" anchor="ctr"/>
          <a:lstStyle/>
          <a:p>
            <a:pPr algn="ctr" indent="0" marL="0">
              <a:buNone/>
            </a:pPr>
            <a:r>
              <a:rPr lang="en-US" sz="1500" b="1" dirty="0">
                <a:solidFill>
                  <a:srgbClr val="263D57"/>
                </a:solidFill>
                <a:latin typeface="Inter" pitchFamily="34" charset="0"/>
                <a:ea typeface="Inter" pitchFamily="34" charset="-122"/>
                <a:cs typeface="Inter" pitchFamily="34" charset="-120"/>
              </a:rPr>
              <a:t>Fri 13 Nov</a:t>
            </a:r>
            <a:endParaRPr lang="en-US" sz="1500" dirty="0"/>
          </a:p>
        </p:txBody>
      </p:sp>
      <p:sp>
        <p:nvSpPr>
          <p:cNvPr id="10" name="Owner Hugo"/>
          <p:cNvSpPr/>
          <p:nvPr/>
        </p:nvSpPr>
        <p:spPr>
          <a:xfrm>
            <a:off x="548640" y="2139696"/>
            <a:ext cx="1848433" cy="1005840"/>
          </a:xfrm>
          <a:prstGeom prst="roundRect">
            <a:avLst>
              <a:gd name="adj" fmla="val 14545"/>
            </a:avLst>
          </a:prstGeom>
          <a:solidFill>
            <a:srgbClr val="F2F5F8"/>
          </a:solidFill>
          <a:ln w="9525">
            <a:solidFill>
              <a:srgbClr val="E2E8F0"/>
            </a:solidFill>
            <a:prstDash val="solid"/>
          </a:ln>
        </p:spPr>
      </p:sp>
      <p:sp>
        <p:nvSpPr>
          <p:cNvPr id="11" name="Shape 9"/>
          <p:cNvSpPr/>
          <p:nvPr/>
        </p:nvSpPr>
        <p:spPr>
          <a:xfrm>
            <a:off x="694944" y="2432304"/>
            <a:ext cx="420624" cy="420624"/>
          </a:xfrm>
          <a:prstGeom prst="ellipse">
            <a:avLst/>
          </a:prstGeom>
          <a:solidFill>
            <a:srgbClr val="3A506B"/>
          </a:solidFill>
          <a:ln/>
        </p:spPr>
      </p:sp>
      <p:sp>
        <p:nvSpPr>
          <p:cNvPr id="12" name="Text 10"/>
          <p:cNvSpPr txBox="1"/>
          <p:nvPr/>
        </p:nvSpPr>
        <p:spPr>
          <a:xfrm>
            <a:off x="694944" y="2432304"/>
            <a:ext cx="420624" cy="420624"/>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H</a:t>
            </a:r>
            <a:endParaRPr lang="en-US" sz="1600" dirty="0"/>
          </a:p>
        </p:txBody>
      </p:sp>
      <p:sp>
        <p:nvSpPr>
          <p:cNvPr id="13" name="Text 11"/>
          <p:cNvSpPr txBox="1"/>
          <p:nvPr/>
        </p:nvSpPr>
        <p:spPr>
          <a:xfrm>
            <a:off x="1234440" y="2139696"/>
            <a:ext cx="1071193" cy="100584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Hugo</a:t>
            </a:r>
            <a:endParaRPr lang="en-US" sz="1600" dirty="0"/>
          </a:p>
        </p:txBody>
      </p:sp>
      <p:sp>
        <p:nvSpPr>
          <p:cNvPr id="14" name="Hugo question"/>
          <p:cNvSpPr/>
          <p:nvPr/>
        </p:nvSpPr>
        <p:spPr>
          <a:xfrm>
            <a:off x="2488513" y="2139696"/>
            <a:ext cx="3561615" cy="1005840"/>
          </a:xfrm>
          <a:prstGeom prst="roundRect">
            <a:avLst>
              <a:gd name="adj" fmla="val 14545"/>
            </a:avLst>
          </a:prstGeom>
          <a:solidFill>
            <a:srgbClr val="F2F5F8"/>
          </a:solidFill>
          <a:ln w="9525">
            <a:solidFill>
              <a:srgbClr val="E2E8F0"/>
            </a:solidFill>
            <a:prstDash val="solid"/>
          </a:ln>
        </p:spPr>
      </p:sp>
      <p:sp>
        <p:nvSpPr>
          <p:cNvPr id="15" name="Text 13"/>
          <p:cNvSpPr txBox="1"/>
          <p:nvPr/>
        </p:nvSpPr>
        <p:spPr>
          <a:xfrm>
            <a:off x="2671393" y="2139696"/>
            <a:ext cx="3195855" cy="1005840"/>
          </a:xfrm>
          <a:prstGeom prst="rect">
            <a:avLst/>
          </a:prstGeom>
          <a:noFill/>
          <a:ln/>
        </p:spPr>
        <p:txBody>
          <a:bodyPr wrap="square" lIns="0" tIns="0" rIns="0" bIns="0" rtlCol="0" anchor="ctr"/>
          <a:lstStyle/>
          <a:p>
            <a:pPr indent="0" marL="0">
              <a:buNone/>
            </a:pPr>
            <a:r>
              <a:rPr lang="en-US" sz="1500" b="1" dirty="0">
                <a:solidFill>
                  <a:srgbClr val="263D57"/>
                </a:solidFill>
                <a:latin typeface="Inter" pitchFamily="34" charset="0"/>
                <a:ea typeface="Inter" pitchFamily="34" charset="-122"/>
                <a:cs typeface="Inter" pitchFamily="34" charset="-120"/>
              </a:rPr>
              <a:t>Where do flags show on the pitch? </a:t>
            </a:r>
            <a:pPr indent="0" marL="0">
              <a:buNone/>
            </a:pPr>
            <a:r>
              <a:rPr lang="en-US" sz="1500" i="1" dirty="0">
                <a:solidFill>
                  <a:srgbClr val="5A6573"/>
                </a:solidFill>
                <a:latin typeface="Inter" pitchFamily="34" charset="0"/>
                <a:ea typeface="Inter" pitchFamily="34" charset="-122"/>
                <a:cs typeface="Inter" pitchFamily="34" charset="-120"/>
              </a:rPr>
              <a:t>· literature, clip test</a:t>
            </a:r>
            <a:endParaRPr lang="en-US" sz="1500" dirty="0"/>
          </a:p>
        </p:txBody>
      </p:sp>
      <p:sp>
        <p:nvSpPr>
          <p:cNvPr id="16" name="Shape 14"/>
          <p:cNvSpPr/>
          <p:nvPr/>
        </p:nvSpPr>
        <p:spPr>
          <a:xfrm>
            <a:off x="6141568" y="2139696"/>
            <a:ext cx="2705024" cy="1005840"/>
          </a:xfrm>
          <a:prstGeom prst="roundRect">
            <a:avLst>
              <a:gd name="adj" fmla="val 14545"/>
            </a:avLst>
          </a:prstGeom>
          <a:solidFill>
            <a:srgbClr val="F2F5F8"/>
          </a:solidFill>
          <a:ln w="9525">
            <a:solidFill>
              <a:srgbClr val="E2E8F0"/>
            </a:solidFill>
            <a:prstDash val="solid"/>
          </a:ln>
        </p:spPr>
      </p:sp>
      <p:sp>
        <p:nvSpPr>
          <p:cNvPr id="17" name="Text 15"/>
          <p:cNvSpPr txBox="1"/>
          <p:nvPr/>
        </p:nvSpPr>
        <p:spPr>
          <a:xfrm>
            <a:off x="6324448" y="2139696"/>
            <a:ext cx="2339264" cy="100584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Rule on your labels; 6 clips</a:t>
            </a:r>
            <a:endParaRPr lang="en-US" sz="1500" dirty="0"/>
          </a:p>
        </p:txBody>
      </p:sp>
      <p:sp>
        <p:nvSpPr>
          <p:cNvPr id="18" name="Shape 16"/>
          <p:cNvSpPr/>
          <p:nvPr/>
        </p:nvSpPr>
        <p:spPr>
          <a:xfrm>
            <a:off x="8938031" y="2139696"/>
            <a:ext cx="2705024" cy="1005840"/>
          </a:xfrm>
          <a:prstGeom prst="roundRect">
            <a:avLst>
              <a:gd name="adj" fmla="val 14545"/>
            </a:avLst>
          </a:prstGeom>
          <a:solidFill>
            <a:srgbClr val="E2F3F1"/>
          </a:solidFill>
          <a:ln w="9525">
            <a:solidFill>
              <a:srgbClr val="E2F3F1"/>
            </a:solidFill>
            <a:prstDash val="solid"/>
          </a:ln>
        </p:spPr>
      </p:sp>
      <p:sp>
        <p:nvSpPr>
          <p:cNvPr id="19" name="Text 17"/>
          <p:cNvSpPr txBox="1"/>
          <p:nvPr/>
        </p:nvSpPr>
        <p:spPr>
          <a:xfrm>
            <a:off x="9120911" y="2139696"/>
            <a:ext cx="2339264" cy="100584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Clip-test result; final rule</a:t>
            </a:r>
            <a:endParaRPr lang="en-US" sz="1500" dirty="0"/>
          </a:p>
        </p:txBody>
      </p:sp>
      <p:sp>
        <p:nvSpPr>
          <p:cNvPr id="20" name="Owner Esmee"/>
          <p:cNvSpPr/>
          <p:nvPr/>
        </p:nvSpPr>
        <p:spPr>
          <a:xfrm>
            <a:off x="548640" y="3218688"/>
            <a:ext cx="1848433" cy="1005840"/>
          </a:xfrm>
          <a:prstGeom prst="roundRect">
            <a:avLst>
              <a:gd name="adj" fmla="val 14545"/>
            </a:avLst>
          </a:prstGeom>
          <a:solidFill>
            <a:srgbClr val="F2F5F8"/>
          </a:solidFill>
          <a:ln w="9525">
            <a:solidFill>
              <a:srgbClr val="E2E8F0"/>
            </a:solidFill>
            <a:prstDash val="solid"/>
          </a:ln>
        </p:spPr>
      </p:sp>
      <p:sp>
        <p:nvSpPr>
          <p:cNvPr id="21" name="Shape 19"/>
          <p:cNvSpPr/>
          <p:nvPr/>
        </p:nvSpPr>
        <p:spPr>
          <a:xfrm>
            <a:off x="694944" y="3511296"/>
            <a:ext cx="420624" cy="420624"/>
          </a:xfrm>
          <a:prstGeom prst="ellipse">
            <a:avLst/>
          </a:prstGeom>
          <a:solidFill>
            <a:srgbClr val="007D8C"/>
          </a:solidFill>
          <a:ln/>
        </p:spPr>
      </p:sp>
      <p:sp>
        <p:nvSpPr>
          <p:cNvPr id="22" name="Text 20"/>
          <p:cNvSpPr txBox="1"/>
          <p:nvPr/>
        </p:nvSpPr>
        <p:spPr>
          <a:xfrm>
            <a:off x="694944" y="3511296"/>
            <a:ext cx="420624" cy="420624"/>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E</a:t>
            </a:r>
            <a:endParaRPr lang="en-US" sz="1600" dirty="0"/>
          </a:p>
        </p:txBody>
      </p:sp>
      <p:sp>
        <p:nvSpPr>
          <p:cNvPr id="23" name="Text 21"/>
          <p:cNvSpPr txBox="1"/>
          <p:nvPr/>
        </p:nvSpPr>
        <p:spPr>
          <a:xfrm>
            <a:off x="1234440" y="3218688"/>
            <a:ext cx="1071193" cy="100584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Esmee</a:t>
            </a:r>
            <a:endParaRPr lang="en-US" sz="1600" dirty="0"/>
          </a:p>
        </p:txBody>
      </p:sp>
      <p:sp>
        <p:nvSpPr>
          <p:cNvPr id="24" name="Esmee question"/>
          <p:cNvSpPr/>
          <p:nvPr/>
        </p:nvSpPr>
        <p:spPr>
          <a:xfrm>
            <a:off x="2488513" y="3218688"/>
            <a:ext cx="3561615" cy="1005840"/>
          </a:xfrm>
          <a:prstGeom prst="roundRect">
            <a:avLst>
              <a:gd name="adj" fmla="val 14545"/>
            </a:avLst>
          </a:prstGeom>
          <a:solidFill>
            <a:srgbClr val="F2F5F8"/>
          </a:solidFill>
          <a:ln w="9525">
            <a:solidFill>
              <a:srgbClr val="E2E8F0"/>
            </a:solidFill>
            <a:prstDash val="solid"/>
          </a:ln>
        </p:spPr>
      </p:sp>
      <p:sp>
        <p:nvSpPr>
          <p:cNvPr id="25" name="Text 23"/>
          <p:cNvSpPr txBox="1"/>
          <p:nvPr/>
        </p:nvSpPr>
        <p:spPr>
          <a:xfrm>
            <a:off x="2671393" y="3218688"/>
            <a:ext cx="3195855" cy="1005840"/>
          </a:xfrm>
          <a:prstGeom prst="rect">
            <a:avLst/>
          </a:prstGeom>
          <a:noFill/>
          <a:ln/>
        </p:spPr>
        <p:txBody>
          <a:bodyPr wrap="square" lIns="0" tIns="0" rIns="0" bIns="0" rtlCol="0" anchor="ctr"/>
          <a:lstStyle/>
          <a:p>
            <a:pPr indent="0" marL="0">
              <a:buNone/>
            </a:pPr>
            <a:r>
              <a:rPr lang="en-US" sz="1500" b="1" dirty="0">
                <a:solidFill>
                  <a:srgbClr val="263D57"/>
                </a:solidFill>
                <a:latin typeface="Inter" pitchFamily="34" charset="0"/>
                <a:ea typeface="Inter" pitchFamily="34" charset="-122"/>
                <a:cs typeface="Inter" pitchFamily="34" charset="-120"/>
              </a:rPr>
              <a:t>Which drills, and how to draw them? </a:t>
            </a:r>
            <a:pPr indent="0" marL="0">
              <a:buNone/>
            </a:pPr>
            <a:r>
              <a:rPr lang="en-US" sz="1500" i="1" dirty="0">
                <a:solidFill>
                  <a:srgbClr val="5A6573"/>
                </a:solidFill>
                <a:latin typeface="Inter" pitchFamily="34" charset="0"/>
                <a:ea typeface="Inter" pitchFamily="34" charset="-122"/>
                <a:cs typeface="Inter" pitchFamily="34" charset="-120"/>
              </a:rPr>
              <a:t>· prototype</a:t>
            </a:r>
            <a:endParaRPr lang="en-US" sz="1500" dirty="0"/>
          </a:p>
        </p:txBody>
      </p:sp>
      <p:sp>
        <p:nvSpPr>
          <p:cNvPr id="26" name="Shape 24"/>
          <p:cNvSpPr/>
          <p:nvPr/>
        </p:nvSpPr>
        <p:spPr>
          <a:xfrm>
            <a:off x="6141568" y="3218688"/>
            <a:ext cx="2705024" cy="1005840"/>
          </a:xfrm>
          <a:prstGeom prst="roundRect">
            <a:avLst>
              <a:gd name="adj" fmla="val 14545"/>
            </a:avLst>
          </a:prstGeom>
          <a:solidFill>
            <a:srgbClr val="F2F5F8"/>
          </a:solidFill>
          <a:ln w="9525">
            <a:solidFill>
              <a:srgbClr val="E2E8F0"/>
            </a:solidFill>
            <a:prstDash val="solid"/>
          </a:ln>
        </p:spPr>
      </p:sp>
      <p:sp>
        <p:nvSpPr>
          <p:cNvPr id="27" name="Text 25"/>
          <p:cNvSpPr txBox="1"/>
          <p:nvPr/>
        </p:nvSpPr>
        <p:spPr>
          <a:xfrm>
            <a:off x="6324448" y="3218688"/>
            <a:ext cx="2339264" cy="100584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Template, 3 pilot cards</a:t>
            </a:r>
            <a:endParaRPr lang="en-US" sz="1500" dirty="0"/>
          </a:p>
        </p:txBody>
      </p:sp>
      <p:sp>
        <p:nvSpPr>
          <p:cNvPr id="28" name="Shape 26"/>
          <p:cNvSpPr/>
          <p:nvPr/>
        </p:nvSpPr>
        <p:spPr>
          <a:xfrm>
            <a:off x="8938031" y="3218688"/>
            <a:ext cx="2705024" cy="1005840"/>
          </a:xfrm>
          <a:prstGeom prst="roundRect">
            <a:avLst>
              <a:gd name="adj" fmla="val 14545"/>
            </a:avLst>
          </a:prstGeom>
          <a:solidFill>
            <a:srgbClr val="E2F3F1"/>
          </a:solidFill>
          <a:ln w="9525">
            <a:solidFill>
              <a:srgbClr val="E2F3F1"/>
            </a:solidFill>
            <a:prstDash val="solid"/>
          </a:ln>
        </p:spPr>
      </p:sp>
      <p:sp>
        <p:nvSpPr>
          <p:cNvPr id="29" name="Text 27"/>
          <p:cNvSpPr txBox="1"/>
          <p:nvPr/>
        </p:nvSpPr>
        <p:spPr>
          <a:xfrm>
            <a:off x="9120911" y="3218688"/>
            <a:ext cx="2339264" cy="100584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10 cards, 3 animated</a:t>
            </a:r>
            <a:endParaRPr lang="en-US" sz="1500" dirty="0"/>
          </a:p>
        </p:txBody>
      </p:sp>
      <p:sp>
        <p:nvSpPr>
          <p:cNvPr id="30" name="Owner Melina"/>
          <p:cNvSpPr/>
          <p:nvPr/>
        </p:nvSpPr>
        <p:spPr>
          <a:xfrm>
            <a:off x="548640" y="4297680"/>
            <a:ext cx="1848433" cy="1005840"/>
          </a:xfrm>
          <a:prstGeom prst="roundRect">
            <a:avLst>
              <a:gd name="adj" fmla="val 14545"/>
            </a:avLst>
          </a:prstGeom>
          <a:solidFill>
            <a:srgbClr val="F2F5F8"/>
          </a:solidFill>
          <a:ln w="9525">
            <a:solidFill>
              <a:srgbClr val="E2E8F0"/>
            </a:solidFill>
            <a:prstDash val="solid"/>
          </a:ln>
        </p:spPr>
      </p:sp>
      <p:sp>
        <p:nvSpPr>
          <p:cNvPr id="31" name="Shape 29"/>
          <p:cNvSpPr/>
          <p:nvPr/>
        </p:nvSpPr>
        <p:spPr>
          <a:xfrm>
            <a:off x="694944" y="4590288"/>
            <a:ext cx="420624" cy="420624"/>
          </a:xfrm>
          <a:prstGeom prst="ellipse">
            <a:avLst/>
          </a:prstGeom>
          <a:solidFill>
            <a:srgbClr val="41C5C5"/>
          </a:solidFill>
          <a:ln/>
        </p:spPr>
      </p:sp>
      <p:sp>
        <p:nvSpPr>
          <p:cNvPr id="32" name="Text 30"/>
          <p:cNvSpPr txBox="1"/>
          <p:nvPr/>
        </p:nvSpPr>
        <p:spPr>
          <a:xfrm>
            <a:off x="694944" y="4590288"/>
            <a:ext cx="420624" cy="420624"/>
          </a:xfrm>
          <a:prstGeom prst="rect">
            <a:avLst/>
          </a:prstGeom>
          <a:noFill/>
          <a:ln/>
        </p:spPr>
        <p:txBody>
          <a:bodyPr wrap="square" lIns="0" tIns="0" rIns="0" bIns="0" rtlCol="0" anchor="ctr"/>
          <a:lstStyle/>
          <a:p>
            <a:pPr algn="ctr" indent="0" marL="0">
              <a:buNone/>
            </a:pPr>
            <a:r>
              <a:rPr lang="en-US" sz="1600" dirty="0">
                <a:solidFill>
                  <a:srgbClr val="263D57"/>
                </a:solidFill>
                <a:latin typeface="Poppins SemiBold" pitchFamily="34" charset="0"/>
                <a:ea typeface="Poppins SemiBold" pitchFamily="34" charset="-122"/>
                <a:cs typeface="Poppins SemiBold" pitchFamily="34" charset="-120"/>
              </a:rPr>
              <a:t>M</a:t>
            </a:r>
            <a:endParaRPr lang="en-US" sz="1600" dirty="0"/>
          </a:p>
        </p:txBody>
      </p:sp>
      <p:sp>
        <p:nvSpPr>
          <p:cNvPr id="33" name="Text 31"/>
          <p:cNvSpPr txBox="1"/>
          <p:nvPr/>
        </p:nvSpPr>
        <p:spPr>
          <a:xfrm>
            <a:off x="1234440" y="4297680"/>
            <a:ext cx="1071193" cy="1005840"/>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Melina</a:t>
            </a:r>
            <a:endParaRPr lang="en-US" sz="1600" dirty="0"/>
          </a:p>
        </p:txBody>
      </p:sp>
      <p:sp>
        <p:nvSpPr>
          <p:cNvPr id="34" name="Melina question"/>
          <p:cNvSpPr/>
          <p:nvPr/>
        </p:nvSpPr>
        <p:spPr>
          <a:xfrm>
            <a:off x="2488513" y="4297680"/>
            <a:ext cx="3561615" cy="1005840"/>
          </a:xfrm>
          <a:prstGeom prst="roundRect">
            <a:avLst>
              <a:gd name="adj" fmla="val 14545"/>
            </a:avLst>
          </a:prstGeom>
          <a:solidFill>
            <a:srgbClr val="F2F5F8"/>
          </a:solidFill>
          <a:ln w="9525">
            <a:solidFill>
              <a:srgbClr val="E2E8F0"/>
            </a:solidFill>
            <a:prstDash val="solid"/>
          </a:ln>
        </p:spPr>
      </p:sp>
      <p:sp>
        <p:nvSpPr>
          <p:cNvPr id="35" name="Text 33"/>
          <p:cNvSpPr txBox="1"/>
          <p:nvPr/>
        </p:nvSpPr>
        <p:spPr>
          <a:xfrm>
            <a:off x="2671393" y="4297680"/>
            <a:ext cx="3195855" cy="1005840"/>
          </a:xfrm>
          <a:prstGeom prst="rect">
            <a:avLst/>
          </a:prstGeom>
          <a:noFill/>
          <a:ln/>
        </p:spPr>
        <p:txBody>
          <a:bodyPr wrap="square" lIns="0" tIns="0" rIns="0" bIns="0" rtlCol="0" anchor="ctr"/>
          <a:lstStyle/>
          <a:p>
            <a:pPr indent="0" marL="0">
              <a:buNone/>
            </a:pPr>
            <a:r>
              <a:rPr lang="en-US" sz="1500" b="1" dirty="0">
                <a:solidFill>
                  <a:srgbClr val="263D57"/>
                </a:solidFill>
                <a:latin typeface="Inter" pitchFamily="34" charset="0"/>
                <a:ea typeface="Inter" pitchFamily="34" charset="-122"/>
                <a:cs typeface="Inter" pitchFamily="34" charset="-120"/>
              </a:rPr>
              <a:t>Who uses data; will coaches use cards? </a:t>
            </a:r>
            <a:pPr indent="0" marL="0">
              <a:buNone/>
            </a:pPr>
            <a:r>
              <a:rPr lang="en-US" sz="1500" i="1" dirty="0">
                <a:solidFill>
                  <a:srgbClr val="5A6573"/>
                </a:solidFill>
                <a:latin typeface="Inter" pitchFamily="34" charset="0"/>
                <a:ea typeface="Inter" pitchFamily="34" charset="-122"/>
                <a:cs typeface="Inter" pitchFamily="34" charset="-120"/>
              </a:rPr>
              <a:t>· interviews, test</a:t>
            </a:r>
            <a:endParaRPr lang="en-US" sz="1500" dirty="0"/>
          </a:p>
        </p:txBody>
      </p:sp>
      <p:sp>
        <p:nvSpPr>
          <p:cNvPr id="36" name="Shape 34"/>
          <p:cNvSpPr/>
          <p:nvPr/>
        </p:nvSpPr>
        <p:spPr>
          <a:xfrm>
            <a:off x="6141568" y="4297680"/>
            <a:ext cx="2705024" cy="1005840"/>
          </a:xfrm>
          <a:prstGeom prst="roundRect">
            <a:avLst>
              <a:gd name="adj" fmla="val 14545"/>
            </a:avLst>
          </a:prstGeom>
          <a:solidFill>
            <a:srgbClr val="F2F5F8"/>
          </a:solidFill>
          <a:ln w="9525">
            <a:solidFill>
              <a:srgbClr val="E2E8F0"/>
            </a:solidFill>
            <a:prstDash val="solid"/>
          </a:ln>
        </p:spPr>
      </p:sp>
      <p:sp>
        <p:nvSpPr>
          <p:cNvPr id="37" name="Text 35"/>
          <p:cNvSpPr txBox="1"/>
          <p:nvPr/>
        </p:nvSpPr>
        <p:spPr>
          <a:xfrm>
            <a:off x="6324448" y="4297680"/>
            <a:ext cx="2339264" cy="100584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3 interviews, 2 coaches booked</a:t>
            </a:r>
            <a:endParaRPr lang="en-US" sz="1500" dirty="0"/>
          </a:p>
        </p:txBody>
      </p:sp>
      <p:sp>
        <p:nvSpPr>
          <p:cNvPr id="38" name="Shape 36"/>
          <p:cNvSpPr/>
          <p:nvPr/>
        </p:nvSpPr>
        <p:spPr>
          <a:xfrm>
            <a:off x="8938031" y="4297680"/>
            <a:ext cx="2705024" cy="1005840"/>
          </a:xfrm>
          <a:prstGeom prst="roundRect">
            <a:avLst>
              <a:gd name="adj" fmla="val 14545"/>
            </a:avLst>
          </a:prstGeom>
          <a:solidFill>
            <a:srgbClr val="E2F3F1"/>
          </a:solidFill>
          <a:ln w="9525">
            <a:solidFill>
              <a:srgbClr val="E2F3F1"/>
            </a:solidFill>
            <a:prstDash val="solid"/>
          </a:ln>
        </p:spPr>
      </p:sp>
      <p:sp>
        <p:nvSpPr>
          <p:cNvPr id="39" name="Text 37"/>
          <p:cNvSpPr txBox="1"/>
          <p:nvPr/>
        </p:nvSpPr>
        <p:spPr>
          <a:xfrm>
            <a:off x="9120911" y="4297680"/>
            <a:ext cx="2339264" cy="100584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Test with 5+ coaches</a:t>
            </a:r>
            <a:endParaRPr lang="en-US" sz="1500" dirty="0"/>
          </a:p>
        </p:txBody>
      </p:sp>
      <p:sp>
        <p:nvSpPr>
          <p:cNvPr id="40" name="Shape 38"/>
          <p:cNvSpPr/>
          <p:nvPr/>
        </p:nvSpPr>
        <p:spPr>
          <a:xfrm>
            <a:off x="548640" y="5541264"/>
            <a:ext cx="5455768" cy="512064"/>
          </a:xfrm>
          <a:prstGeom prst="roundRect">
            <a:avLst>
              <a:gd name="adj" fmla="val 17857"/>
            </a:avLst>
          </a:prstGeom>
          <a:solidFill>
            <a:srgbClr val="F2F5F8"/>
          </a:solidFill>
          <a:ln w="12700">
            <a:solidFill>
              <a:srgbClr val="263D57"/>
            </a:solidFill>
            <a:prstDash val="solid"/>
          </a:ln>
        </p:spPr>
      </p:sp>
      <p:sp>
        <p:nvSpPr>
          <p:cNvPr id="41" name="Text 39"/>
          <p:cNvSpPr txBox="1"/>
          <p:nvPr/>
        </p:nvSpPr>
        <p:spPr>
          <a:xfrm>
            <a:off x="749808" y="5541264"/>
            <a:ext cx="5053432" cy="512064"/>
          </a:xfrm>
          <a:prstGeom prst="rect">
            <a:avLst/>
          </a:prstGeom>
          <a:noFill/>
          <a:ln/>
        </p:spPr>
        <p:txBody>
          <a:bodyPr wrap="square" lIns="0" tIns="0" rIns="0" bIns="0" rtlCol="0" anchor="ctr"/>
          <a:lstStyle/>
          <a:p>
            <a:pPr indent="0" marL="0">
              <a:buNone/>
            </a:pPr>
            <a:r>
              <a:rPr lang="en-US" sz="1400" b="1" dirty="0">
                <a:solidFill>
                  <a:srgbClr val="263D57"/>
                </a:solidFill>
                <a:latin typeface="Inter" pitchFamily="34" charset="0"/>
                <a:ea typeface="Inter" pitchFamily="34" charset="-122"/>
                <a:cs typeface="Inter" pitchFamily="34" charset="-120"/>
              </a:rPr>
              <a:t>Tue 3 Nov, 17:00  ·  </a:t>
            </a:r>
            <a:pPr indent="0" marL="0">
              <a:buNone/>
            </a:pPr>
            <a:r>
              <a:rPr lang="en-US" sz="1400" dirty="0">
                <a:solidFill>
                  <a:srgbClr val="2A323C"/>
                </a:solidFill>
                <a:latin typeface="Inter" pitchFamily="34" charset="0"/>
                <a:ea typeface="Inter" pitchFamily="34" charset="-122"/>
                <a:cs typeface="Inter" pitchFamily="34" charset="-120"/>
              </a:rPr>
              <a:t>research approach</a:t>
            </a:r>
            <a:endParaRPr lang="en-US" sz="1400" dirty="0"/>
          </a:p>
        </p:txBody>
      </p:sp>
      <p:sp>
        <p:nvSpPr>
          <p:cNvPr id="42" name="Shape 40"/>
          <p:cNvSpPr/>
          <p:nvPr/>
        </p:nvSpPr>
        <p:spPr>
          <a:xfrm>
            <a:off x="6187288" y="5541264"/>
            <a:ext cx="5455768" cy="512064"/>
          </a:xfrm>
          <a:prstGeom prst="roundRect">
            <a:avLst>
              <a:gd name="adj" fmla="val 17857"/>
            </a:avLst>
          </a:prstGeom>
          <a:solidFill>
            <a:srgbClr val="F2F5F8"/>
          </a:solidFill>
          <a:ln w="12700">
            <a:solidFill>
              <a:srgbClr val="263D57"/>
            </a:solidFill>
            <a:prstDash val="solid"/>
          </a:ln>
        </p:spPr>
      </p:sp>
      <p:sp>
        <p:nvSpPr>
          <p:cNvPr id="43" name="Text 41"/>
          <p:cNvSpPr txBox="1"/>
          <p:nvPr/>
        </p:nvSpPr>
        <p:spPr>
          <a:xfrm>
            <a:off x="6388456" y="5541264"/>
            <a:ext cx="5053432" cy="512064"/>
          </a:xfrm>
          <a:prstGeom prst="rect">
            <a:avLst/>
          </a:prstGeom>
          <a:noFill/>
          <a:ln/>
        </p:spPr>
        <p:txBody>
          <a:bodyPr wrap="square" lIns="0" tIns="0" rIns="0" bIns="0" rtlCol="0" anchor="ctr"/>
          <a:lstStyle/>
          <a:p>
            <a:pPr indent="0" marL="0">
              <a:buNone/>
            </a:pPr>
            <a:r>
              <a:rPr lang="en-US" sz="1400" b="1" dirty="0">
                <a:solidFill>
                  <a:srgbClr val="263D57"/>
                </a:solidFill>
                <a:latin typeface="Inter" pitchFamily="34" charset="0"/>
                <a:ea typeface="Inter" pitchFamily="34" charset="-122"/>
                <a:cs typeface="Inter" pitchFamily="34" charset="-120"/>
              </a:rPr>
              <a:t>Thu 19 Nov  ·  </a:t>
            </a:r>
            <a:pPr indent="0" marL="0">
              <a:buNone/>
            </a:pPr>
            <a:r>
              <a:rPr lang="en-US" sz="1400" dirty="0">
                <a:solidFill>
                  <a:srgbClr val="2A323C"/>
                </a:solidFill>
                <a:latin typeface="Inter" pitchFamily="34" charset="0"/>
                <a:ea typeface="Inter" pitchFamily="34" charset="-122"/>
                <a:cs typeface="Inter" pitchFamily="34" charset="-120"/>
              </a:rPr>
              <a:t>final report</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rainsFirst brand">
  <a:themeElements>
    <a:clrScheme name="BrainsFirst brand">
      <a:dk1>
        <a:srgbClr val="2A323C"/>
      </a:dk1>
      <a:lt1>
        <a:srgbClr val="FFFFFF"/>
      </a:lt1>
      <a:dk2>
        <a:srgbClr val="263D57"/>
      </a:dk2>
      <a:lt2>
        <a:srgbClr val="F2F5F8"/>
      </a:lt2>
      <a:accent1>
        <a:srgbClr val="41C5C5"/>
      </a:accent1>
      <a:accent2>
        <a:srgbClr val="3A506B"/>
      </a:accent2>
      <a:accent3>
        <a:srgbClr val="007D8C"/>
      </a:accent3>
      <a:accent4>
        <a:srgbClr val="EABF23"/>
      </a:accent4>
      <a:accent5>
        <a:srgbClr val="88A0BF"/>
      </a:accent5>
      <a:accent6>
        <a:srgbClr val="EB5E28"/>
      </a:accent6>
      <a:hlink>
        <a:srgbClr val="007D8C"/>
      </a:hlink>
      <a:folHlink>
        <a:srgbClr val="476385"/>
      </a:folHlink>
    </a:clrScheme>
    <a:fontScheme name="BrainsFirst brand">
      <a:majorFont>
        <a:latin typeface="Poppi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BrainsFirst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brain to pitch (v3)</dc:title>
  <dc:subject>PptxGenJS Presentation</dc:subject>
  <dc:creator>Ilja Sligte</dc:creator>
  <cp:lastModifiedBy>Ilja Sligte</cp:lastModifiedBy>
  <cp:revision>1</cp:revision>
  <dcterms:created xsi:type="dcterms:W3CDTF">2026-10-28T14:39:27Z</dcterms:created>
  <dcterms:modified xsi:type="dcterms:W3CDTF">2026-10-28T14:39:27Z</dcterms:modified>
</cp:coreProperties>
</file>