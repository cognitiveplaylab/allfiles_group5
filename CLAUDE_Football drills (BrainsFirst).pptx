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78005d8-66ee-10d4-c6aa-2978de282f19}">
          <p14:sldIdLst>
            <p14:sldId id="256"/>
          </p14:sldIdLst>
        </p14:section>
        <p14:section name="Users" id="{89f6d521-09b2-12ce-4b73-278792ef4ab5}">
          <p14:sldIdLst>
            <p14:sldId id="257"/>
          </p14:sldIdLst>
        </p14:section>
        <p14:section name="Evidence and design" id="{887a8906-98e4-5880-1dc3-c8a95b6efc3a}">
          <p14:sldIdLst>
            <p14:sldId id="258"/>
            <p14:sldId id="259"/>
            <p14:sldId id="260"/>
          </p14:sldIdLst>
        </p14:section>
        <p14:section name="Product" id="{0e2d6c5c-1c2a-fe2f-7806-c2d457e6f389}">
          <p14:sldIdLst>
            <p14:sldId id="261"/>
            <p14:sldId id="262"/>
            <p14:sldId id="263"/>
          </p14:sldIdLst>
        </p14:section>
        <p14:section name="Plan" id="{3a75c20f-c03d-a04e-7ebd-95a22045eb0d}">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One-line position: BrainsFirst has the data, the coach has the pitch; the missing step is a drill change the coach can run tonight, for one to three players, with one behaviour to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Maps the first bullet of the brief. The coach decides about tonight; the head of academy about progression; the board about return. Only the coach needs a new product in four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Sala &amp; Gobet 2020 (Psychonomic Bulletin &amp; Review); Romeas, Goujat, Faubert &amp; Labbé 2025 (Psychology of Sport &amp; Exercise 76:102770); Zhu et al. 2024 (Behavioral Sciences 14:919); Kalén et al. 2021 (Psychological Bulletin). Moving training onto the pitch shortens the transfer distance but does not remove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come from representative learning design, the challenge point framework (Guadagnoli &amp; Lee 2004; Hodges &amp; Lohse 2022) and dual-task evidence in youth football.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'weaker executive functions gain most' (Diamond &amp; Lee 2011) concerns test gains in 4–12-year-olds and is partly regression to the mean (Smoleń et al. 2018). Balanced profiles beat single extreme strengths in Swiss U13 players (Zuber et al. 2016). EF matures fastest between 10 and 15 and plateaus around 18–21.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Scanning evidence: Jordet et al. 2020 (Premier League, small effect on pass completion); Hintermann et al. 2025 (prompts raise scanning). The rondo and four-goal rules rest on coaching logic and are labelled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is the second deliverable in the brief. Esmee owns it; the success test is that BrainsFirst staff can add a card in under 30 minutes without the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of concept is usage, not effect. Fidelity and one behaviour count prepare the later effect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person owns one deliverable from the brief. Friday 30 October is a two-day sprint, so the first deadline is about scope and bookings; 13 November is the build-and-test checkpoint.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asks, so the client meeting ends with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F_CONTENT">
    <p:bg>
      <p:bgPr>
        <a:solidFill>
          <a:srgbClr val="FFFFFF"/>
        </a:solidFill>
      </p:bgPr>
    </p:bg>
    <p:spTree>
      <p:nvGrpSpPr>
        <p:cNvPr id="1" name=""/>
        <p:cNvGrpSpPr/>
        <p:nvPr/>
      </p:nvGrpSpPr>
      <p:grpSpPr>
        <a:xfrm>
          <a:off x="0" y="0"/>
          <a:ext cx="0" cy="0"/>
          <a:chOff x="0" y="0"/>
          <a:chExt cx="0" cy="0"/>
        </a:xfrm>
      </p:grpSpPr>
      <p:pic>
        <p:nvPicPr>
          <p:cNvPr id="2" name="Image 0" descr="/home/claude/decks/assets/logo-navy-horizontal.png">    </p:cNvPr>
          <p:cNvPicPr>
            <a:picLocks noChangeAspect="1"/>
          </p:cNvPicPr>
          <p:nvPr/>
        </p:nvPicPr>
        <p:blipFill>
          <a:blip r:embed="rId1"/>
          <a:stretch>
            <a:fillRect/>
          </a:stretch>
        </p:blipFill>
        <p:spPr>
          <a:xfrm>
            <a:off x="10225735" y="384048"/>
            <a:ext cx="1417320" cy="384048"/>
          </a:xfrm>
          <a:prstGeom prst="rect">
            <a:avLst/>
          </a:prstGeom>
        </p:spPr>
      </p:pic>
      <p:sp>
        <p:nvSpPr>
          <p:cNvPr id="3" name="Text 0"/>
          <p:cNvSpPr/>
          <p:nvPr/>
        </p:nvSpPr>
        <p:spPr>
          <a:xfrm>
            <a:off x="11426342" y="6263640"/>
            <a:ext cx="155448" cy="155448"/>
          </a:xfrm>
          <a:prstGeom prst="ellipse">
            <a:avLst/>
          </a:prstGeom>
          <a:solidFill>
            <a:srgbClr val="41C5C5"/>
          </a:solidFill>
          <a:ln>
            <a:solidFill>
              <a:srgbClr val="41C5C5"/>
            </a:solidFill>
          </a:ln>
        </p:spPr>
        <p:txBody>
          <a:bodyPr wrap="square" rtlCol="0" anchor="ctr"/>
          <a:lstStyle/>
          <a:p>
            <a:pPr indent="0" marL="0">
              <a:buNone/>
            </a:pPr>
            <a:endParaRPr lang="en-US" dirty="0"/>
          </a:p>
        </p:txBody>
      </p:sp>
      <p:sp>
        <p:nvSpPr>
          <p:cNvPr id="4" name="Text 1"/>
          <p:cNvSpPr/>
          <p:nvPr/>
        </p:nvSpPr>
        <p:spPr>
          <a:xfrm>
            <a:off x="548640" y="6382512"/>
            <a:ext cx="8229600" cy="274320"/>
          </a:xfrm>
          <a:prstGeom prst="rect">
            <a:avLst/>
          </a:prstGeom>
          <a:noFill/>
          <a:ln/>
        </p:spPr>
        <p:txBody>
          <a:bodyPr wrap="square" lIns="0" tIns="0" rIns="0" bIns="0" rtlCol="0" anchor="ctr"/>
          <a:lstStyle/>
          <a:p>
            <a:pPr indent="0" marL="0">
              <a:buNone/>
            </a:pPr>
            <a:r>
              <a:rPr lang="en-US" sz="1000" dirty="0">
                <a:solidFill>
                  <a:srgbClr val="8A94A3"/>
                </a:solidFill>
                <a:latin typeface="Inter" pitchFamily="34" charset="0"/>
                <a:ea typeface="Inter" pitchFamily="34" charset="-122"/>
                <a:cs typeface="Inter" pitchFamily="34" charset="-120"/>
              </a:rPr>
              <a:t>BrainsFirst  ·  RWCS 2026 · Group 5 · From brain to pitch</a:t>
            </a:r>
            <a:endParaRPr lang="en-US" sz="1000" dirty="0"/>
          </a:p>
        </p:txBody>
      </p:sp>
      <p:sp>
        <p:nvSpPr>
          <p:cNvPr id="5" name="Text 2"/>
          <p:cNvSpPr/>
          <p:nvPr>
            <p:ph idx="103" type="body" hasCustomPrompt="1"/>
          </p:nvPr>
        </p:nvSpPr>
        <p:spPr>
          <a:xfrm>
            <a:off x="548640" y="402336"/>
            <a:ext cx="8229600" cy="274320"/>
          </a:xfrm>
          <a:prstGeom prst="rect">
            <a:avLst/>
          </a:prstGeom>
          <a:noFill/>
          <a:ln/>
        </p:spPr>
        <p:txBody>
          <a:bodyPr wrap="square" rtlCol="0"/>
          <a:lstStyle>
            <a:lvl1pPr algn="l" indent="0" marL="0">
              <a:buNone/>
              <a:defRPr lang="en-US" sz="1200" b="1" spc="200" kern="0" dirty="0">
                <a:solidFill>
                  <a:srgbClr val="41C5C5"/>
                </a:solidFill>
                <a:latin typeface="Inter" pitchFamily="34" charset="0"/>
                <a:ea typeface="Inter" pitchFamily="34" charset="-122"/>
                <a:cs typeface="Inter" pitchFamily="34" charset="-120"/>
              </a:defRPr>
            </a:lvl1pPr>
          </a:lstStyle>
          <a:p>
            <a:pPr algn="l" indent="0" marL="0">
              <a:buNone/>
            </a:pPr>
            <a:endParaRPr lang="en-US" sz="1200" dirty="0"/>
          </a:p>
        </p:txBody>
      </p:sp>
      <p:sp>
        <p:nvSpPr>
          <p:cNvPr id="6" name="Text 2"/>
          <p:cNvSpPr/>
          <p:nvPr>
            <p:ph idx="104" type="title" hasCustomPrompt="1"/>
          </p:nvPr>
        </p:nvSpPr>
        <p:spPr>
          <a:xfrm>
            <a:off x="548640" y="731520"/>
            <a:ext cx="9509760" cy="713232"/>
          </a:xfrm>
          <a:prstGeom prst="rect">
            <a:avLst/>
          </a:prstGeom>
          <a:noFill/>
          <a:ln/>
        </p:spPr>
        <p:txBody>
          <a:bodyPr wrap="square" rtlCol="0"/>
          <a:lstStyle>
            <a:lvl1pPr algn="l" indent="0" marL="0">
              <a:buNone/>
              <a:defRPr lang="en-US" sz="2600" dirty="0">
                <a:solidFill>
                  <a:srgbClr val="263D57"/>
                </a:solidFill>
                <a:latin typeface="Poppins SemiBold" pitchFamily="34" charset="0"/>
                <a:ea typeface="Poppins SemiBold" pitchFamily="34" charset="-122"/>
                <a:cs typeface="Poppins SemiBold"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0774375"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Inter"/>
                <a:ea typeface="Inter"/>
                <a:cs typeface="Inter"/>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F_DARK">
    <p:bg>
      <p:bgPr>
        <a:solidFill>
          <a:srgbClr val="3A506B"/>
        </a:solidFill>
      </p:bgPr>
    </p:bg>
    <p:spTree>
      <p:nvGrpSpPr>
        <p:cNvPr id="1" name=""/>
        <p:cNvGrpSpPr/>
        <p:nvPr/>
      </p:nvGrpSpPr>
      <p:grpSpPr>
        <a:xfrm>
          <a:off x="0" y="0"/>
          <a:ext cx="0" cy="0"/>
          <a:chOff x="0" y="0"/>
          <a:chExt cx="0" cy="0"/>
        </a:xfrm>
      </p:grpSpPr>
      <p:pic>
        <p:nvPicPr>
          <p:cNvPr id="2" name="Image 0" descr="/home/claude/decks/assets/logo-white-horizontal.png">    </p:cNvPr>
          <p:cNvPicPr>
            <a:picLocks noChangeAspect="1"/>
          </p:cNvPicPr>
          <p:nvPr/>
        </p:nvPicPr>
        <p:blipFill>
          <a:blip r:embed="rId1"/>
          <a:stretch>
            <a:fillRect/>
          </a:stretch>
        </p:blipFill>
        <p:spPr>
          <a:xfrm>
            <a:off x="10225735" y="384048"/>
            <a:ext cx="1417320" cy="384048"/>
          </a:xfrm>
          <a:prstGeom prst="rect">
            <a:avLst/>
          </a:prstGeom>
        </p:spPr>
      </p:pic>
      <p:sp>
        <p:nvSpPr>
          <p:cNvPr id="3" name="Shape 0"/>
          <p:cNvSpPr/>
          <p:nvPr/>
        </p:nvSpPr>
        <p:spPr>
          <a:xfrm>
            <a:off x="609905" y="6343650"/>
            <a:ext cx="10438790" cy="0"/>
          </a:xfrm>
          <a:prstGeom prst="line">
            <a:avLst/>
          </a:prstGeom>
          <a:noFill/>
          <a:ln w="19050">
            <a:solidFill>
              <a:srgbClr val="718194"/>
            </a:solidFill>
            <a:prstDash val="solid"/>
          </a:ln>
        </p:spPr>
      </p:sp>
      <p:sp>
        <p:nvSpPr>
          <p:cNvPr id="4" name="Text 1"/>
          <p:cNvSpPr/>
          <p:nvPr/>
        </p:nvSpPr>
        <p:spPr>
          <a:xfrm>
            <a:off x="11426342" y="6263640"/>
            <a:ext cx="155448" cy="155448"/>
          </a:xfrm>
          <a:prstGeom prst="ellipse">
            <a:avLst/>
          </a:prstGeom>
          <a:solidFill>
            <a:srgbClr val="41C5C5"/>
          </a:solidFill>
          <a:ln>
            <a:solidFill>
              <a:srgbClr val="41C5C5"/>
            </a:solidFill>
          </a:ln>
        </p:spPr>
        <p:txBody>
          <a:bodyPr wrap="square" rtlCol="0" anchor="ctr"/>
          <a:lstStyle/>
          <a:p>
            <a:pPr indent="0" marL="0">
              <a:buNone/>
            </a:pPr>
            <a:endParaRPr lang="en-US" dirty="0"/>
          </a:p>
        </p:txBody>
      </p:sp>
      <p:sp>
        <p:nvSpPr>
          <p:cNvPr id="5" name="Text 2"/>
          <p:cNvSpPr/>
          <p:nvPr>
            <p:ph idx="103" type="body" hasCustomPrompt="1"/>
          </p:nvPr>
        </p:nvSpPr>
        <p:spPr>
          <a:xfrm>
            <a:off x="548640" y="402336"/>
            <a:ext cx="8229600" cy="274320"/>
          </a:xfrm>
          <a:prstGeom prst="rect">
            <a:avLst/>
          </a:prstGeom>
          <a:noFill/>
          <a:ln/>
        </p:spPr>
        <p:txBody>
          <a:bodyPr wrap="square" rtlCol="0"/>
          <a:lstStyle>
            <a:lvl1pPr algn="l" indent="0" marL="0">
              <a:buNone/>
              <a:defRPr lang="en-US" sz="1200" b="1" spc="200" kern="0" dirty="0">
                <a:solidFill>
                  <a:srgbClr val="41C5C5"/>
                </a:solidFill>
                <a:latin typeface="Inter" pitchFamily="34" charset="0"/>
                <a:ea typeface="Inter" pitchFamily="34" charset="-122"/>
                <a:cs typeface="Inter" pitchFamily="34" charset="-120"/>
              </a:defRPr>
            </a:lvl1pPr>
          </a:lstStyle>
          <a:p>
            <a:pPr algn="l" indent="0" marL="0">
              <a:buNone/>
            </a:pPr>
            <a:endParaRPr lang="en-US" sz="1200" dirty="0"/>
          </a:p>
        </p:txBody>
      </p:sp>
      <p:sp>
        <p:nvSpPr>
          <p:cNvPr id="6" name="Text 2"/>
          <p:cNvSpPr/>
          <p:nvPr>
            <p:ph idx="104" type="title" hasCustomPrompt="1"/>
          </p:nvPr>
        </p:nvSpPr>
        <p:spPr>
          <a:xfrm>
            <a:off x="548640" y="731520"/>
            <a:ext cx="9509760" cy="713232"/>
          </a:xfrm>
          <a:prstGeom prst="rect">
            <a:avLst/>
          </a:prstGeom>
          <a:noFill/>
          <a:ln/>
        </p:spPr>
        <p:txBody>
          <a:bodyPr wrap="square" rtlCol="0"/>
          <a:lstStyle>
            <a:lvl1pPr algn="l" indent="0" marL="0">
              <a:buNone/>
              <a:defRPr lang="en-US" sz="2600" dirty="0">
                <a:solidFill>
                  <a:srgbClr val="FFFFFF"/>
                </a:solidFill>
                <a:latin typeface="Poppins SemiBold" pitchFamily="34" charset="0"/>
                <a:ea typeface="Poppins SemiBold" pitchFamily="34" charset="-122"/>
                <a:cs typeface="Poppins SemiBold"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0774375"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C0D4"/>
                </a:solidFill>
                <a:latin typeface="Inter"/>
                <a:ea typeface="Inter"/>
                <a:cs typeface="Inter"/>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F_COVER">
    <p:bg>
      <p:bgPr>
        <a:solidFill>
          <a:srgbClr val="3A506B"/>
        </a:solidFill>
      </p:bgPr>
    </p:bg>
    <p:spTree>
      <p:nvGrpSpPr>
        <p:cNvPr id="1" name=""/>
        <p:cNvGrpSpPr/>
        <p:nvPr/>
      </p:nvGrpSpPr>
      <p:grpSpPr>
        <a:xfrm>
          <a:off x="0" y="0"/>
          <a:ext cx="0" cy="0"/>
          <a:chOff x="0" y="0"/>
          <a:chExt cx="0" cy="0"/>
        </a:xfrm>
      </p:grpSpPr>
      <p:pic>
        <p:nvPicPr>
          <p:cNvPr id="2" name="Image 0" descr="/home/claude/decks/assets/logo-white-horizontal.png">    </p:cNvPr>
          <p:cNvPicPr>
            <a:picLocks noChangeAspect="1"/>
          </p:cNvPicPr>
          <p:nvPr/>
        </p:nvPicPr>
        <p:blipFill>
          <a:blip r:embed="rId1"/>
          <a:stretch>
            <a:fillRect/>
          </a:stretch>
        </p:blipFill>
        <p:spPr>
          <a:xfrm>
            <a:off x="609905" y="530352"/>
            <a:ext cx="1188720" cy="323698"/>
          </a:xfrm>
          <a:prstGeom prst="rect">
            <a:avLst/>
          </a:prstGeom>
        </p:spPr>
      </p:pic>
      <p:sp>
        <p:nvSpPr>
          <p:cNvPr id="3" name="Text 0"/>
          <p:cNvSpPr/>
          <p:nvPr/>
        </p:nvSpPr>
        <p:spPr>
          <a:xfrm>
            <a:off x="609905" y="1428750"/>
            <a:ext cx="10972800" cy="4000500"/>
          </a:xfrm>
          <a:prstGeom prst="roundRect">
            <a:avLst>
              <a:gd name="adj" fmla="val 1829"/>
            </a:avLst>
          </a:prstGeom>
          <a:solidFill>
            <a:srgbClr val="3A506B"/>
          </a:solidFill>
          <a:ln w="12700">
            <a:solidFill>
              <a:srgbClr val="718194"/>
            </a:solidFill>
          </a:ln>
        </p:spPr>
        <p:txBody>
          <a:bodyPr wrap="square" rtlCol="0" anchor="ctr"/>
          <a:lstStyle/>
          <a:p>
            <a:pPr indent="0" marL="0">
              <a:buNone/>
            </a:pPr>
            <a:endParaRPr lang="en-US" dirty="0"/>
          </a:p>
        </p:txBody>
      </p:sp>
      <p:pic>
        <p:nvPicPr>
          <p:cNvPr id="4" name="Image 1" descr="/home/claude/decks/assets/breintje2.png">    </p:cNvPr>
          <p:cNvPicPr>
            <a:picLocks noChangeAspect="1"/>
          </p:cNvPicPr>
          <p:nvPr/>
        </p:nvPicPr>
        <p:blipFill>
          <a:blip r:embed="rId2"/>
          <a:stretch>
            <a:fillRect/>
          </a:stretch>
        </p:blipFill>
        <p:spPr>
          <a:xfrm>
            <a:off x="8427110" y="1920240"/>
            <a:ext cx="2834640" cy="2441448"/>
          </a:xfrm>
          <a:prstGeom prst="rect">
            <a:avLst/>
          </a:prstGeom>
        </p:spPr>
      </p:pic>
      <p:sp>
        <p:nvSpPr>
          <p:cNvPr id="5" name="Shape 1"/>
          <p:cNvSpPr/>
          <p:nvPr/>
        </p:nvSpPr>
        <p:spPr>
          <a:xfrm>
            <a:off x="609905" y="6343650"/>
            <a:ext cx="10438790" cy="0"/>
          </a:xfrm>
          <a:prstGeom prst="line">
            <a:avLst/>
          </a:prstGeom>
          <a:noFill/>
          <a:ln w="19050">
            <a:solidFill>
              <a:srgbClr val="718194"/>
            </a:solidFill>
            <a:prstDash val="solid"/>
          </a:ln>
        </p:spPr>
      </p:sp>
      <p:sp>
        <p:nvSpPr>
          <p:cNvPr id="6" name="Text 2"/>
          <p:cNvSpPr/>
          <p:nvPr/>
        </p:nvSpPr>
        <p:spPr>
          <a:xfrm>
            <a:off x="11426342" y="6263640"/>
            <a:ext cx="155448" cy="155448"/>
          </a:xfrm>
          <a:prstGeom prst="ellipse">
            <a:avLst/>
          </a:prstGeom>
          <a:solidFill>
            <a:srgbClr val="41C5C5"/>
          </a:solidFill>
          <a:ln>
            <a:solidFill>
              <a:srgbClr val="41C5C5"/>
            </a:solidFill>
          </a:ln>
        </p:spPr>
        <p:txBody>
          <a:bodyPr wrap="square" rtlCol="0" anchor="ctr"/>
          <a:lstStyle/>
          <a:p>
            <a:pPr indent="0" marL="0">
              <a:buNone/>
            </a:pPr>
            <a:endParaRPr lang="en-US" dirty="0"/>
          </a:p>
        </p:txBody>
      </p:sp>
      <p:sp>
        <p:nvSpPr>
          <p:cNvPr id="7" name="Text 3"/>
          <p:cNvSpPr/>
          <p:nvPr>
            <p:ph idx="105" type="title" hasCustomPrompt="1"/>
          </p:nvPr>
        </p:nvSpPr>
        <p:spPr>
          <a:xfrm>
            <a:off x="1298448" y="2148840"/>
            <a:ext cx="7223760" cy="1600200"/>
          </a:xfrm>
          <a:prstGeom prst="rect">
            <a:avLst/>
          </a:prstGeom>
          <a:noFill/>
          <a:ln/>
        </p:spPr>
        <p:txBody>
          <a:bodyPr wrap="square" rtlCol="0"/>
          <a:lstStyle>
            <a:lvl1pPr algn="l" indent="0" marL="0">
              <a:buNone/>
              <a:defRPr lang="en-US" sz="4200" dirty="0">
                <a:solidFill>
                  <a:srgbClr val="FFFFFF"/>
                </a:solidFill>
                <a:latin typeface="Poppins Black" pitchFamily="34" charset="0"/>
                <a:ea typeface="Poppins Black" pitchFamily="34" charset="-122"/>
                <a:cs typeface="Poppins Black" pitchFamily="34" charset="-120"/>
              </a:defRPr>
            </a:lvl1pPr>
          </a:lstStyle>
          <a:p>
            <a:pPr algn="l" indent="0" marL="0">
              <a:buNone/>
            </a:pPr>
            <a:endParaRPr lang="en-US" sz="4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74375"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Inter"/>
                <a:ea typeface="Inter"/>
                <a:cs typeface="Inter"/>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2.xml"/><Relationship Id="rId10"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1298448" y="1783080"/>
            <a:ext cx="6766560" cy="274320"/>
          </a:xfrm>
          <a:prstGeom prst="rect">
            <a:avLst/>
          </a:prstGeom>
          <a:noFill/>
          <a:ln/>
        </p:spPr>
        <p:txBody>
          <a:bodyPr wrap="square" lIns="0" tIns="0" rIns="0" bIns="0" rtlCol="0" anchor="ctr"/>
          <a:lstStyle/>
          <a:p>
            <a:pPr indent="0" marL="0">
              <a:buNone/>
            </a:pPr>
            <a:r>
              <a:rPr lang="en-US" sz="1150" b="1" spc="200" kern="0" dirty="0">
                <a:solidFill>
                  <a:srgbClr val="41C5C5"/>
                </a:solidFill>
                <a:latin typeface="Inter" pitchFamily="34" charset="0"/>
                <a:ea typeface="Inter" pitchFamily="34" charset="-122"/>
                <a:cs typeface="Inter" pitchFamily="34" charset="-120"/>
              </a:rPr>
              <a:t>BRAINSFIRST CASE · RWCS 2026 · GROUP 5</a:t>
            </a:r>
            <a:endParaRPr lang="en-US" sz="1150" dirty="0"/>
          </a:p>
        </p:txBody>
      </p:sp>
      <p:sp>
        <p:nvSpPr>
          <p:cNvPr id="3" name="Text 3"/>
          <p:cNvSpPr/>
          <p:nvPr>
            <p:ph idx="105" type="title" hasCustomPrompt="1"/>
          </p:nvPr>
        </p:nvSpPr>
        <p:spPr>
          <a:xfrm>
            <a:off x="1298448" y="2148840"/>
            <a:ext cx="7223760" cy="1600200"/>
          </a:xfrm>
          <a:prstGeom prst="rect">
            <a:avLst/>
          </a:prstGeom>
          <a:noFill/>
          <a:ln/>
        </p:spPr>
        <p:txBody>
          <a:bodyPr wrap="square" lIns="0" tIns="0" rIns="0" bIns="0" rtlCol="0" anchor="b"/>
          <a:lstStyle/>
          <a:p>
            <a:pPr algn="l" indent="0" marL="0">
              <a:buNone/>
            </a:pPr>
            <a:r>
              <a:rPr lang="en-US" sz="4200" dirty="0">
                <a:solidFill>
                  <a:srgbClr val="FFFFFF"/>
                </a:solidFill>
                <a:latin typeface="Poppins Black" pitchFamily="34" charset="0"/>
                <a:ea typeface="Poppins Black" pitchFamily="34" charset="-122"/>
                <a:cs typeface="Poppins Black" pitchFamily="34" charset="-120"/>
              </a:rPr>
              <a:t>From brain to pitch</a:t>
            </a:r>
            <a:endParaRPr lang="en-US" sz="4200" dirty="0"/>
          </a:p>
        </p:txBody>
      </p:sp>
      <p:sp>
        <p:nvSpPr>
          <p:cNvPr id="4" name="Text 2"/>
          <p:cNvSpPr txBox="1"/>
          <p:nvPr/>
        </p:nvSpPr>
        <p:spPr>
          <a:xfrm>
            <a:off x="1298448" y="3931920"/>
            <a:ext cx="6400800" cy="1097280"/>
          </a:xfrm>
          <a:prstGeom prst="rect">
            <a:avLst/>
          </a:prstGeom>
          <a:noFill/>
          <a:ln/>
        </p:spPr>
        <p:txBody>
          <a:bodyPr wrap="square" lIns="0" tIns="0" rIns="0" bIns="0" rtlCol="0" anchor="t"/>
          <a:lstStyle/>
          <a:p>
            <a:pPr indent="0" marL="0">
              <a:buNone/>
            </a:pPr>
            <a:r>
              <a:rPr lang="en-US" sz="1600" dirty="0">
                <a:solidFill>
                  <a:srgbClr val="D3DAE3"/>
                </a:solidFill>
                <a:latin typeface="Inter" pitchFamily="34" charset="0"/>
                <a:ea typeface="Inter" pitchFamily="34" charset="-122"/>
                <a:cs typeface="Inter" pitchFamily="34" charset="-120"/>
              </a:rPr>
              <a:t>Drills that exaggerate the match situations a player finds hard, with one thing to count so the coach sees whether it works.</a:t>
            </a:r>
            <a:endParaRPr lang="en-US" sz="1600" dirty="0"/>
          </a:p>
        </p:txBody>
      </p:sp>
      <p:sp>
        <p:nvSpPr>
          <p:cNvPr id="5" name="Text 3"/>
          <p:cNvSpPr txBox="1"/>
          <p:nvPr/>
        </p:nvSpPr>
        <p:spPr>
          <a:xfrm>
            <a:off x="609905" y="5943600"/>
            <a:ext cx="8229600" cy="274320"/>
          </a:xfrm>
          <a:prstGeom prst="rect">
            <a:avLst/>
          </a:prstGeom>
          <a:noFill/>
          <a:ln/>
        </p:spPr>
        <p:txBody>
          <a:bodyPr wrap="square" lIns="0" tIns="0" rIns="0" bIns="0" rtlCol="0" anchor="ctr"/>
          <a:lstStyle/>
          <a:p>
            <a:pPr indent="0" marL="0">
              <a:buNone/>
            </a:pPr>
            <a:r>
              <a:rPr lang="en-US" sz="1100" dirty="0">
                <a:solidFill>
                  <a:srgbClr val="AFC0D4"/>
                </a:solidFill>
                <a:latin typeface="Inter" pitchFamily="34" charset="0"/>
                <a:ea typeface="Inter" pitchFamily="34" charset="-122"/>
                <a:cs typeface="Inter" pitchFamily="34" charset="-120"/>
              </a:rPr>
              <a:t>Hugo · Esmee · Melina  |  Client reference version · 28 October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3" type="body" hasCustomPrompt="1"/>
          </p:nvPr>
        </p:nvSpPr>
        <p:spPr>
          <a:xfrm>
            <a:off x="548640" y="402336"/>
            <a:ext cx="8229600" cy="274320"/>
          </a:xfrm>
          <a:prstGeom prst="rect">
            <a:avLst/>
          </a:prstGeom>
          <a:noFill/>
          <a:ln/>
        </p:spPr>
        <p:txBody>
          <a:bodyPr wrap="square" lIns="0" tIns="0" rIns="0" bIns="0" rtlCol="0" anchor="t"/>
          <a:lstStyle/>
          <a:p>
            <a:pPr algn="l" indent="0" marL="0">
              <a:buNone/>
            </a:pPr>
            <a:r>
              <a:rPr lang="en-US" sz="1200" b="1" spc="200" kern="0" dirty="0">
                <a:solidFill>
                  <a:srgbClr val="41C5C5"/>
                </a:solidFill>
                <a:latin typeface="Inter" pitchFamily="34" charset="0"/>
                <a:ea typeface="Inter" pitchFamily="34" charset="-122"/>
                <a:cs typeface="Inter" pitchFamily="34" charset="-120"/>
              </a:rPr>
              <a:t>USERS</a:t>
            </a:r>
            <a:endParaRPr lang="en-US" sz="1200" dirty="0"/>
          </a:p>
        </p:txBody>
      </p:sp>
      <p:sp>
        <p:nvSpPr>
          <p:cNvPr id="3" name="Text 2"/>
          <p:cNvSpPr/>
          <p:nvPr>
            <p:ph idx="104" type="title" hasCustomPrompt="1"/>
          </p:nvPr>
        </p:nvSpPr>
        <p:spPr>
          <a:xfrm>
            <a:off x="548640" y="731520"/>
            <a:ext cx="9509760" cy="713232"/>
          </a:xfrm>
          <a:prstGeom prst="rect">
            <a:avLst/>
          </a:prstGeom>
          <a:noFill/>
          <a:ln/>
        </p:spPr>
        <p:txBody>
          <a:bodyPr wrap="square" lIns="0" tIns="0" rIns="0" bIns="0" rtlCol="0" anchor="t"/>
          <a:lstStyle/>
          <a:p>
            <a:pPr algn="l" indent="0" marL="0">
              <a:buNone/>
            </a:pPr>
            <a:r>
              <a:rPr lang="en-US" sz="2600" dirty="0">
                <a:solidFill>
                  <a:srgbClr val="263D57"/>
                </a:solidFill>
                <a:latin typeface="Poppins SemiBold" pitchFamily="34" charset="0"/>
                <a:ea typeface="Poppins SemiBold" pitchFamily="34" charset="-122"/>
                <a:cs typeface="Poppins SemiBold" pitchFamily="34" charset="-120"/>
              </a:rPr>
              <a:t>Three people in the club, three different decisions</a:t>
            </a:r>
            <a:endParaRPr lang="en-US" sz="2600" dirty="0"/>
          </a:p>
        </p:txBody>
      </p:sp>
      <p:sp>
        <p:nvSpPr>
          <p:cNvPr id="4" name="Card CEO / CFO"/>
          <p:cNvSpPr/>
          <p:nvPr/>
        </p:nvSpPr>
        <p:spPr>
          <a:xfrm>
            <a:off x="548640" y="1645920"/>
            <a:ext cx="2602154" cy="3749040"/>
          </a:xfrm>
          <a:prstGeom prst="roundRect">
            <a:avLst>
              <a:gd name="adj" fmla="val 5622"/>
            </a:avLst>
          </a:prstGeom>
          <a:solidFill>
            <a:srgbClr val="F2F5F8"/>
          </a:solidFill>
          <a:ln w="9525">
            <a:solidFill>
              <a:srgbClr val="E2E8F0"/>
            </a:solidFill>
            <a:prstDash val="solid"/>
          </a:ln>
        </p:spPr>
      </p:sp>
      <p:pic>
        <p:nvPicPr>
          <p:cNvPr id="5" name="Image 0" descr="/home/claude/decks/assets/icon-data-driven.png">    </p:cNvPr>
          <p:cNvPicPr>
            <a:picLocks noChangeAspect="1"/>
          </p:cNvPicPr>
          <p:nvPr/>
        </p:nvPicPr>
        <p:blipFill>
          <a:blip r:embed="rId1"/>
          <a:srcRect l="0" r="0" t="0" b="0"/>
          <a:stretch/>
        </p:blipFill>
        <p:spPr>
          <a:xfrm>
            <a:off x="777240" y="1847088"/>
            <a:ext cx="621792" cy="621792"/>
          </a:xfrm>
          <a:prstGeom prst="rect">
            <a:avLst/>
          </a:prstGeom>
        </p:spPr>
      </p:pic>
      <p:sp>
        <p:nvSpPr>
          <p:cNvPr id="6" name="Text 3"/>
          <p:cNvSpPr txBox="1"/>
          <p:nvPr/>
        </p:nvSpPr>
        <p:spPr>
          <a:xfrm>
            <a:off x="777240" y="2542032"/>
            <a:ext cx="2144954" cy="365760"/>
          </a:xfrm>
          <a:prstGeom prst="rect">
            <a:avLst/>
          </a:prstGeom>
          <a:noFill/>
          <a:ln/>
        </p:spPr>
        <p:txBody>
          <a:bodyPr wrap="square" lIns="0" tIns="0" rIns="0" bIns="0" rtlCol="0" anchor="t"/>
          <a:lstStyle/>
          <a:p>
            <a:pPr indent="0" marL="0">
              <a:buNone/>
            </a:pPr>
            <a:r>
              <a:rPr lang="en-US" sz="1700" dirty="0">
                <a:solidFill>
                  <a:srgbClr val="263D57"/>
                </a:solidFill>
                <a:latin typeface="Poppins SemiBold" pitchFamily="34" charset="0"/>
                <a:ea typeface="Poppins SemiBold" pitchFamily="34" charset="-122"/>
                <a:cs typeface="Poppins SemiBold" pitchFamily="34" charset="-120"/>
              </a:rPr>
              <a:t>CEO / CFO</a:t>
            </a:r>
            <a:endParaRPr lang="en-US" sz="1700" dirty="0"/>
          </a:p>
        </p:txBody>
      </p:sp>
      <p:sp>
        <p:nvSpPr>
          <p:cNvPr id="7" name="Text 4"/>
          <p:cNvSpPr txBox="1"/>
          <p:nvPr/>
        </p:nvSpPr>
        <p:spPr>
          <a:xfrm>
            <a:off x="777240" y="2971800"/>
            <a:ext cx="2144954" cy="182880"/>
          </a:xfrm>
          <a:prstGeom prst="rect">
            <a:avLst/>
          </a:prstGeom>
          <a:noFill/>
          <a:ln/>
        </p:spPr>
        <p:txBody>
          <a:bodyPr wrap="square" lIns="0" tIns="0" rIns="0" bIns="0" rtlCol="0" anchor="t"/>
          <a:lstStyle/>
          <a:p>
            <a:pPr indent="0" marL="0">
              <a:buNone/>
            </a:pPr>
            <a:r>
              <a:rPr lang="en-US" sz="1000" b="1" spc="100" kern="0" dirty="0">
                <a:solidFill>
                  <a:srgbClr val="007D8C"/>
                </a:solidFill>
                <a:latin typeface="Inter" pitchFamily="34" charset="0"/>
                <a:ea typeface="Inter" pitchFamily="34" charset="-122"/>
                <a:cs typeface="Inter" pitchFamily="34" charset="-120"/>
              </a:rPr>
              <a:t>DECIDES</a:t>
            </a:r>
            <a:endParaRPr lang="en-US" sz="1000" dirty="0"/>
          </a:p>
        </p:txBody>
      </p:sp>
      <p:sp>
        <p:nvSpPr>
          <p:cNvPr id="8" name="Text 5"/>
          <p:cNvSpPr txBox="1"/>
          <p:nvPr/>
        </p:nvSpPr>
        <p:spPr>
          <a:xfrm>
            <a:off x="777240" y="3172968"/>
            <a:ext cx="2144954" cy="445008"/>
          </a:xfrm>
          <a:prstGeom prst="rect">
            <a:avLst/>
          </a:prstGeom>
          <a:noFill/>
          <a:ln/>
        </p:spPr>
        <p:txBody>
          <a:bodyPr wrap="square" lIns="0" tIns="0" rIns="0" bIns="0" rtlCol="0" anchor="t"/>
          <a:lstStyle/>
          <a:p>
            <a:pPr indent="0" marL="0">
              <a:buNone/>
            </a:pPr>
            <a:r>
              <a:rPr lang="en-US" sz="1400" dirty="0">
                <a:solidFill>
                  <a:srgbClr val="2A323C"/>
                </a:solidFill>
                <a:latin typeface="Inter" pitchFamily="34" charset="0"/>
                <a:ea typeface="Inter" pitchFamily="34" charset="-122"/>
                <a:cs typeface="Inter" pitchFamily="34" charset="-120"/>
              </a:rPr>
              <a:t>Does this pay off over five to ten years?</a:t>
            </a:r>
            <a:endParaRPr lang="en-US" sz="1400" dirty="0"/>
          </a:p>
        </p:txBody>
      </p:sp>
      <p:sp>
        <p:nvSpPr>
          <p:cNvPr id="9" name="Text 6"/>
          <p:cNvSpPr txBox="1"/>
          <p:nvPr/>
        </p:nvSpPr>
        <p:spPr>
          <a:xfrm>
            <a:off x="777240" y="3709416"/>
            <a:ext cx="2144954" cy="182880"/>
          </a:xfrm>
          <a:prstGeom prst="rect">
            <a:avLst/>
          </a:prstGeom>
          <a:noFill/>
          <a:ln/>
        </p:spPr>
        <p:txBody>
          <a:bodyPr wrap="square" lIns="0" tIns="0" rIns="0" bIns="0" rtlCol="0" anchor="t"/>
          <a:lstStyle/>
          <a:p>
            <a:pPr indent="0" marL="0">
              <a:buNone/>
            </a:pPr>
            <a:r>
              <a:rPr lang="en-US" sz="1000" b="1" spc="100" kern="0" dirty="0">
                <a:solidFill>
                  <a:srgbClr val="007D8C"/>
                </a:solidFill>
                <a:latin typeface="Inter" pitchFamily="34" charset="0"/>
                <a:ea typeface="Inter" pitchFamily="34" charset="-122"/>
                <a:cs typeface="Inter" pitchFamily="34" charset="-120"/>
              </a:rPr>
              <a:t>NEEDS</a:t>
            </a:r>
            <a:endParaRPr lang="en-US" sz="1000" dirty="0"/>
          </a:p>
        </p:txBody>
      </p:sp>
      <p:sp>
        <p:nvSpPr>
          <p:cNvPr id="10" name="Text 7"/>
          <p:cNvSpPr txBox="1"/>
          <p:nvPr/>
        </p:nvSpPr>
        <p:spPr>
          <a:xfrm>
            <a:off x="777240" y="3910584"/>
            <a:ext cx="2144954" cy="658368"/>
          </a:xfrm>
          <a:prstGeom prst="rect">
            <a:avLst/>
          </a:prstGeom>
          <a:noFill/>
          <a:ln/>
        </p:spPr>
        <p:txBody>
          <a:bodyPr wrap="square" lIns="0" tIns="0" rIns="0" bIns="0" rtlCol="0" anchor="t"/>
          <a:lstStyle/>
          <a:p>
            <a:pPr indent="0" marL="0">
              <a:buNone/>
            </a:pPr>
            <a:r>
              <a:rPr lang="en-US" sz="1400" dirty="0">
                <a:solidFill>
                  <a:srgbClr val="2A323C"/>
                </a:solidFill>
                <a:latin typeface="Inter" pitchFamily="34" charset="0"/>
                <a:ea typeface="Inter" pitchFamily="34" charset="-122"/>
                <a:cs typeface="Inter" pitchFamily="34" charset="-120"/>
              </a:rPr>
              <a:t>Academy players reaching the first team; transfer value</a:t>
            </a:r>
            <a:endParaRPr lang="en-US" sz="1400" dirty="0"/>
          </a:p>
        </p:txBody>
      </p:sp>
      <p:sp>
        <p:nvSpPr>
          <p:cNvPr id="11" name="Text 8"/>
          <p:cNvSpPr txBox="1"/>
          <p:nvPr/>
        </p:nvSpPr>
        <p:spPr>
          <a:xfrm>
            <a:off x="777240" y="4660392"/>
            <a:ext cx="2144954" cy="182880"/>
          </a:xfrm>
          <a:prstGeom prst="rect">
            <a:avLst/>
          </a:prstGeom>
          <a:noFill/>
          <a:ln/>
        </p:spPr>
        <p:txBody>
          <a:bodyPr wrap="square" lIns="0" tIns="0" rIns="0" bIns="0" rtlCol="0" anchor="t"/>
          <a:lstStyle/>
          <a:p>
            <a:pPr indent="0" marL="0">
              <a:buNone/>
            </a:pPr>
            <a:r>
              <a:rPr lang="en-US" sz="1000" b="1" spc="100" kern="0" dirty="0">
                <a:solidFill>
                  <a:srgbClr val="007D8C"/>
                </a:solidFill>
                <a:latin typeface="Inter" pitchFamily="34" charset="0"/>
                <a:ea typeface="Inter" pitchFamily="34" charset="-122"/>
                <a:cs typeface="Inter" pitchFamily="34" charset="-120"/>
              </a:rPr>
              <a:t>FORMAT</a:t>
            </a:r>
            <a:endParaRPr lang="en-US" sz="1000" dirty="0"/>
          </a:p>
        </p:txBody>
      </p:sp>
      <p:sp>
        <p:nvSpPr>
          <p:cNvPr id="12" name="Text 9"/>
          <p:cNvSpPr txBox="1"/>
          <p:nvPr/>
        </p:nvSpPr>
        <p:spPr>
          <a:xfrm>
            <a:off x="777240" y="4861560"/>
            <a:ext cx="2144954" cy="231648"/>
          </a:xfrm>
          <a:prstGeom prst="rect">
            <a:avLst/>
          </a:prstGeom>
          <a:noFill/>
          <a:ln/>
        </p:spPr>
        <p:txBody>
          <a:bodyPr wrap="square" lIns="0" tIns="0" rIns="0" bIns="0" rtlCol="0" anchor="t"/>
          <a:lstStyle/>
          <a:p>
            <a:pPr indent="0" marL="0">
              <a:buNone/>
            </a:pPr>
            <a:r>
              <a:rPr lang="en-US" sz="1400" dirty="0">
                <a:solidFill>
                  <a:srgbClr val="2A323C"/>
                </a:solidFill>
                <a:latin typeface="Inter" pitchFamily="34" charset="0"/>
                <a:ea typeface="Inter" pitchFamily="34" charset="-122"/>
                <a:cs typeface="Inter" pitchFamily="34" charset="-120"/>
              </a:rPr>
              <a:t>Yearly summary</a:t>
            </a:r>
            <a:endParaRPr lang="en-US" sz="1400" dirty="0"/>
          </a:p>
        </p:txBody>
      </p:sp>
      <p:sp>
        <p:nvSpPr>
          <p:cNvPr id="13" name="Card Head of academy"/>
          <p:cNvSpPr/>
          <p:nvPr/>
        </p:nvSpPr>
        <p:spPr>
          <a:xfrm>
            <a:off x="3379394" y="1645920"/>
            <a:ext cx="2602154" cy="3749040"/>
          </a:xfrm>
          <a:prstGeom prst="roundRect">
            <a:avLst>
              <a:gd name="adj" fmla="val 5622"/>
            </a:avLst>
          </a:prstGeom>
          <a:solidFill>
            <a:srgbClr val="F2F5F8"/>
          </a:solidFill>
          <a:ln w="9525">
            <a:solidFill>
              <a:srgbClr val="E2E8F0"/>
            </a:solidFill>
            <a:prstDash val="solid"/>
          </a:ln>
        </p:spPr>
      </p:sp>
      <p:pic>
        <p:nvPicPr>
          <p:cNvPr id="14" name="Image 1" descr="/home/claude/decks/assets/icon-selection.png">    </p:cNvPr>
          <p:cNvPicPr>
            <a:picLocks noChangeAspect="1"/>
          </p:cNvPicPr>
          <p:nvPr/>
        </p:nvPicPr>
        <p:blipFill>
          <a:blip r:embed="rId2"/>
          <a:srcRect l="0" r="0" t="0" b="0"/>
          <a:stretch/>
        </p:blipFill>
        <p:spPr>
          <a:xfrm>
            <a:off x="3607994" y="1847088"/>
            <a:ext cx="621792" cy="621792"/>
          </a:xfrm>
          <a:prstGeom prst="rect">
            <a:avLst/>
          </a:prstGeom>
        </p:spPr>
      </p:pic>
      <p:sp>
        <p:nvSpPr>
          <p:cNvPr id="15" name="Text 11"/>
          <p:cNvSpPr txBox="1"/>
          <p:nvPr/>
        </p:nvSpPr>
        <p:spPr>
          <a:xfrm>
            <a:off x="3607994" y="2542032"/>
            <a:ext cx="2144954" cy="365760"/>
          </a:xfrm>
          <a:prstGeom prst="rect">
            <a:avLst/>
          </a:prstGeom>
          <a:noFill/>
          <a:ln/>
        </p:spPr>
        <p:txBody>
          <a:bodyPr wrap="square" lIns="0" tIns="0" rIns="0" bIns="0" rtlCol="0" anchor="t"/>
          <a:lstStyle/>
          <a:p>
            <a:pPr indent="0" marL="0">
              <a:buNone/>
            </a:pPr>
            <a:r>
              <a:rPr lang="en-US" sz="1700" dirty="0">
                <a:solidFill>
                  <a:srgbClr val="263D57"/>
                </a:solidFill>
                <a:latin typeface="Poppins SemiBold" pitchFamily="34" charset="0"/>
                <a:ea typeface="Poppins SemiBold" pitchFamily="34" charset="-122"/>
                <a:cs typeface="Poppins SemiBold" pitchFamily="34" charset="-120"/>
              </a:rPr>
              <a:t>Head of academy</a:t>
            </a:r>
            <a:endParaRPr lang="en-US" sz="1700" dirty="0"/>
          </a:p>
        </p:txBody>
      </p:sp>
      <p:sp>
        <p:nvSpPr>
          <p:cNvPr id="16" name="Text 12"/>
          <p:cNvSpPr txBox="1"/>
          <p:nvPr/>
        </p:nvSpPr>
        <p:spPr>
          <a:xfrm>
            <a:off x="3607994" y="2971800"/>
            <a:ext cx="2144954" cy="182880"/>
          </a:xfrm>
          <a:prstGeom prst="rect">
            <a:avLst/>
          </a:prstGeom>
          <a:noFill/>
          <a:ln/>
        </p:spPr>
        <p:txBody>
          <a:bodyPr wrap="square" lIns="0" tIns="0" rIns="0" bIns="0" rtlCol="0" anchor="t"/>
          <a:lstStyle/>
          <a:p>
            <a:pPr indent="0" marL="0">
              <a:buNone/>
            </a:pPr>
            <a:r>
              <a:rPr lang="en-US" sz="1000" b="1" spc="100" kern="0" dirty="0">
                <a:solidFill>
                  <a:srgbClr val="007D8C"/>
                </a:solidFill>
                <a:latin typeface="Inter" pitchFamily="34" charset="0"/>
                <a:ea typeface="Inter" pitchFamily="34" charset="-122"/>
                <a:cs typeface="Inter" pitchFamily="34" charset="-120"/>
              </a:rPr>
              <a:t>DECIDES</a:t>
            </a:r>
            <a:endParaRPr lang="en-US" sz="1000" dirty="0"/>
          </a:p>
        </p:txBody>
      </p:sp>
      <p:sp>
        <p:nvSpPr>
          <p:cNvPr id="17" name="Text 13"/>
          <p:cNvSpPr txBox="1"/>
          <p:nvPr/>
        </p:nvSpPr>
        <p:spPr>
          <a:xfrm>
            <a:off x="3607994" y="3172968"/>
            <a:ext cx="2144954" cy="445008"/>
          </a:xfrm>
          <a:prstGeom prst="rect">
            <a:avLst/>
          </a:prstGeom>
          <a:noFill/>
          <a:ln/>
        </p:spPr>
        <p:txBody>
          <a:bodyPr wrap="square" lIns="0" tIns="0" rIns="0" bIns="0" rtlCol="0" anchor="t"/>
          <a:lstStyle/>
          <a:p>
            <a:pPr indent="0" marL="0">
              <a:buNone/>
            </a:pPr>
            <a:r>
              <a:rPr lang="en-US" sz="1400" dirty="0">
                <a:solidFill>
                  <a:srgbClr val="2A323C"/>
                </a:solidFill>
                <a:latin typeface="Inter" pitchFamily="34" charset="0"/>
                <a:ea typeface="Inter" pitchFamily="34" charset="-122"/>
                <a:cs typeface="Inter" pitchFamily="34" charset="-120"/>
              </a:rPr>
              <a:t>Who progresses, and who needs what?</a:t>
            </a:r>
            <a:endParaRPr lang="en-US" sz="1400" dirty="0"/>
          </a:p>
        </p:txBody>
      </p:sp>
      <p:sp>
        <p:nvSpPr>
          <p:cNvPr id="18" name="Text 14"/>
          <p:cNvSpPr txBox="1"/>
          <p:nvPr/>
        </p:nvSpPr>
        <p:spPr>
          <a:xfrm>
            <a:off x="3607994" y="3709416"/>
            <a:ext cx="2144954" cy="182880"/>
          </a:xfrm>
          <a:prstGeom prst="rect">
            <a:avLst/>
          </a:prstGeom>
          <a:noFill/>
          <a:ln/>
        </p:spPr>
        <p:txBody>
          <a:bodyPr wrap="square" lIns="0" tIns="0" rIns="0" bIns="0" rtlCol="0" anchor="t"/>
          <a:lstStyle/>
          <a:p>
            <a:pPr indent="0" marL="0">
              <a:buNone/>
            </a:pPr>
            <a:r>
              <a:rPr lang="en-US" sz="1000" b="1" spc="100" kern="0" dirty="0">
                <a:solidFill>
                  <a:srgbClr val="007D8C"/>
                </a:solidFill>
                <a:latin typeface="Inter" pitchFamily="34" charset="0"/>
                <a:ea typeface="Inter" pitchFamily="34" charset="-122"/>
                <a:cs typeface="Inter" pitchFamily="34" charset="-120"/>
              </a:rPr>
              <a:t>NEEDS</a:t>
            </a:r>
            <a:endParaRPr lang="en-US" sz="1000" dirty="0"/>
          </a:p>
        </p:txBody>
      </p:sp>
      <p:sp>
        <p:nvSpPr>
          <p:cNvPr id="19" name="Text 15"/>
          <p:cNvSpPr txBox="1"/>
          <p:nvPr/>
        </p:nvSpPr>
        <p:spPr>
          <a:xfrm>
            <a:off x="3607994" y="3910584"/>
            <a:ext cx="2144954" cy="445008"/>
          </a:xfrm>
          <a:prstGeom prst="rect">
            <a:avLst/>
          </a:prstGeom>
          <a:noFill/>
          <a:ln/>
        </p:spPr>
        <p:txBody>
          <a:bodyPr wrap="square" lIns="0" tIns="0" rIns="0" bIns="0" rtlCol="0" anchor="t"/>
          <a:lstStyle/>
          <a:p>
            <a:pPr indent="0" marL="0">
              <a:buNone/>
            </a:pPr>
            <a:r>
              <a:rPr lang="en-US" sz="1400" dirty="0">
                <a:solidFill>
                  <a:srgbClr val="2A323C"/>
                </a:solidFill>
                <a:latin typeface="Inter" pitchFamily="34" charset="0"/>
                <a:ea typeface="Inter" pitchFamily="34" charset="-122"/>
                <a:cs typeface="Inter" pitchFamily="34" charset="-120"/>
              </a:rPr>
              <a:t>Age-corrected profile and trend per player</a:t>
            </a:r>
            <a:endParaRPr lang="en-US" sz="1400" dirty="0"/>
          </a:p>
        </p:txBody>
      </p:sp>
      <p:sp>
        <p:nvSpPr>
          <p:cNvPr id="20" name="Text 16"/>
          <p:cNvSpPr txBox="1"/>
          <p:nvPr/>
        </p:nvSpPr>
        <p:spPr>
          <a:xfrm>
            <a:off x="3607994" y="4447032"/>
            <a:ext cx="2144954" cy="182880"/>
          </a:xfrm>
          <a:prstGeom prst="rect">
            <a:avLst/>
          </a:prstGeom>
          <a:noFill/>
          <a:ln/>
        </p:spPr>
        <p:txBody>
          <a:bodyPr wrap="square" lIns="0" tIns="0" rIns="0" bIns="0" rtlCol="0" anchor="t"/>
          <a:lstStyle/>
          <a:p>
            <a:pPr indent="0" marL="0">
              <a:buNone/>
            </a:pPr>
            <a:r>
              <a:rPr lang="en-US" sz="1000" b="1" spc="100" kern="0" dirty="0">
                <a:solidFill>
                  <a:srgbClr val="007D8C"/>
                </a:solidFill>
                <a:latin typeface="Inter" pitchFamily="34" charset="0"/>
                <a:ea typeface="Inter" pitchFamily="34" charset="-122"/>
                <a:cs typeface="Inter" pitchFamily="34" charset="-120"/>
              </a:rPr>
              <a:t>FORMAT</a:t>
            </a:r>
            <a:endParaRPr lang="en-US" sz="1000" dirty="0"/>
          </a:p>
        </p:txBody>
      </p:sp>
      <p:sp>
        <p:nvSpPr>
          <p:cNvPr id="21" name="Text 17"/>
          <p:cNvSpPr txBox="1"/>
          <p:nvPr/>
        </p:nvSpPr>
        <p:spPr>
          <a:xfrm>
            <a:off x="3607994" y="4648200"/>
            <a:ext cx="2144954" cy="445008"/>
          </a:xfrm>
          <a:prstGeom prst="rect">
            <a:avLst/>
          </a:prstGeom>
          <a:noFill/>
          <a:ln/>
        </p:spPr>
        <p:txBody>
          <a:bodyPr wrap="square" lIns="0" tIns="0" rIns="0" bIns="0" rtlCol="0" anchor="t"/>
          <a:lstStyle/>
          <a:p>
            <a:pPr indent="0" marL="0">
              <a:buNone/>
            </a:pPr>
            <a:r>
              <a:rPr lang="en-US" sz="1400" dirty="0">
                <a:solidFill>
                  <a:srgbClr val="2A323C"/>
                </a:solidFill>
                <a:latin typeface="Inter" pitchFamily="34" charset="0"/>
                <a:ea typeface="Inter" pitchFamily="34" charset="-122"/>
                <a:cs typeface="Inter" pitchFamily="34" charset="-120"/>
              </a:rPr>
              <a:t>Squad overview per season</a:t>
            </a:r>
            <a:endParaRPr lang="en-US" sz="1400" dirty="0"/>
          </a:p>
        </p:txBody>
      </p:sp>
      <p:sp>
        <p:nvSpPr>
          <p:cNvPr id="22" name="Card Youth coach"/>
          <p:cNvSpPr/>
          <p:nvPr/>
        </p:nvSpPr>
        <p:spPr>
          <a:xfrm>
            <a:off x="6210148" y="1645920"/>
            <a:ext cx="2602154" cy="3749040"/>
          </a:xfrm>
          <a:prstGeom prst="roundRect">
            <a:avLst>
              <a:gd name="adj" fmla="val 5622"/>
            </a:avLst>
          </a:prstGeom>
          <a:solidFill>
            <a:srgbClr val="E2F3F1"/>
          </a:solidFill>
          <a:ln w="22225">
            <a:solidFill>
              <a:srgbClr val="41C5C5"/>
            </a:solidFill>
            <a:prstDash val="solid"/>
          </a:ln>
        </p:spPr>
      </p:sp>
      <p:pic>
        <p:nvPicPr>
          <p:cNvPr id="23" name="Image 2" descr="/home/claude/decks/assets/icon-coaching.png">    </p:cNvPr>
          <p:cNvPicPr>
            <a:picLocks noChangeAspect="1"/>
          </p:cNvPicPr>
          <p:nvPr/>
        </p:nvPicPr>
        <p:blipFill>
          <a:blip r:embed="rId3"/>
          <a:srcRect l="0" r="0" t="0" b="0"/>
          <a:stretch/>
        </p:blipFill>
        <p:spPr>
          <a:xfrm>
            <a:off x="6438748" y="1847088"/>
            <a:ext cx="621792" cy="621792"/>
          </a:xfrm>
          <a:prstGeom prst="rect">
            <a:avLst/>
          </a:prstGeom>
        </p:spPr>
      </p:pic>
      <p:sp>
        <p:nvSpPr>
          <p:cNvPr id="24" name="Text 19"/>
          <p:cNvSpPr txBox="1"/>
          <p:nvPr/>
        </p:nvSpPr>
        <p:spPr>
          <a:xfrm>
            <a:off x="7669301" y="1920240"/>
            <a:ext cx="914400" cy="274320"/>
          </a:xfrm>
          <a:prstGeom prst="roundRect">
            <a:avLst>
              <a:gd name="adj" fmla="val 50000"/>
            </a:avLst>
          </a:prstGeom>
          <a:solidFill>
            <a:srgbClr val="41C5C5"/>
          </a:solidFill>
          <a:ln/>
        </p:spPr>
        <p:txBody>
          <a:bodyPr wrap="square" lIns="0" tIns="0" rIns="0" bIns="0" rtlCol="0" anchor="ctr"/>
          <a:lstStyle/>
          <a:p>
            <a:pPr algn="ctr" indent="0" marL="0">
              <a:buNone/>
            </a:pPr>
            <a:r>
              <a:rPr lang="en-US" sz="1000" b="1" dirty="0">
                <a:solidFill>
                  <a:srgbClr val="263D57"/>
                </a:solidFill>
                <a:latin typeface="Inter" pitchFamily="34" charset="0"/>
                <a:ea typeface="Inter" pitchFamily="34" charset="-122"/>
                <a:cs typeface="Inter" pitchFamily="34" charset="-120"/>
              </a:rPr>
              <a:t>Our user</a:t>
            </a:r>
            <a:endParaRPr lang="en-US" sz="1000" dirty="0"/>
          </a:p>
        </p:txBody>
      </p:sp>
      <p:sp>
        <p:nvSpPr>
          <p:cNvPr id="25" name="Text 20"/>
          <p:cNvSpPr txBox="1"/>
          <p:nvPr/>
        </p:nvSpPr>
        <p:spPr>
          <a:xfrm>
            <a:off x="6438748" y="2542032"/>
            <a:ext cx="2144954" cy="365760"/>
          </a:xfrm>
          <a:prstGeom prst="rect">
            <a:avLst/>
          </a:prstGeom>
          <a:noFill/>
          <a:ln/>
        </p:spPr>
        <p:txBody>
          <a:bodyPr wrap="square" lIns="0" tIns="0" rIns="0" bIns="0" rtlCol="0" anchor="t"/>
          <a:lstStyle/>
          <a:p>
            <a:pPr indent="0" marL="0">
              <a:buNone/>
            </a:pPr>
            <a:r>
              <a:rPr lang="en-US" sz="1700" dirty="0">
                <a:solidFill>
                  <a:srgbClr val="263D57"/>
                </a:solidFill>
                <a:latin typeface="Poppins SemiBold" pitchFamily="34" charset="0"/>
                <a:ea typeface="Poppins SemiBold" pitchFamily="34" charset="-122"/>
                <a:cs typeface="Poppins SemiBold" pitchFamily="34" charset="-120"/>
              </a:rPr>
              <a:t>Youth coach</a:t>
            </a:r>
            <a:endParaRPr lang="en-US" sz="1700" dirty="0"/>
          </a:p>
        </p:txBody>
      </p:sp>
      <p:sp>
        <p:nvSpPr>
          <p:cNvPr id="26" name="Text 21"/>
          <p:cNvSpPr txBox="1"/>
          <p:nvPr/>
        </p:nvSpPr>
        <p:spPr>
          <a:xfrm>
            <a:off x="6438748" y="2971800"/>
            <a:ext cx="2144954" cy="182880"/>
          </a:xfrm>
          <a:prstGeom prst="rect">
            <a:avLst/>
          </a:prstGeom>
          <a:noFill/>
          <a:ln/>
        </p:spPr>
        <p:txBody>
          <a:bodyPr wrap="square" lIns="0" tIns="0" rIns="0" bIns="0" rtlCol="0" anchor="t"/>
          <a:lstStyle/>
          <a:p>
            <a:pPr indent="0" marL="0">
              <a:buNone/>
            </a:pPr>
            <a:r>
              <a:rPr lang="en-US" sz="1000" b="1" spc="100" kern="0" dirty="0">
                <a:solidFill>
                  <a:srgbClr val="007D8C"/>
                </a:solidFill>
                <a:latin typeface="Inter" pitchFamily="34" charset="0"/>
                <a:ea typeface="Inter" pitchFamily="34" charset="-122"/>
                <a:cs typeface="Inter" pitchFamily="34" charset="-120"/>
              </a:rPr>
              <a:t>DECIDES</a:t>
            </a:r>
            <a:endParaRPr lang="en-US" sz="1000" dirty="0"/>
          </a:p>
        </p:txBody>
      </p:sp>
      <p:sp>
        <p:nvSpPr>
          <p:cNvPr id="27" name="Text 22"/>
          <p:cNvSpPr txBox="1"/>
          <p:nvPr/>
        </p:nvSpPr>
        <p:spPr>
          <a:xfrm>
            <a:off x="6438748" y="3172968"/>
            <a:ext cx="2144954" cy="658368"/>
          </a:xfrm>
          <a:prstGeom prst="rect">
            <a:avLst/>
          </a:prstGeom>
          <a:noFill/>
          <a:ln/>
        </p:spPr>
        <p:txBody>
          <a:bodyPr wrap="square" lIns="0" tIns="0" rIns="0" bIns="0" rtlCol="0" anchor="t"/>
          <a:lstStyle/>
          <a:p>
            <a:pPr indent="0" marL="0">
              <a:buNone/>
            </a:pPr>
            <a:r>
              <a:rPr lang="en-US" sz="1400" dirty="0">
                <a:solidFill>
                  <a:srgbClr val="2A323C"/>
                </a:solidFill>
                <a:latin typeface="Inter" pitchFamily="34" charset="0"/>
                <a:ea typeface="Inter" pitchFamily="34" charset="-122"/>
                <a:cs typeface="Inter" pitchFamily="34" charset="-120"/>
              </a:rPr>
              <a:t>What do I change tonight, for which 1–3 players?</a:t>
            </a:r>
            <a:endParaRPr lang="en-US" sz="1400" dirty="0"/>
          </a:p>
        </p:txBody>
      </p:sp>
      <p:sp>
        <p:nvSpPr>
          <p:cNvPr id="28" name="Text 23"/>
          <p:cNvSpPr txBox="1"/>
          <p:nvPr/>
        </p:nvSpPr>
        <p:spPr>
          <a:xfrm>
            <a:off x="6438748" y="3922776"/>
            <a:ext cx="2144954" cy="182880"/>
          </a:xfrm>
          <a:prstGeom prst="rect">
            <a:avLst/>
          </a:prstGeom>
          <a:noFill/>
          <a:ln/>
        </p:spPr>
        <p:txBody>
          <a:bodyPr wrap="square" lIns="0" tIns="0" rIns="0" bIns="0" rtlCol="0" anchor="t"/>
          <a:lstStyle/>
          <a:p>
            <a:pPr indent="0" marL="0">
              <a:buNone/>
            </a:pPr>
            <a:r>
              <a:rPr lang="en-US" sz="1000" b="1" spc="100" kern="0" dirty="0">
                <a:solidFill>
                  <a:srgbClr val="007D8C"/>
                </a:solidFill>
                <a:latin typeface="Inter" pitchFamily="34" charset="0"/>
                <a:ea typeface="Inter" pitchFamily="34" charset="-122"/>
                <a:cs typeface="Inter" pitchFamily="34" charset="-120"/>
              </a:rPr>
              <a:t>NEEDS</a:t>
            </a:r>
            <a:endParaRPr lang="en-US" sz="1000" dirty="0"/>
          </a:p>
        </p:txBody>
      </p:sp>
      <p:sp>
        <p:nvSpPr>
          <p:cNvPr id="29" name="Text 24"/>
          <p:cNvSpPr txBox="1"/>
          <p:nvPr/>
        </p:nvSpPr>
        <p:spPr>
          <a:xfrm>
            <a:off x="6438748" y="4123944"/>
            <a:ext cx="2144954" cy="445008"/>
          </a:xfrm>
          <a:prstGeom prst="rect">
            <a:avLst/>
          </a:prstGeom>
          <a:noFill/>
          <a:ln/>
        </p:spPr>
        <p:txBody>
          <a:bodyPr wrap="square" lIns="0" tIns="0" rIns="0" bIns="0" rtlCol="0" anchor="t"/>
          <a:lstStyle/>
          <a:p>
            <a:pPr indent="0" marL="0">
              <a:buNone/>
            </a:pPr>
            <a:r>
              <a:rPr lang="en-US" sz="1400" dirty="0">
                <a:solidFill>
                  <a:srgbClr val="2A323C"/>
                </a:solidFill>
                <a:latin typeface="Inter" pitchFamily="34" charset="0"/>
                <a:ea typeface="Inter" pitchFamily="34" charset="-122"/>
                <a:cs typeface="Inter" pitchFamily="34" charset="-120"/>
              </a:rPr>
              <a:t>One card, one change, one thing to count</a:t>
            </a:r>
            <a:endParaRPr lang="en-US" sz="1400" dirty="0"/>
          </a:p>
        </p:txBody>
      </p:sp>
      <p:sp>
        <p:nvSpPr>
          <p:cNvPr id="30" name="Text 25"/>
          <p:cNvSpPr txBox="1"/>
          <p:nvPr/>
        </p:nvSpPr>
        <p:spPr>
          <a:xfrm>
            <a:off x="6438748" y="4660392"/>
            <a:ext cx="2144954" cy="182880"/>
          </a:xfrm>
          <a:prstGeom prst="rect">
            <a:avLst/>
          </a:prstGeom>
          <a:noFill/>
          <a:ln/>
        </p:spPr>
        <p:txBody>
          <a:bodyPr wrap="square" lIns="0" tIns="0" rIns="0" bIns="0" rtlCol="0" anchor="t"/>
          <a:lstStyle/>
          <a:p>
            <a:pPr indent="0" marL="0">
              <a:buNone/>
            </a:pPr>
            <a:r>
              <a:rPr lang="en-US" sz="1000" b="1" spc="100" kern="0" dirty="0">
                <a:solidFill>
                  <a:srgbClr val="007D8C"/>
                </a:solidFill>
                <a:latin typeface="Inter" pitchFamily="34" charset="0"/>
                <a:ea typeface="Inter" pitchFamily="34" charset="-122"/>
                <a:cs typeface="Inter" pitchFamily="34" charset="-120"/>
              </a:rPr>
              <a:t>FORMAT</a:t>
            </a:r>
            <a:endParaRPr lang="en-US" sz="1000" dirty="0"/>
          </a:p>
        </p:txBody>
      </p:sp>
      <p:sp>
        <p:nvSpPr>
          <p:cNvPr id="31" name="Text 26"/>
          <p:cNvSpPr txBox="1"/>
          <p:nvPr/>
        </p:nvSpPr>
        <p:spPr>
          <a:xfrm>
            <a:off x="6438748" y="4861560"/>
            <a:ext cx="2144954" cy="445008"/>
          </a:xfrm>
          <a:prstGeom prst="rect">
            <a:avLst/>
          </a:prstGeom>
          <a:noFill/>
          <a:ln/>
        </p:spPr>
        <p:txBody>
          <a:bodyPr wrap="square" lIns="0" tIns="0" rIns="0" bIns="0" rtlCol="0" anchor="t"/>
          <a:lstStyle/>
          <a:p>
            <a:pPr indent="0" marL="0">
              <a:buNone/>
            </a:pPr>
            <a:r>
              <a:rPr lang="en-US" sz="1400" dirty="0">
                <a:solidFill>
                  <a:srgbClr val="2A323C"/>
                </a:solidFill>
                <a:latin typeface="Inter" pitchFamily="34" charset="0"/>
                <a:ea typeface="Inter" pitchFamily="34" charset="-122"/>
                <a:cs typeface="Inter" pitchFamily="34" charset="-120"/>
              </a:rPr>
              <a:t>Tablet on the pitch, under a minute</a:t>
            </a:r>
            <a:endParaRPr lang="en-US" sz="1400" dirty="0"/>
          </a:p>
        </p:txBody>
      </p:sp>
      <p:sp>
        <p:nvSpPr>
          <p:cNvPr id="32" name="Card Player and parents"/>
          <p:cNvSpPr/>
          <p:nvPr/>
        </p:nvSpPr>
        <p:spPr>
          <a:xfrm>
            <a:off x="9040901" y="1645920"/>
            <a:ext cx="2602154" cy="3749040"/>
          </a:xfrm>
          <a:prstGeom prst="roundRect">
            <a:avLst>
              <a:gd name="adj" fmla="val 5622"/>
            </a:avLst>
          </a:prstGeom>
          <a:solidFill>
            <a:srgbClr val="F2F5F8"/>
          </a:solidFill>
          <a:ln w="9525">
            <a:solidFill>
              <a:srgbClr val="E2E8F0"/>
            </a:solidFill>
            <a:prstDash val="solid"/>
          </a:ln>
        </p:spPr>
      </p:sp>
      <p:pic>
        <p:nvPicPr>
          <p:cNvPr id="33" name="Image 3" descr="/home/claude/decks/assets/icon-dialogue.png">    </p:cNvPr>
          <p:cNvPicPr>
            <a:picLocks noChangeAspect="1"/>
          </p:cNvPicPr>
          <p:nvPr/>
        </p:nvPicPr>
        <p:blipFill>
          <a:blip r:embed="rId4"/>
          <a:srcRect l="0" r="0" t="0" b="0"/>
          <a:stretch/>
        </p:blipFill>
        <p:spPr>
          <a:xfrm>
            <a:off x="9269501" y="1847088"/>
            <a:ext cx="621792" cy="621792"/>
          </a:xfrm>
          <a:prstGeom prst="rect">
            <a:avLst/>
          </a:prstGeom>
        </p:spPr>
      </p:pic>
      <p:sp>
        <p:nvSpPr>
          <p:cNvPr id="34" name="Text 28"/>
          <p:cNvSpPr txBox="1"/>
          <p:nvPr/>
        </p:nvSpPr>
        <p:spPr>
          <a:xfrm>
            <a:off x="9269501" y="2542032"/>
            <a:ext cx="2144954" cy="365760"/>
          </a:xfrm>
          <a:prstGeom prst="rect">
            <a:avLst/>
          </a:prstGeom>
          <a:noFill/>
          <a:ln/>
        </p:spPr>
        <p:txBody>
          <a:bodyPr wrap="square" lIns="0" tIns="0" rIns="0" bIns="0" rtlCol="0" anchor="t"/>
          <a:lstStyle/>
          <a:p>
            <a:pPr indent="0" marL="0">
              <a:buNone/>
            </a:pPr>
            <a:r>
              <a:rPr lang="en-US" sz="1700" dirty="0">
                <a:solidFill>
                  <a:srgbClr val="263D57"/>
                </a:solidFill>
                <a:latin typeface="Poppins SemiBold" pitchFamily="34" charset="0"/>
                <a:ea typeface="Poppins SemiBold" pitchFamily="34" charset="-122"/>
                <a:cs typeface="Poppins SemiBold" pitchFamily="34" charset="-120"/>
              </a:rPr>
              <a:t>Player and parents</a:t>
            </a:r>
            <a:endParaRPr lang="en-US" sz="1700" dirty="0"/>
          </a:p>
        </p:txBody>
      </p:sp>
      <p:sp>
        <p:nvSpPr>
          <p:cNvPr id="35" name="Text 29"/>
          <p:cNvSpPr txBox="1"/>
          <p:nvPr/>
        </p:nvSpPr>
        <p:spPr>
          <a:xfrm>
            <a:off x="9269501" y="2971800"/>
            <a:ext cx="2144954" cy="182880"/>
          </a:xfrm>
          <a:prstGeom prst="rect">
            <a:avLst/>
          </a:prstGeom>
          <a:noFill/>
          <a:ln/>
        </p:spPr>
        <p:txBody>
          <a:bodyPr wrap="square" lIns="0" tIns="0" rIns="0" bIns="0" rtlCol="0" anchor="t"/>
          <a:lstStyle/>
          <a:p>
            <a:pPr indent="0" marL="0">
              <a:buNone/>
            </a:pPr>
            <a:r>
              <a:rPr lang="en-US" sz="1000" b="1" spc="100" kern="0" dirty="0">
                <a:solidFill>
                  <a:srgbClr val="007D8C"/>
                </a:solidFill>
                <a:latin typeface="Inter" pitchFamily="34" charset="0"/>
                <a:ea typeface="Inter" pitchFamily="34" charset="-122"/>
                <a:cs typeface="Inter" pitchFamily="34" charset="-120"/>
              </a:rPr>
              <a:t>DECIDES</a:t>
            </a:r>
            <a:endParaRPr lang="en-US" sz="1000" dirty="0"/>
          </a:p>
        </p:txBody>
      </p:sp>
      <p:sp>
        <p:nvSpPr>
          <p:cNvPr id="36" name="Text 30"/>
          <p:cNvSpPr txBox="1"/>
          <p:nvPr/>
        </p:nvSpPr>
        <p:spPr>
          <a:xfrm>
            <a:off x="9269501" y="3172968"/>
            <a:ext cx="2144954" cy="231648"/>
          </a:xfrm>
          <a:prstGeom prst="rect">
            <a:avLst/>
          </a:prstGeom>
          <a:noFill/>
          <a:ln/>
        </p:spPr>
        <p:txBody>
          <a:bodyPr wrap="square" lIns="0" tIns="0" rIns="0" bIns="0" rtlCol="0" anchor="t"/>
          <a:lstStyle/>
          <a:p>
            <a:pPr indent="0" marL="0">
              <a:buNone/>
            </a:pPr>
            <a:r>
              <a:rPr lang="en-US" sz="1400" dirty="0">
                <a:solidFill>
                  <a:srgbClr val="2A323C"/>
                </a:solidFill>
                <a:latin typeface="Inter" pitchFamily="34" charset="0"/>
                <a:ea typeface="Inter" pitchFamily="34" charset="-122"/>
                <a:cs typeface="Inter" pitchFamily="34" charset="-120"/>
              </a:rPr>
              <a:t>What do I work on?</a:t>
            </a:r>
            <a:endParaRPr lang="en-US" sz="1400" dirty="0"/>
          </a:p>
        </p:txBody>
      </p:sp>
      <p:sp>
        <p:nvSpPr>
          <p:cNvPr id="37" name="Text 31"/>
          <p:cNvSpPr txBox="1"/>
          <p:nvPr/>
        </p:nvSpPr>
        <p:spPr>
          <a:xfrm>
            <a:off x="9269501" y="3496056"/>
            <a:ext cx="2144954" cy="182880"/>
          </a:xfrm>
          <a:prstGeom prst="rect">
            <a:avLst/>
          </a:prstGeom>
          <a:noFill/>
          <a:ln/>
        </p:spPr>
        <p:txBody>
          <a:bodyPr wrap="square" lIns="0" tIns="0" rIns="0" bIns="0" rtlCol="0" anchor="t"/>
          <a:lstStyle/>
          <a:p>
            <a:pPr indent="0" marL="0">
              <a:buNone/>
            </a:pPr>
            <a:r>
              <a:rPr lang="en-US" sz="1000" b="1" spc="100" kern="0" dirty="0">
                <a:solidFill>
                  <a:srgbClr val="007D8C"/>
                </a:solidFill>
                <a:latin typeface="Inter" pitchFamily="34" charset="0"/>
                <a:ea typeface="Inter" pitchFamily="34" charset="-122"/>
                <a:cs typeface="Inter" pitchFamily="34" charset="-120"/>
              </a:rPr>
              <a:t>NEEDS</a:t>
            </a:r>
            <a:endParaRPr lang="en-US" sz="1000" dirty="0"/>
          </a:p>
        </p:txBody>
      </p:sp>
      <p:sp>
        <p:nvSpPr>
          <p:cNvPr id="38" name="Text 32"/>
          <p:cNvSpPr txBox="1"/>
          <p:nvPr/>
        </p:nvSpPr>
        <p:spPr>
          <a:xfrm>
            <a:off x="9269501" y="3697224"/>
            <a:ext cx="2144954" cy="658368"/>
          </a:xfrm>
          <a:prstGeom prst="rect">
            <a:avLst/>
          </a:prstGeom>
          <a:noFill/>
          <a:ln/>
        </p:spPr>
        <p:txBody>
          <a:bodyPr wrap="square" lIns="0" tIns="0" rIns="0" bIns="0" rtlCol="0" anchor="t"/>
          <a:lstStyle/>
          <a:p>
            <a:pPr indent="0" marL="0">
              <a:buNone/>
            </a:pPr>
            <a:r>
              <a:rPr lang="en-US" sz="1400" dirty="0">
                <a:solidFill>
                  <a:srgbClr val="2A323C"/>
                </a:solidFill>
                <a:latin typeface="Inter" pitchFamily="34" charset="0"/>
                <a:ea typeface="Inter" pitchFamily="34" charset="-122"/>
                <a:cs typeface="Inter" pitchFamily="34" charset="-120"/>
              </a:rPr>
              <a:t>A positive explanation, never a label</a:t>
            </a:r>
            <a:endParaRPr lang="en-US" sz="1400" dirty="0"/>
          </a:p>
        </p:txBody>
      </p:sp>
      <p:sp>
        <p:nvSpPr>
          <p:cNvPr id="39" name="Text 33"/>
          <p:cNvSpPr txBox="1"/>
          <p:nvPr/>
        </p:nvSpPr>
        <p:spPr>
          <a:xfrm>
            <a:off x="9269501" y="4447032"/>
            <a:ext cx="2144954" cy="182880"/>
          </a:xfrm>
          <a:prstGeom prst="rect">
            <a:avLst/>
          </a:prstGeom>
          <a:noFill/>
          <a:ln/>
        </p:spPr>
        <p:txBody>
          <a:bodyPr wrap="square" lIns="0" tIns="0" rIns="0" bIns="0" rtlCol="0" anchor="t"/>
          <a:lstStyle/>
          <a:p>
            <a:pPr indent="0" marL="0">
              <a:buNone/>
            </a:pPr>
            <a:r>
              <a:rPr lang="en-US" sz="1000" b="1" spc="100" kern="0" dirty="0">
                <a:solidFill>
                  <a:srgbClr val="007D8C"/>
                </a:solidFill>
                <a:latin typeface="Inter" pitchFamily="34" charset="0"/>
                <a:ea typeface="Inter" pitchFamily="34" charset="-122"/>
                <a:cs typeface="Inter" pitchFamily="34" charset="-120"/>
              </a:rPr>
              <a:t>FORMAT</a:t>
            </a:r>
            <a:endParaRPr lang="en-US" sz="1000" dirty="0"/>
          </a:p>
        </p:txBody>
      </p:sp>
      <p:sp>
        <p:nvSpPr>
          <p:cNvPr id="40" name="Text 34"/>
          <p:cNvSpPr txBox="1"/>
          <p:nvPr/>
        </p:nvSpPr>
        <p:spPr>
          <a:xfrm>
            <a:off x="9269501" y="4648200"/>
            <a:ext cx="2144954" cy="231648"/>
          </a:xfrm>
          <a:prstGeom prst="rect">
            <a:avLst/>
          </a:prstGeom>
          <a:noFill/>
          <a:ln/>
        </p:spPr>
        <p:txBody>
          <a:bodyPr wrap="square" lIns="0" tIns="0" rIns="0" bIns="0" rtlCol="0" anchor="t"/>
          <a:lstStyle/>
          <a:p>
            <a:pPr indent="0" marL="0">
              <a:buNone/>
            </a:pPr>
            <a:r>
              <a:rPr lang="en-US" sz="1400" dirty="0">
                <a:solidFill>
                  <a:srgbClr val="2A323C"/>
                </a:solidFill>
                <a:latin typeface="Inter" pitchFamily="34" charset="0"/>
                <a:ea typeface="Inter" pitchFamily="34" charset="-122"/>
                <a:cs typeface="Inter" pitchFamily="34" charset="-120"/>
              </a:rPr>
              <a:t>Talk with the coach</a:t>
            </a:r>
            <a:endParaRPr lang="en-US" sz="1400" dirty="0"/>
          </a:p>
        </p:txBody>
      </p:sp>
      <p:sp>
        <p:nvSpPr>
          <p:cNvPr id="41" name="Shape 35"/>
          <p:cNvSpPr/>
          <p:nvPr/>
        </p:nvSpPr>
        <p:spPr>
          <a:xfrm>
            <a:off x="548640" y="5532120"/>
            <a:ext cx="11094415" cy="502920"/>
          </a:xfrm>
          <a:prstGeom prst="roundRect">
            <a:avLst>
              <a:gd name="adj" fmla="val 18182"/>
            </a:avLst>
          </a:prstGeom>
          <a:solidFill>
            <a:srgbClr val="F2F5F8"/>
          </a:solidFill>
          <a:ln/>
        </p:spPr>
      </p:sp>
      <p:sp>
        <p:nvSpPr>
          <p:cNvPr id="42" name="Text 36"/>
          <p:cNvSpPr txBox="1"/>
          <p:nvPr/>
        </p:nvSpPr>
        <p:spPr>
          <a:xfrm>
            <a:off x="777240" y="5532120"/>
            <a:ext cx="10637215" cy="502920"/>
          </a:xfrm>
          <a:prstGeom prst="rect">
            <a:avLst/>
          </a:prstGeom>
          <a:noFill/>
          <a:ln/>
        </p:spPr>
        <p:txBody>
          <a:bodyPr wrap="square" lIns="0" tIns="0" rIns="0" bIns="0" rtlCol="0" anchor="ctr"/>
          <a:lstStyle/>
          <a:p>
            <a:pPr indent="0" marL="0">
              <a:buNone/>
            </a:pPr>
            <a:r>
              <a:rPr lang="en-US" sz="1400" dirty="0">
                <a:solidFill>
                  <a:srgbClr val="263D57"/>
                </a:solidFill>
                <a:latin typeface="Inter" pitchFamily="34" charset="0"/>
                <a:ea typeface="Inter" pitchFamily="34" charset="-122"/>
                <a:cs typeface="Inter" pitchFamily="34" charset="-120"/>
              </a:rPr>
              <a:t>We build for the coach. The other three get a one-line answer from the same data, not a separate product.</a:t>
            </a:r>
            <a:endParaRPr lang="en-US" sz="1400" dirty="0"/>
          </a:p>
        </p:txBody>
      </p:sp>
      <p:sp>
        <p:nvSpPr>
          <p:cNvPr id="25" name="Slide Number Placeholder 0"/>
          <p:cNvSpPr>
            <a:spLocks noGrp="1"/>
          </p:cNvSpPr>
          <p:nvPr>
            <p:ph type="sldNum" sz="quarter" idx="4294967295"/>
          </p:nvPr>
        </p:nvSpPr>
        <p:spPr>
          <a:xfrm>
            <a:off x="10774375"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Inter"/>
                <a:ea typeface="Inter"/>
                <a:cs typeface="Inter"/>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3" type="body" hasCustomPrompt="1"/>
          </p:nvPr>
        </p:nvSpPr>
        <p:spPr>
          <a:xfrm>
            <a:off x="548640" y="402336"/>
            <a:ext cx="8229600" cy="274320"/>
          </a:xfrm>
          <a:prstGeom prst="rect">
            <a:avLst/>
          </a:prstGeom>
          <a:noFill/>
          <a:ln/>
        </p:spPr>
        <p:txBody>
          <a:bodyPr wrap="square" lIns="0" tIns="0" rIns="0" bIns="0" rtlCol="0" anchor="t"/>
          <a:lstStyle/>
          <a:p>
            <a:pPr algn="l" indent="0" marL="0">
              <a:buNone/>
            </a:pPr>
            <a:r>
              <a:rPr lang="en-US" sz="1200" b="1" spc="200" kern="0" dirty="0">
                <a:solidFill>
                  <a:srgbClr val="41C5C5"/>
                </a:solidFill>
                <a:latin typeface="Inter" pitchFamily="34" charset="0"/>
                <a:ea typeface="Inter" pitchFamily="34" charset="-122"/>
                <a:cs typeface="Inter" pitchFamily="34" charset="-120"/>
              </a:rPr>
              <a:t>EVIDENCE</a:t>
            </a:r>
            <a:endParaRPr lang="en-US" sz="1200" dirty="0"/>
          </a:p>
        </p:txBody>
      </p:sp>
      <p:sp>
        <p:nvSpPr>
          <p:cNvPr id="3" name="Text 2"/>
          <p:cNvSpPr/>
          <p:nvPr>
            <p:ph idx="104" type="title" hasCustomPrompt="1"/>
          </p:nvPr>
        </p:nvSpPr>
        <p:spPr>
          <a:xfrm>
            <a:off x="548640" y="731520"/>
            <a:ext cx="9509760" cy="713232"/>
          </a:xfrm>
          <a:prstGeom prst="rect">
            <a:avLst/>
          </a:prstGeom>
          <a:noFill/>
          <a:ln/>
        </p:spPr>
        <p:txBody>
          <a:bodyPr wrap="square" lIns="0" tIns="0" rIns="0" bIns="0" rtlCol="0" anchor="t"/>
          <a:lstStyle/>
          <a:p>
            <a:pPr algn="l" indent="0" marL="0">
              <a:buNone/>
            </a:pPr>
            <a:r>
              <a:rPr lang="en-US" sz="2600" dirty="0">
                <a:solidFill>
                  <a:srgbClr val="FFFFFF"/>
                </a:solidFill>
                <a:latin typeface="Poppins SemiBold" pitchFamily="34" charset="0"/>
                <a:ea typeface="Poppins SemiBold" pitchFamily="34" charset="-122"/>
                <a:cs typeface="Poppins SemiBold" pitchFamily="34" charset="-120"/>
              </a:rPr>
              <a:t>What the evidence lets us promise</a:t>
            </a:r>
            <a:endParaRPr lang="en-US" sz="2600" dirty="0"/>
          </a:p>
        </p:txBody>
      </p:sp>
      <p:sp>
        <p:nvSpPr>
          <p:cNvPr id="4" name="Text 2"/>
          <p:cNvSpPr txBox="1"/>
          <p:nvPr/>
        </p:nvSpPr>
        <p:spPr>
          <a:xfrm>
            <a:off x="548640" y="1691640"/>
            <a:ext cx="5029200" cy="658368"/>
          </a:xfrm>
          <a:prstGeom prst="rect">
            <a:avLst/>
          </a:prstGeom>
          <a:noFill/>
          <a:ln/>
        </p:spPr>
        <p:txBody>
          <a:bodyPr wrap="square" lIns="0" tIns="0" rIns="0" bIns="0" rtlCol="0" anchor="ctr"/>
          <a:lstStyle/>
          <a:p>
            <a:pPr indent="0" marL="0">
              <a:buNone/>
            </a:pPr>
            <a:r>
              <a:rPr lang="en-US" sz="4000" dirty="0">
                <a:solidFill>
                  <a:srgbClr val="41C5C5"/>
                </a:solidFill>
                <a:latin typeface="Poppins Black" pitchFamily="34" charset="0"/>
                <a:ea typeface="Poppins Black" pitchFamily="34" charset="-122"/>
                <a:cs typeface="Poppins Black" pitchFamily="34" charset="-120"/>
              </a:rPr>
              <a:t>≈ 0</a:t>
            </a:r>
            <a:endParaRPr lang="en-US" sz="4000" dirty="0"/>
          </a:p>
        </p:txBody>
      </p:sp>
      <p:sp>
        <p:nvSpPr>
          <p:cNvPr id="5" name="Text 3"/>
          <p:cNvSpPr txBox="1"/>
          <p:nvPr/>
        </p:nvSpPr>
        <p:spPr>
          <a:xfrm>
            <a:off x="548640" y="2386584"/>
            <a:ext cx="4937760" cy="603504"/>
          </a:xfrm>
          <a:prstGeom prst="rect">
            <a:avLst/>
          </a:prstGeom>
          <a:noFill/>
          <a:ln/>
        </p:spPr>
        <p:txBody>
          <a:bodyPr wrap="square" lIns="0" tIns="0" rIns="0" bIns="0" rtlCol="0" anchor="t"/>
          <a:lstStyle/>
          <a:p>
            <a:pPr indent="0" marL="0">
              <a:buNone/>
            </a:pPr>
            <a:r>
              <a:rPr lang="en-US" sz="1300" dirty="0">
                <a:solidFill>
                  <a:srgbClr val="D3DAE3"/>
                </a:solidFill>
                <a:latin typeface="Inter" pitchFamily="34" charset="0"/>
                <a:ea typeface="Inter" pitchFamily="34" charset="-122"/>
                <a:cs typeface="Inter" pitchFamily="34" charset="-120"/>
              </a:rPr>
              <a:t>Transfer of computer brain training to untrained skills in children (g = 0.001; Sala &amp; Gobet, 2020)</a:t>
            </a:r>
            <a:endParaRPr lang="en-US" sz="1300" dirty="0"/>
          </a:p>
        </p:txBody>
      </p:sp>
      <p:sp>
        <p:nvSpPr>
          <p:cNvPr id="6" name="Text 4"/>
          <p:cNvSpPr txBox="1"/>
          <p:nvPr/>
        </p:nvSpPr>
        <p:spPr>
          <a:xfrm>
            <a:off x="548640" y="3136392"/>
            <a:ext cx="5029200" cy="658368"/>
          </a:xfrm>
          <a:prstGeom prst="rect">
            <a:avLst/>
          </a:prstGeom>
          <a:noFill/>
          <a:ln/>
        </p:spPr>
        <p:txBody>
          <a:bodyPr wrap="square" lIns="0" tIns="0" rIns="0" bIns="0" rtlCol="0" anchor="ctr"/>
          <a:lstStyle/>
          <a:p>
            <a:pPr indent="0" marL="0">
              <a:buNone/>
            </a:pPr>
            <a:r>
              <a:rPr lang="en-US" sz="4000" dirty="0">
                <a:solidFill>
                  <a:srgbClr val="41C5C5"/>
                </a:solidFill>
                <a:latin typeface="Poppins Black" pitchFamily="34" charset="0"/>
                <a:ea typeface="Poppins Black" pitchFamily="34" charset="-122"/>
                <a:cs typeface="Poppins Black" pitchFamily="34" charset="-120"/>
              </a:rPr>
              <a:t>η² ≤ .015</a:t>
            </a:r>
            <a:endParaRPr lang="en-US" sz="4000" dirty="0"/>
          </a:p>
        </p:txBody>
      </p:sp>
      <p:sp>
        <p:nvSpPr>
          <p:cNvPr id="7" name="Text 5"/>
          <p:cNvSpPr txBox="1"/>
          <p:nvPr/>
        </p:nvSpPr>
        <p:spPr>
          <a:xfrm>
            <a:off x="548640" y="3831336"/>
            <a:ext cx="4937760" cy="603504"/>
          </a:xfrm>
          <a:prstGeom prst="rect">
            <a:avLst/>
          </a:prstGeom>
          <a:noFill/>
          <a:ln/>
        </p:spPr>
        <p:txBody>
          <a:bodyPr wrap="square" lIns="0" tIns="0" rIns="0" bIns="0" rtlCol="0" anchor="t"/>
          <a:lstStyle/>
          <a:p>
            <a:pPr indent="0" marL="0">
              <a:buNone/>
            </a:pPr>
            <a:r>
              <a:rPr lang="en-US" sz="1300" dirty="0">
                <a:solidFill>
                  <a:srgbClr val="D3DAE3"/>
                </a:solidFill>
                <a:latin typeface="Inter" pitchFamily="34" charset="0"/>
                <a:ea typeface="Inter" pitchFamily="34" charset="-122"/>
                <a:cs typeface="Inter" pitchFamily="34" charset="-120"/>
              </a:rPr>
              <a:t>Effect of 10 weeks of NeuroTracker on game performance in 62 academy players (Romeas et al., 2025)</a:t>
            </a:r>
            <a:endParaRPr lang="en-US" sz="1300" dirty="0"/>
          </a:p>
        </p:txBody>
      </p:sp>
      <p:sp>
        <p:nvSpPr>
          <p:cNvPr id="8" name="Text 6"/>
          <p:cNvSpPr txBox="1"/>
          <p:nvPr/>
        </p:nvSpPr>
        <p:spPr>
          <a:xfrm>
            <a:off x="548640" y="4581144"/>
            <a:ext cx="5029200" cy="658368"/>
          </a:xfrm>
          <a:prstGeom prst="rect">
            <a:avLst/>
          </a:prstGeom>
          <a:noFill/>
          <a:ln/>
        </p:spPr>
        <p:txBody>
          <a:bodyPr wrap="square" lIns="0" tIns="0" rIns="0" bIns="0" rtlCol="0" anchor="ctr"/>
          <a:lstStyle/>
          <a:p>
            <a:pPr indent="0" marL="0">
              <a:buNone/>
            </a:pPr>
            <a:r>
              <a:rPr lang="en-US" sz="4000" dirty="0">
                <a:solidFill>
                  <a:srgbClr val="41C5C5"/>
                </a:solidFill>
                <a:latin typeface="Poppins Black" pitchFamily="34" charset="0"/>
                <a:ea typeface="Poppins Black" pitchFamily="34" charset="-122"/>
                <a:cs typeface="Poppins Black" pitchFamily="34" charset="-120"/>
              </a:rPr>
              <a:t>g ≈ 0.65</a:t>
            </a:r>
            <a:endParaRPr lang="en-US" sz="4000" dirty="0"/>
          </a:p>
        </p:txBody>
      </p:sp>
      <p:sp>
        <p:nvSpPr>
          <p:cNvPr id="9" name="Text 7"/>
          <p:cNvSpPr txBox="1"/>
          <p:nvPr/>
        </p:nvSpPr>
        <p:spPr>
          <a:xfrm>
            <a:off x="548640" y="5276088"/>
            <a:ext cx="4937760" cy="603504"/>
          </a:xfrm>
          <a:prstGeom prst="rect">
            <a:avLst/>
          </a:prstGeom>
          <a:noFill/>
          <a:ln/>
        </p:spPr>
        <p:txBody>
          <a:bodyPr wrap="square" lIns="0" tIns="0" rIns="0" bIns="0" rtlCol="0" anchor="t"/>
          <a:lstStyle/>
          <a:p>
            <a:pPr indent="0" marL="0">
              <a:buNone/>
            </a:pPr>
            <a:r>
              <a:rPr lang="en-US" sz="1300" dirty="0">
                <a:solidFill>
                  <a:srgbClr val="D3DAE3"/>
                </a:solidFill>
                <a:latin typeface="Inter" pitchFamily="34" charset="0"/>
                <a:ea typeface="Inter" pitchFamily="34" charset="-122"/>
                <a:cs typeface="Inter" pitchFamily="34" charset="-120"/>
              </a:rPr>
              <a:t>On-field effect of football-specific perceptual training: promising, but small studies (Zhu et al., 2024)</a:t>
            </a:r>
            <a:endParaRPr lang="en-US" sz="1300" dirty="0"/>
          </a:p>
        </p:txBody>
      </p:sp>
      <p:sp>
        <p:nvSpPr>
          <p:cNvPr id="10" name="Shape 8"/>
          <p:cNvSpPr/>
          <p:nvPr/>
        </p:nvSpPr>
        <p:spPr>
          <a:xfrm>
            <a:off x="5897880" y="1691640"/>
            <a:ext cx="0" cy="4206240"/>
          </a:xfrm>
          <a:prstGeom prst="line">
            <a:avLst/>
          </a:prstGeom>
          <a:noFill/>
          <a:ln w="12700">
            <a:solidFill>
              <a:srgbClr val="56779F"/>
            </a:solidFill>
            <a:prstDash val="solid"/>
          </a:ln>
        </p:spPr>
      </p:sp>
      <p:sp>
        <p:nvSpPr>
          <p:cNvPr id="11" name="Shape 9"/>
          <p:cNvSpPr/>
          <p:nvPr/>
        </p:nvSpPr>
        <p:spPr>
          <a:xfrm>
            <a:off x="6263640" y="1691640"/>
            <a:ext cx="5379415" cy="4206240"/>
          </a:xfrm>
          <a:prstGeom prst="roundRect">
            <a:avLst>
              <a:gd name="adj" fmla="val 3478"/>
            </a:avLst>
          </a:prstGeom>
          <a:solidFill>
            <a:srgbClr val="263D57"/>
          </a:solidFill>
          <a:ln w="12700">
            <a:solidFill>
              <a:srgbClr val="263D57"/>
            </a:solidFill>
            <a:prstDash val="solid"/>
          </a:ln>
        </p:spPr>
      </p:sp>
      <p:sp>
        <p:nvSpPr>
          <p:cNvPr id="12" name="Text 10"/>
          <p:cNvSpPr txBox="1"/>
          <p:nvPr/>
        </p:nvSpPr>
        <p:spPr>
          <a:xfrm>
            <a:off x="6583680" y="1965960"/>
            <a:ext cx="4739335" cy="777240"/>
          </a:xfrm>
          <a:prstGeom prst="rect">
            <a:avLst/>
          </a:prstGeom>
          <a:noFill/>
          <a:ln/>
        </p:spPr>
        <p:txBody>
          <a:bodyPr wrap="square" lIns="0" tIns="0" rIns="0" bIns="0" rtlCol="0" anchor="t"/>
          <a:lstStyle/>
          <a:p>
            <a:pPr indent="0" marL="0">
              <a:buNone/>
            </a:pPr>
            <a:r>
              <a:rPr lang="en-US" sz="2000" dirty="0">
                <a:solidFill>
                  <a:srgbClr val="FFFFFF"/>
                </a:solidFill>
                <a:latin typeface="Poppins SemiBold" pitchFamily="34" charset="0"/>
                <a:ea typeface="Poppins SemiBold" pitchFamily="34" charset="-122"/>
                <a:cs typeface="Poppins SemiBold" pitchFamily="34" charset="-120"/>
              </a:rPr>
              <a:t>So every card promises behaviour, not brain change</a:t>
            </a:r>
            <a:endParaRPr lang="en-US" sz="2000" dirty="0"/>
          </a:p>
        </p:txBody>
      </p:sp>
      <p:pic>
        <p:nvPicPr>
          <p:cNvPr id="13" name="Image 0" descr="preencoded.png">    </p:cNvPr>
          <p:cNvPicPr>
            <a:picLocks noChangeAspect="1"/>
          </p:cNvPicPr>
          <p:nvPr/>
        </p:nvPicPr>
        <p:blipFill>
          <a:blip r:embed="rId1"/>
          <a:stretch>
            <a:fillRect/>
          </a:stretch>
        </p:blipFill>
        <p:spPr>
          <a:xfrm>
            <a:off x="6583680" y="2944368"/>
            <a:ext cx="292608" cy="292608"/>
          </a:xfrm>
          <a:prstGeom prst="rect">
            <a:avLst/>
          </a:prstGeom>
        </p:spPr>
      </p:pic>
      <p:sp>
        <p:nvSpPr>
          <p:cNvPr id="14" name="Text 11"/>
          <p:cNvSpPr txBox="1"/>
          <p:nvPr/>
        </p:nvSpPr>
        <p:spPr>
          <a:xfrm>
            <a:off x="7040880" y="2926080"/>
            <a:ext cx="4282135" cy="640080"/>
          </a:xfrm>
          <a:prstGeom prst="rect">
            <a:avLst/>
          </a:prstGeom>
          <a:noFill/>
          <a:ln/>
        </p:spPr>
        <p:txBody>
          <a:bodyPr wrap="square" lIns="0" tIns="0" rIns="0" bIns="0" rtlCol="0" anchor="t"/>
          <a:lstStyle/>
          <a:p>
            <a:pPr indent="0" marL="0">
              <a:buNone/>
            </a:pPr>
            <a:r>
              <a:rPr lang="en-US" sz="1600" dirty="0">
                <a:solidFill>
                  <a:srgbClr val="FFFFFF"/>
                </a:solidFill>
                <a:latin typeface="Inter" pitchFamily="34" charset="0"/>
                <a:ea typeface="Inter" pitchFamily="34" charset="-122"/>
                <a:cs typeface="Inter" pitchFamily="34" charset="-120"/>
              </a:rPr>
              <a:t>Drills change what players do: scanning, decisions, timing under pressure.</a:t>
            </a:r>
            <a:endParaRPr lang="en-US" sz="1600" dirty="0"/>
          </a:p>
        </p:txBody>
      </p:sp>
      <p:pic>
        <p:nvPicPr>
          <p:cNvPr id="15" name="Image 1" descr="preencoded.png">    </p:cNvPr>
          <p:cNvPicPr>
            <a:picLocks noChangeAspect="1"/>
          </p:cNvPicPr>
          <p:nvPr/>
        </p:nvPicPr>
        <p:blipFill>
          <a:blip r:embed="rId2"/>
          <a:stretch>
            <a:fillRect/>
          </a:stretch>
        </p:blipFill>
        <p:spPr>
          <a:xfrm>
            <a:off x="6583680" y="3657600"/>
            <a:ext cx="292608" cy="292608"/>
          </a:xfrm>
          <a:prstGeom prst="rect">
            <a:avLst/>
          </a:prstGeom>
        </p:spPr>
      </p:pic>
      <p:sp>
        <p:nvSpPr>
          <p:cNvPr id="16" name="Text 12"/>
          <p:cNvSpPr txBox="1"/>
          <p:nvPr/>
        </p:nvSpPr>
        <p:spPr>
          <a:xfrm>
            <a:off x="7040880" y="3639312"/>
            <a:ext cx="4282135" cy="640080"/>
          </a:xfrm>
          <a:prstGeom prst="rect">
            <a:avLst/>
          </a:prstGeom>
          <a:noFill/>
          <a:ln/>
        </p:spPr>
        <p:txBody>
          <a:bodyPr wrap="square" lIns="0" tIns="0" rIns="0" bIns="0" rtlCol="0" anchor="t"/>
          <a:lstStyle/>
          <a:p>
            <a:pPr indent="0" marL="0">
              <a:buNone/>
            </a:pPr>
            <a:r>
              <a:rPr lang="en-US" sz="1600" dirty="0">
                <a:solidFill>
                  <a:srgbClr val="FFFFFF"/>
                </a:solidFill>
                <a:latin typeface="Inter" pitchFamily="34" charset="0"/>
                <a:ea typeface="Inter" pitchFamily="34" charset="-122"/>
                <a:cs typeface="Inter" pitchFamily="34" charset="-120"/>
              </a:rPr>
              <a:t>Each card says what the drill exaggerates, not what it trains.</a:t>
            </a:r>
            <a:endParaRPr lang="en-US" sz="1600" dirty="0"/>
          </a:p>
        </p:txBody>
      </p:sp>
      <p:pic>
        <p:nvPicPr>
          <p:cNvPr id="17" name="Image 2" descr="preencoded.png">    </p:cNvPr>
          <p:cNvPicPr>
            <a:picLocks noChangeAspect="1"/>
          </p:cNvPicPr>
          <p:nvPr/>
        </p:nvPicPr>
        <p:blipFill>
          <a:blip r:embed="rId3"/>
          <a:stretch>
            <a:fillRect/>
          </a:stretch>
        </p:blipFill>
        <p:spPr>
          <a:xfrm>
            <a:off x="6583680" y="4370832"/>
            <a:ext cx="292608" cy="292608"/>
          </a:xfrm>
          <a:prstGeom prst="rect">
            <a:avLst/>
          </a:prstGeom>
        </p:spPr>
      </p:pic>
      <p:sp>
        <p:nvSpPr>
          <p:cNvPr id="18" name="Text 13"/>
          <p:cNvSpPr txBox="1"/>
          <p:nvPr/>
        </p:nvSpPr>
        <p:spPr>
          <a:xfrm>
            <a:off x="7040880" y="4352544"/>
            <a:ext cx="4282135" cy="640080"/>
          </a:xfrm>
          <a:prstGeom prst="rect">
            <a:avLst/>
          </a:prstGeom>
          <a:noFill/>
          <a:ln/>
        </p:spPr>
        <p:txBody>
          <a:bodyPr wrap="square" lIns="0" tIns="0" rIns="0" bIns="0" rtlCol="0" anchor="t"/>
          <a:lstStyle/>
          <a:p>
            <a:pPr indent="0" marL="0">
              <a:buNone/>
            </a:pPr>
            <a:r>
              <a:rPr lang="en-US" sz="1600" dirty="0">
                <a:solidFill>
                  <a:srgbClr val="FFFFFF"/>
                </a:solidFill>
                <a:latin typeface="Inter" pitchFamily="34" charset="0"/>
                <a:ea typeface="Inter" pitchFamily="34" charset="-122"/>
                <a:cs typeface="Inter" pitchFamily="34" charset="-120"/>
              </a:rPr>
              <a:t>Each card names one behaviour the coach can count tonight.</a:t>
            </a:r>
            <a:endParaRPr lang="en-US" sz="1600" dirty="0"/>
          </a:p>
        </p:txBody>
      </p:sp>
      <p:pic>
        <p:nvPicPr>
          <p:cNvPr id="19" name="Image 3" descr="preencoded.png">    </p:cNvPr>
          <p:cNvPicPr>
            <a:picLocks noChangeAspect="1"/>
          </p:cNvPicPr>
          <p:nvPr/>
        </p:nvPicPr>
        <p:blipFill>
          <a:blip r:embed="rId4"/>
          <a:stretch>
            <a:fillRect/>
          </a:stretch>
        </p:blipFill>
        <p:spPr>
          <a:xfrm>
            <a:off x="6583680" y="5084064"/>
            <a:ext cx="292608" cy="292608"/>
          </a:xfrm>
          <a:prstGeom prst="rect">
            <a:avLst/>
          </a:prstGeom>
        </p:spPr>
      </p:pic>
      <p:sp>
        <p:nvSpPr>
          <p:cNvPr id="20" name="Text 14"/>
          <p:cNvSpPr txBox="1"/>
          <p:nvPr/>
        </p:nvSpPr>
        <p:spPr>
          <a:xfrm>
            <a:off x="7040880" y="5065776"/>
            <a:ext cx="4282135" cy="640080"/>
          </a:xfrm>
          <a:prstGeom prst="rect">
            <a:avLst/>
          </a:prstGeom>
          <a:noFill/>
          <a:ln/>
        </p:spPr>
        <p:txBody>
          <a:bodyPr wrap="square" lIns="0" tIns="0" rIns="0" bIns="0" rtlCol="0" anchor="t"/>
          <a:lstStyle/>
          <a:p>
            <a:pPr indent="0" marL="0">
              <a:buNone/>
            </a:pPr>
            <a:r>
              <a:rPr lang="en-US" sz="1600" dirty="0">
                <a:solidFill>
                  <a:srgbClr val="FFFFFF"/>
                </a:solidFill>
                <a:latin typeface="Inter" pitchFamily="34" charset="0"/>
                <a:ea typeface="Inter" pitchFamily="34" charset="-122"/>
                <a:cs typeface="Inter" pitchFamily="34" charset="-120"/>
              </a:rPr>
              <a:t>We do not claim better match results. Nobody has shown that yet.</a:t>
            </a:r>
            <a:endParaRPr lang="en-US" sz="1600" dirty="0"/>
          </a:p>
        </p:txBody>
      </p:sp>
      <p:sp>
        <p:nvSpPr>
          <p:cNvPr id="25" name="Slide Number Placeholder 0"/>
          <p:cNvSpPr>
            <a:spLocks noGrp="1"/>
          </p:cNvSpPr>
          <p:nvPr>
            <p:ph type="sldNum" sz="quarter" idx="4294967295"/>
          </p:nvPr>
        </p:nvSpPr>
        <p:spPr>
          <a:xfrm>
            <a:off x="10774375"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C0D4"/>
                </a:solidFill>
                <a:latin typeface="Inter"/>
                <a:ea typeface="Inter"/>
                <a:cs typeface="Inter"/>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3" type="body" hasCustomPrompt="1"/>
          </p:nvPr>
        </p:nvSpPr>
        <p:spPr>
          <a:xfrm>
            <a:off x="548640" y="402336"/>
            <a:ext cx="8229600" cy="274320"/>
          </a:xfrm>
          <a:prstGeom prst="rect">
            <a:avLst/>
          </a:prstGeom>
          <a:noFill/>
          <a:ln/>
        </p:spPr>
        <p:txBody>
          <a:bodyPr wrap="square" lIns="0" tIns="0" rIns="0" bIns="0" rtlCol="0" anchor="t"/>
          <a:lstStyle/>
          <a:p>
            <a:pPr algn="l" indent="0" marL="0">
              <a:buNone/>
            </a:pPr>
            <a:r>
              <a:rPr lang="en-US" sz="1200" b="1" spc="200" kern="0" dirty="0">
                <a:solidFill>
                  <a:srgbClr val="41C5C5"/>
                </a:solidFill>
                <a:latin typeface="Inter" pitchFamily="34" charset="0"/>
                <a:ea typeface="Inter" pitchFamily="34" charset="-122"/>
                <a:cs typeface="Inter" pitchFamily="34" charset="-120"/>
              </a:rPr>
              <a:t>DESIGN RULES</a:t>
            </a:r>
            <a:endParaRPr lang="en-US" sz="1200" dirty="0"/>
          </a:p>
        </p:txBody>
      </p:sp>
      <p:sp>
        <p:nvSpPr>
          <p:cNvPr id="3" name="Text 2"/>
          <p:cNvSpPr/>
          <p:nvPr>
            <p:ph idx="104" type="title" hasCustomPrompt="1"/>
          </p:nvPr>
        </p:nvSpPr>
        <p:spPr>
          <a:xfrm>
            <a:off x="548640" y="731520"/>
            <a:ext cx="9509760" cy="713232"/>
          </a:xfrm>
          <a:prstGeom prst="rect">
            <a:avLst/>
          </a:prstGeom>
          <a:noFill/>
          <a:ln/>
        </p:spPr>
        <p:txBody>
          <a:bodyPr wrap="square" lIns="0" tIns="0" rIns="0" bIns="0" rtlCol="0" anchor="t"/>
          <a:lstStyle/>
          <a:p>
            <a:pPr algn="l" indent="0" marL="0">
              <a:buNone/>
            </a:pPr>
            <a:r>
              <a:rPr lang="en-US" sz="2600" dirty="0">
                <a:solidFill>
                  <a:srgbClr val="263D57"/>
                </a:solidFill>
                <a:latin typeface="Poppins SemiBold" pitchFamily="34" charset="0"/>
                <a:ea typeface="Poppins SemiBold" pitchFamily="34" charset="-122"/>
                <a:cs typeface="Poppins SemiBold" pitchFamily="34" charset="-120"/>
              </a:rPr>
              <a:t>Five rules to keep cognitive drills real football</a:t>
            </a:r>
            <a:endParaRPr lang="en-US" sz="2600" dirty="0"/>
          </a:p>
        </p:txBody>
      </p:sp>
      <p:sp>
        <p:nvSpPr>
          <p:cNvPr id="4" name="Rule 1"/>
          <p:cNvSpPr/>
          <p:nvPr/>
        </p:nvSpPr>
        <p:spPr>
          <a:xfrm>
            <a:off x="548640" y="1645920"/>
            <a:ext cx="11094415" cy="786384"/>
          </a:xfrm>
          <a:prstGeom prst="roundRect">
            <a:avLst>
              <a:gd name="adj" fmla="val 18605"/>
            </a:avLst>
          </a:prstGeom>
          <a:solidFill>
            <a:srgbClr val="F2F5F8"/>
          </a:solidFill>
          <a:ln w="9525">
            <a:solidFill>
              <a:srgbClr val="E2E8F0"/>
            </a:solidFill>
            <a:prstDash val="solid"/>
          </a:ln>
        </p:spPr>
      </p:sp>
      <p:sp>
        <p:nvSpPr>
          <p:cNvPr id="5" name="Shape 3"/>
          <p:cNvSpPr/>
          <p:nvPr/>
        </p:nvSpPr>
        <p:spPr>
          <a:xfrm>
            <a:off x="777240" y="1810512"/>
            <a:ext cx="457200" cy="457200"/>
          </a:xfrm>
          <a:prstGeom prst="ellipse">
            <a:avLst/>
          </a:prstGeom>
          <a:solidFill>
            <a:srgbClr val="41C5C5"/>
          </a:solidFill>
          <a:ln/>
        </p:spPr>
      </p:sp>
      <p:sp>
        <p:nvSpPr>
          <p:cNvPr id="6" name="Text 4"/>
          <p:cNvSpPr txBox="1"/>
          <p:nvPr/>
        </p:nvSpPr>
        <p:spPr>
          <a:xfrm>
            <a:off x="777240" y="1810512"/>
            <a:ext cx="457200" cy="457200"/>
          </a:xfrm>
          <a:prstGeom prst="rect">
            <a:avLst/>
          </a:prstGeom>
          <a:noFill/>
          <a:ln/>
        </p:spPr>
        <p:txBody>
          <a:bodyPr wrap="square" lIns="0" tIns="0" rIns="0" bIns="0" rtlCol="0" anchor="ctr"/>
          <a:lstStyle/>
          <a:p>
            <a:pPr algn="ctr" indent="0" marL="0">
              <a:buNone/>
            </a:pPr>
            <a:r>
              <a:rPr lang="en-US" sz="1600" dirty="0">
                <a:solidFill>
                  <a:srgbClr val="263D57"/>
                </a:solidFill>
                <a:latin typeface="Poppins SemiBold" pitchFamily="34" charset="0"/>
                <a:ea typeface="Poppins SemiBold" pitchFamily="34" charset="-122"/>
                <a:cs typeface="Poppins SemiBold" pitchFamily="34" charset="-120"/>
              </a:rPr>
              <a:t>1</a:t>
            </a:r>
            <a:endParaRPr lang="en-US" sz="1600" dirty="0"/>
          </a:p>
        </p:txBody>
      </p:sp>
      <p:sp>
        <p:nvSpPr>
          <p:cNvPr id="7" name="Text 5"/>
          <p:cNvSpPr txBox="1"/>
          <p:nvPr/>
        </p:nvSpPr>
        <p:spPr>
          <a:xfrm>
            <a:off x="1463040" y="1645920"/>
            <a:ext cx="4480560" cy="786384"/>
          </a:xfrm>
          <a:prstGeom prst="rect">
            <a:avLst/>
          </a:prstGeom>
          <a:noFill/>
          <a:ln/>
        </p:spPr>
        <p:txBody>
          <a:bodyPr wrap="square" lIns="0" tIns="0" rIns="0" bIns="0" rtlCol="0" anchor="ctr"/>
          <a:lstStyle/>
          <a:p>
            <a:pPr indent="0" marL="0">
              <a:buNone/>
            </a:pPr>
            <a:r>
              <a:rPr lang="en-US" sz="1600" dirty="0">
                <a:solidFill>
                  <a:srgbClr val="263D57"/>
                </a:solidFill>
                <a:latin typeface="Poppins SemiBold" pitchFamily="34" charset="0"/>
                <a:ea typeface="Poppins SemiBold" pitchFamily="34" charset="-122"/>
                <a:cs typeface="Poppins SemiBold" pitchFamily="34" charset="-120"/>
              </a:rPr>
              <a:t>Load cognition through game information, not extra tasks</a:t>
            </a:r>
            <a:endParaRPr lang="en-US" sz="1600" dirty="0"/>
          </a:p>
        </p:txBody>
      </p:sp>
      <p:sp>
        <p:nvSpPr>
          <p:cNvPr id="8" name="Text 6"/>
          <p:cNvSpPr txBox="1"/>
          <p:nvPr/>
        </p:nvSpPr>
        <p:spPr>
          <a:xfrm>
            <a:off x="6126480" y="1645920"/>
            <a:ext cx="5287975" cy="786384"/>
          </a:xfrm>
          <a:prstGeom prst="rect">
            <a:avLst/>
          </a:prstGeom>
          <a:noFill/>
          <a:ln/>
        </p:spPr>
        <p:txBody>
          <a:bodyPr wrap="square" lIns="0" tIns="0" rIns="0" bIns="0" rtlCol="0" anchor="ctr"/>
          <a:lstStyle/>
          <a:p>
            <a:pPr indent="0" marL="0">
              <a:buNone/>
            </a:pPr>
            <a:r>
              <a:rPr lang="en-US" sz="1400" dirty="0">
                <a:solidFill>
                  <a:srgbClr val="5A6573"/>
                </a:solidFill>
                <a:latin typeface="Inter" pitchFamily="34" charset="0"/>
                <a:ea typeface="Inter" pitchFamily="34" charset="-122"/>
                <a:cs typeface="Inter" pitchFamily="34" charset="-120"/>
              </a:rPr>
              <a:t>Arithmetic or memory tasks during a 3v3 cut tactical play in U13 players (Moreira et al., 2025).</a:t>
            </a:r>
            <a:endParaRPr lang="en-US" sz="1400" dirty="0"/>
          </a:p>
        </p:txBody>
      </p:sp>
      <p:sp>
        <p:nvSpPr>
          <p:cNvPr id="9" name="Rule 2"/>
          <p:cNvSpPr/>
          <p:nvPr/>
        </p:nvSpPr>
        <p:spPr>
          <a:xfrm>
            <a:off x="548640" y="2542032"/>
            <a:ext cx="11094415" cy="786384"/>
          </a:xfrm>
          <a:prstGeom prst="roundRect">
            <a:avLst>
              <a:gd name="adj" fmla="val 18605"/>
            </a:avLst>
          </a:prstGeom>
          <a:solidFill>
            <a:srgbClr val="F2F5F8"/>
          </a:solidFill>
          <a:ln w="9525">
            <a:solidFill>
              <a:srgbClr val="E2E8F0"/>
            </a:solidFill>
            <a:prstDash val="solid"/>
          </a:ln>
        </p:spPr>
      </p:sp>
      <p:sp>
        <p:nvSpPr>
          <p:cNvPr id="10" name="Shape 8"/>
          <p:cNvSpPr/>
          <p:nvPr/>
        </p:nvSpPr>
        <p:spPr>
          <a:xfrm>
            <a:off x="777240" y="2706624"/>
            <a:ext cx="457200" cy="457200"/>
          </a:xfrm>
          <a:prstGeom prst="ellipse">
            <a:avLst/>
          </a:prstGeom>
          <a:solidFill>
            <a:srgbClr val="263D57"/>
          </a:solidFill>
          <a:ln/>
        </p:spPr>
      </p:sp>
      <p:sp>
        <p:nvSpPr>
          <p:cNvPr id="11" name="Text 9"/>
          <p:cNvSpPr txBox="1"/>
          <p:nvPr/>
        </p:nvSpPr>
        <p:spPr>
          <a:xfrm>
            <a:off x="777240" y="2706624"/>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Poppins SemiBold" pitchFamily="34" charset="0"/>
                <a:ea typeface="Poppins SemiBold" pitchFamily="34" charset="-122"/>
                <a:cs typeface="Poppins SemiBold" pitchFamily="34" charset="-120"/>
              </a:rPr>
              <a:t>2</a:t>
            </a:r>
            <a:endParaRPr lang="en-US" sz="1600" dirty="0"/>
          </a:p>
        </p:txBody>
      </p:sp>
      <p:sp>
        <p:nvSpPr>
          <p:cNvPr id="12" name="Text 10"/>
          <p:cNvSpPr txBox="1"/>
          <p:nvPr/>
        </p:nvSpPr>
        <p:spPr>
          <a:xfrm>
            <a:off x="1463040" y="2542032"/>
            <a:ext cx="4480560" cy="786384"/>
          </a:xfrm>
          <a:prstGeom prst="rect">
            <a:avLst/>
          </a:prstGeom>
          <a:noFill/>
          <a:ln/>
        </p:spPr>
        <p:txBody>
          <a:bodyPr wrap="square" lIns="0" tIns="0" rIns="0" bIns="0" rtlCol="0" anchor="ctr"/>
          <a:lstStyle/>
          <a:p>
            <a:pPr indent="0" marL="0">
              <a:buNone/>
            </a:pPr>
            <a:r>
              <a:rPr lang="en-US" sz="1600" dirty="0">
                <a:solidFill>
                  <a:srgbClr val="263D57"/>
                </a:solidFill>
                <a:latin typeface="Poppins SemiBold" pitchFamily="34" charset="0"/>
                <a:ea typeface="Poppins SemiBold" pitchFamily="34" charset="-122"/>
                <a:cs typeface="Poppins SemiBold" pitchFamily="34" charset="-120"/>
              </a:rPr>
              <a:t>Keep opponents, direction and goals</a:t>
            </a:r>
            <a:endParaRPr lang="en-US" sz="1600" dirty="0"/>
          </a:p>
        </p:txBody>
      </p:sp>
      <p:sp>
        <p:nvSpPr>
          <p:cNvPr id="13" name="Text 11"/>
          <p:cNvSpPr txBox="1"/>
          <p:nvPr/>
        </p:nvSpPr>
        <p:spPr>
          <a:xfrm>
            <a:off x="6126480" y="2542032"/>
            <a:ext cx="5287975" cy="786384"/>
          </a:xfrm>
          <a:prstGeom prst="rect">
            <a:avLst/>
          </a:prstGeom>
          <a:noFill/>
          <a:ln/>
        </p:spPr>
        <p:txBody>
          <a:bodyPr wrap="square" lIns="0" tIns="0" rIns="0" bIns="0" rtlCol="0" anchor="ctr"/>
          <a:lstStyle/>
          <a:p>
            <a:pPr indent="0" marL="0">
              <a:buNone/>
            </a:pPr>
            <a:r>
              <a:rPr lang="en-US" sz="1400" dirty="0">
                <a:solidFill>
                  <a:srgbClr val="5A6573"/>
                </a:solidFill>
                <a:latin typeface="Inter" pitchFamily="34" charset="0"/>
                <a:ea typeface="Inter" pitchFamily="34" charset="-122"/>
                <a:cs typeface="Inter" pitchFamily="34" charset="-120"/>
              </a:rPr>
              <a:t>Unopposed patterns change what players look at; use them only as a short warm-up.</a:t>
            </a:r>
            <a:endParaRPr lang="en-US" sz="1400" dirty="0"/>
          </a:p>
        </p:txBody>
      </p:sp>
      <p:sp>
        <p:nvSpPr>
          <p:cNvPr id="14" name="Rule 3"/>
          <p:cNvSpPr/>
          <p:nvPr/>
        </p:nvSpPr>
        <p:spPr>
          <a:xfrm>
            <a:off x="548640" y="3438144"/>
            <a:ext cx="11094415" cy="786384"/>
          </a:xfrm>
          <a:prstGeom prst="roundRect">
            <a:avLst>
              <a:gd name="adj" fmla="val 18605"/>
            </a:avLst>
          </a:prstGeom>
          <a:solidFill>
            <a:srgbClr val="F2F5F8"/>
          </a:solidFill>
          <a:ln w="9525">
            <a:solidFill>
              <a:srgbClr val="E2E8F0"/>
            </a:solidFill>
            <a:prstDash val="solid"/>
          </a:ln>
        </p:spPr>
      </p:sp>
      <p:sp>
        <p:nvSpPr>
          <p:cNvPr id="15" name="Shape 13"/>
          <p:cNvSpPr/>
          <p:nvPr/>
        </p:nvSpPr>
        <p:spPr>
          <a:xfrm>
            <a:off x="777240" y="3602736"/>
            <a:ext cx="457200" cy="457200"/>
          </a:xfrm>
          <a:prstGeom prst="ellipse">
            <a:avLst/>
          </a:prstGeom>
          <a:solidFill>
            <a:srgbClr val="263D57"/>
          </a:solidFill>
          <a:ln/>
        </p:spPr>
      </p:sp>
      <p:sp>
        <p:nvSpPr>
          <p:cNvPr id="16" name="Text 14"/>
          <p:cNvSpPr txBox="1"/>
          <p:nvPr/>
        </p:nvSpPr>
        <p:spPr>
          <a:xfrm>
            <a:off x="777240" y="3602736"/>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Poppins SemiBold" pitchFamily="34" charset="0"/>
                <a:ea typeface="Poppins SemiBold" pitchFamily="34" charset="-122"/>
                <a:cs typeface="Poppins SemiBold" pitchFamily="34" charset="-120"/>
              </a:rPr>
              <a:t>3</a:t>
            </a:r>
            <a:endParaRPr lang="en-US" sz="1600" dirty="0"/>
          </a:p>
        </p:txBody>
      </p:sp>
      <p:sp>
        <p:nvSpPr>
          <p:cNvPr id="17" name="Text 15"/>
          <p:cNvSpPr txBox="1"/>
          <p:nvPr/>
        </p:nvSpPr>
        <p:spPr>
          <a:xfrm>
            <a:off x="1463040" y="3438144"/>
            <a:ext cx="4480560" cy="786384"/>
          </a:xfrm>
          <a:prstGeom prst="rect">
            <a:avLst/>
          </a:prstGeom>
          <a:noFill/>
          <a:ln/>
        </p:spPr>
        <p:txBody>
          <a:bodyPr wrap="square" lIns="0" tIns="0" rIns="0" bIns="0" rtlCol="0" anchor="ctr"/>
          <a:lstStyle/>
          <a:p>
            <a:pPr indent="0" marL="0">
              <a:buNone/>
            </a:pPr>
            <a:r>
              <a:rPr lang="en-US" sz="1600" dirty="0">
                <a:solidFill>
                  <a:srgbClr val="263D57"/>
                </a:solidFill>
                <a:latin typeface="Poppins SemiBold" pitchFamily="34" charset="0"/>
                <a:ea typeface="Poppins SemiBold" pitchFamily="34" charset="-122"/>
                <a:cs typeface="Poppins SemiBold" pitchFamily="34" charset="-120"/>
              </a:rPr>
              <a:t>Change one thing, count one thing</a:t>
            </a:r>
            <a:endParaRPr lang="en-US" sz="1600" dirty="0"/>
          </a:p>
        </p:txBody>
      </p:sp>
      <p:sp>
        <p:nvSpPr>
          <p:cNvPr id="18" name="Text 16"/>
          <p:cNvSpPr txBox="1"/>
          <p:nvPr/>
        </p:nvSpPr>
        <p:spPr>
          <a:xfrm>
            <a:off x="6126480" y="3438144"/>
            <a:ext cx="5287975" cy="786384"/>
          </a:xfrm>
          <a:prstGeom prst="rect">
            <a:avLst/>
          </a:prstGeom>
          <a:noFill/>
          <a:ln/>
        </p:spPr>
        <p:txBody>
          <a:bodyPr wrap="square" lIns="0" tIns="0" rIns="0" bIns="0" rtlCol="0" anchor="ctr"/>
          <a:lstStyle/>
          <a:p>
            <a:pPr indent="0" marL="0">
              <a:buNone/>
            </a:pPr>
            <a:r>
              <a:rPr lang="en-US" sz="1400" dirty="0">
                <a:solidFill>
                  <a:srgbClr val="5A6573"/>
                </a:solidFill>
                <a:latin typeface="Inter" pitchFamily="34" charset="0"/>
                <a:ea typeface="Inter" pitchFamily="34" charset="-122"/>
                <a:cs typeface="Inter" pitchFamily="34" charset="-120"/>
              </a:rPr>
              <a:t>One constraint per card and one behaviour to count, so the coach can see an effect.</a:t>
            </a:r>
            <a:endParaRPr lang="en-US" sz="1400" dirty="0"/>
          </a:p>
        </p:txBody>
      </p:sp>
      <p:sp>
        <p:nvSpPr>
          <p:cNvPr id="19" name="Rule 4"/>
          <p:cNvSpPr/>
          <p:nvPr/>
        </p:nvSpPr>
        <p:spPr>
          <a:xfrm>
            <a:off x="548640" y="4334256"/>
            <a:ext cx="11094415" cy="786384"/>
          </a:xfrm>
          <a:prstGeom prst="roundRect">
            <a:avLst>
              <a:gd name="adj" fmla="val 18605"/>
            </a:avLst>
          </a:prstGeom>
          <a:solidFill>
            <a:srgbClr val="F2F5F8"/>
          </a:solidFill>
          <a:ln w="9525">
            <a:solidFill>
              <a:srgbClr val="E2E8F0"/>
            </a:solidFill>
            <a:prstDash val="solid"/>
          </a:ln>
        </p:spPr>
      </p:sp>
      <p:sp>
        <p:nvSpPr>
          <p:cNvPr id="20" name="Shape 18"/>
          <p:cNvSpPr/>
          <p:nvPr/>
        </p:nvSpPr>
        <p:spPr>
          <a:xfrm>
            <a:off x="777240" y="4498848"/>
            <a:ext cx="457200" cy="457200"/>
          </a:xfrm>
          <a:prstGeom prst="ellipse">
            <a:avLst/>
          </a:prstGeom>
          <a:solidFill>
            <a:srgbClr val="263D57"/>
          </a:solidFill>
          <a:ln/>
        </p:spPr>
      </p:sp>
      <p:sp>
        <p:nvSpPr>
          <p:cNvPr id="21" name="Text 19"/>
          <p:cNvSpPr txBox="1"/>
          <p:nvPr/>
        </p:nvSpPr>
        <p:spPr>
          <a:xfrm>
            <a:off x="777240" y="4498848"/>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Poppins SemiBold" pitchFamily="34" charset="0"/>
                <a:ea typeface="Poppins SemiBold" pitchFamily="34" charset="-122"/>
                <a:cs typeface="Poppins SemiBold" pitchFamily="34" charset="-120"/>
              </a:rPr>
              <a:t>4</a:t>
            </a:r>
            <a:endParaRPr lang="en-US" sz="1600" dirty="0"/>
          </a:p>
        </p:txBody>
      </p:sp>
      <p:sp>
        <p:nvSpPr>
          <p:cNvPr id="22" name="Text 20"/>
          <p:cNvSpPr txBox="1"/>
          <p:nvPr/>
        </p:nvSpPr>
        <p:spPr>
          <a:xfrm>
            <a:off x="1463040" y="4334256"/>
            <a:ext cx="4480560" cy="786384"/>
          </a:xfrm>
          <a:prstGeom prst="rect">
            <a:avLst/>
          </a:prstGeom>
          <a:noFill/>
          <a:ln/>
        </p:spPr>
        <p:txBody>
          <a:bodyPr wrap="square" lIns="0" tIns="0" rIns="0" bIns="0" rtlCol="0" anchor="ctr"/>
          <a:lstStyle/>
          <a:p>
            <a:pPr indent="0" marL="0">
              <a:buNone/>
            </a:pPr>
            <a:r>
              <a:rPr lang="en-US" sz="1600" dirty="0">
                <a:solidFill>
                  <a:srgbClr val="263D57"/>
                </a:solidFill>
                <a:latin typeface="Poppins SemiBold" pitchFamily="34" charset="0"/>
                <a:ea typeface="Poppins SemiBold" pitchFamily="34" charset="-122"/>
                <a:cs typeface="Poppins SemiBold" pitchFamily="34" charset="-120"/>
              </a:rPr>
              <a:t>An individual rule inside the team drill</a:t>
            </a:r>
            <a:endParaRPr lang="en-US" sz="1600" dirty="0"/>
          </a:p>
        </p:txBody>
      </p:sp>
      <p:sp>
        <p:nvSpPr>
          <p:cNvPr id="23" name="Text 21"/>
          <p:cNvSpPr txBox="1"/>
          <p:nvPr/>
        </p:nvSpPr>
        <p:spPr>
          <a:xfrm>
            <a:off x="6126480" y="4334256"/>
            <a:ext cx="5287975" cy="786384"/>
          </a:xfrm>
          <a:prstGeom prst="rect">
            <a:avLst/>
          </a:prstGeom>
          <a:noFill/>
          <a:ln/>
        </p:spPr>
        <p:txBody>
          <a:bodyPr wrap="square" lIns="0" tIns="0" rIns="0" bIns="0" rtlCol="0" anchor="ctr"/>
          <a:lstStyle/>
          <a:p>
            <a:pPr indent="0" marL="0">
              <a:buNone/>
            </a:pPr>
            <a:r>
              <a:rPr lang="en-US" sz="1400" dirty="0">
                <a:solidFill>
                  <a:srgbClr val="5A6573"/>
                </a:solidFill>
                <a:latin typeface="Inter" pitchFamily="34" charset="0"/>
                <a:ea typeface="Inter" pitchFamily="34" charset="-122"/>
                <a:cs typeface="Inter" pitchFamily="34" charset="-120"/>
              </a:rPr>
              <a:t>Only Sam gets the scan-and-call rule; the others play the normal game. No extra sessions.</a:t>
            </a:r>
            <a:endParaRPr lang="en-US" sz="1400" dirty="0"/>
          </a:p>
        </p:txBody>
      </p:sp>
      <p:sp>
        <p:nvSpPr>
          <p:cNvPr id="24" name="Rule 5"/>
          <p:cNvSpPr/>
          <p:nvPr/>
        </p:nvSpPr>
        <p:spPr>
          <a:xfrm>
            <a:off x="548640" y="5230368"/>
            <a:ext cx="11094415" cy="786384"/>
          </a:xfrm>
          <a:prstGeom prst="roundRect">
            <a:avLst>
              <a:gd name="adj" fmla="val 18605"/>
            </a:avLst>
          </a:prstGeom>
          <a:solidFill>
            <a:srgbClr val="F2F5F8"/>
          </a:solidFill>
          <a:ln w="9525">
            <a:solidFill>
              <a:srgbClr val="E2E8F0"/>
            </a:solidFill>
            <a:prstDash val="solid"/>
          </a:ln>
        </p:spPr>
      </p:sp>
      <p:sp>
        <p:nvSpPr>
          <p:cNvPr id="25" name="Shape 23"/>
          <p:cNvSpPr/>
          <p:nvPr/>
        </p:nvSpPr>
        <p:spPr>
          <a:xfrm>
            <a:off x="777240" y="5394960"/>
            <a:ext cx="457200" cy="457200"/>
          </a:xfrm>
          <a:prstGeom prst="ellipse">
            <a:avLst/>
          </a:prstGeom>
          <a:solidFill>
            <a:srgbClr val="263D57"/>
          </a:solidFill>
          <a:ln/>
        </p:spPr>
      </p:sp>
      <p:sp>
        <p:nvSpPr>
          <p:cNvPr id="26" name="Text 24"/>
          <p:cNvSpPr txBox="1"/>
          <p:nvPr/>
        </p:nvSpPr>
        <p:spPr>
          <a:xfrm>
            <a:off x="777240" y="5394960"/>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Poppins SemiBold" pitchFamily="34" charset="0"/>
                <a:ea typeface="Poppins SemiBold" pitchFamily="34" charset="-122"/>
                <a:cs typeface="Poppins SemiBold" pitchFamily="34" charset="-120"/>
              </a:rPr>
              <a:t>5</a:t>
            </a:r>
            <a:endParaRPr lang="en-US" sz="1600" dirty="0"/>
          </a:p>
        </p:txBody>
      </p:sp>
      <p:sp>
        <p:nvSpPr>
          <p:cNvPr id="27" name="Text 25"/>
          <p:cNvSpPr txBox="1"/>
          <p:nvPr/>
        </p:nvSpPr>
        <p:spPr>
          <a:xfrm>
            <a:off x="1463040" y="5230368"/>
            <a:ext cx="4480560" cy="786384"/>
          </a:xfrm>
          <a:prstGeom prst="rect">
            <a:avLst/>
          </a:prstGeom>
          <a:noFill/>
          <a:ln/>
        </p:spPr>
        <p:txBody>
          <a:bodyPr wrap="square" lIns="0" tIns="0" rIns="0" bIns="0" rtlCol="0" anchor="ctr"/>
          <a:lstStyle/>
          <a:p>
            <a:pPr indent="0" marL="0">
              <a:buNone/>
            </a:pPr>
            <a:r>
              <a:rPr lang="en-US" sz="1600" dirty="0">
                <a:solidFill>
                  <a:srgbClr val="263D57"/>
                </a:solidFill>
                <a:latin typeface="Poppins SemiBold" pitchFamily="34" charset="0"/>
                <a:ea typeface="Poppins SemiBold" pitchFamily="34" charset="-122"/>
                <a:cs typeface="Poppins SemiBold" pitchFamily="34" charset="-120"/>
              </a:rPr>
              <a:t>Set difficulty per player, keep instructions short</a:t>
            </a:r>
            <a:endParaRPr lang="en-US" sz="1600" dirty="0"/>
          </a:p>
        </p:txBody>
      </p:sp>
      <p:sp>
        <p:nvSpPr>
          <p:cNvPr id="28" name="Text 26"/>
          <p:cNvSpPr txBox="1"/>
          <p:nvPr/>
        </p:nvSpPr>
        <p:spPr>
          <a:xfrm>
            <a:off x="6126480" y="5230368"/>
            <a:ext cx="5287975" cy="786384"/>
          </a:xfrm>
          <a:prstGeom prst="rect">
            <a:avLst/>
          </a:prstGeom>
          <a:noFill/>
          <a:ln/>
        </p:spPr>
        <p:txBody>
          <a:bodyPr wrap="square" lIns="0" tIns="0" rIns="0" bIns="0" rtlCol="0" anchor="ctr"/>
          <a:lstStyle/>
          <a:p>
            <a:pPr indent="0" marL="0">
              <a:buNone/>
            </a:pPr>
            <a:r>
              <a:rPr lang="en-US" sz="1400" dirty="0">
                <a:solidFill>
                  <a:srgbClr val="5A6573"/>
                </a:solidFill>
                <a:latin typeface="Inter" pitchFamily="34" charset="0"/>
                <a:ea typeface="Inter" pitchFamily="34" charset="-122"/>
                <a:cs typeface="Inter" pitchFamily="34" charset="-120"/>
              </a:rPr>
              <a:t>Five instructions hurt learning in low-working-memory children (d = 1.04; Buszard et al., 2017).</a:t>
            </a:r>
            <a:endParaRPr lang="en-US" sz="1400" dirty="0"/>
          </a:p>
        </p:txBody>
      </p:sp>
      <p:sp>
        <p:nvSpPr>
          <p:cNvPr id="25" name="Slide Number Placeholder 0"/>
          <p:cNvSpPr>
            <a:spLocks noGrp="1"/>
          </p:cNvSpPr>
          <p:nvPr>
            <p:ph type="sldNum" sz="quarter" idx="4294967295"/>
          </p:nvPr>
        </p:nvSpPr>
        <p:spPr>
          <a:xfrm>
            <a:off x="10774375"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Inter"/>
                <a:ea typeface="Inter"/>
                <a:cs typeface="Inter"/>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3" type="body" hasCustomPrompt="1"/>
          </p:nvPr>
        </p:nvSpPr>
        <p:spPr>
          <a:xfrm>
            <a:off x="548640" y="402336"/>
            <a:ext cx="8229600" cy="274320"/>
          </a:xfrm>
          <a:prstGeom prst="rect">
            <a:avLst/>
          </a:prstGeom>
          <a:noFill/>
          <a:ln/>
        </p:spPr>
        <p:txBody>
          <a:bodyPr wrap="square" lIns="0" tIns="0" rIns="0" bIns="0" rtlCol="0" anchor="t"/>
          <a:lstStyle/>
          <a:p>
            <a:pPr algn="l" indent="0" marL="0">
              <a:buNone/>
            </a:pPr>
            <a:r>
              <a:rPr lang="en-US" sz="1200" b="1" spc="200" kern="0" dirty="0">
                <a:solidFill>
                  <a:srgbClr val="41C5C5"/>
                </a:solidFill>
                <a:latin typeface="Inter" pitchFamily="34" charset="0"/>
                <a:ea typeface="Inter" pitchFamily="34" charset="-122"/>
                <a:cs typeface="Inter" pitchFamily="34" charset="-120"/>
              </a:rPr>
              <a:t>WEAK OR STRONG?</a:t>
            </a:r>
            <a:endParaRPr lang="en-US" sz="1200" dirty="0"/>
          </a:p>
        </p:txBody>
      </p:sp>
      <p:sp>
        <p:nvSpPr>
          <p:cNvPr id="3" name="Text 2"/>
          <p:cNvSpPr/>
          <p:nvPr>
            <p:ph idx="104" type="title" hasCustomPrompt="1"/>
          </p:nvPr>
        </p:nvSpPr>
        <p:spPr>
          <a:xfrm>
            <a:off x="548640" y="731520"/>
            <a:ext cx="9509760" cy="713232"/>
          </a:xfrm>
          <a:prstGeom prst="rect">
            <a:avLst/>
          </a:prstGeom>
          <a:noFill/>
          <a:ln/>
        </p:spPr>
        <p:txBody>
          <a:bodyPr wrap="square" lIns="0" tIns="0" rIns="0" bIns="0" rtlCol="0" anchor="t"/>
          <a:lstStyle/>
          <a:p>
            <a:pPr algn="l" indent="0" marL="0">
              <a:buNone/>
            </a:pPr>
            <a:r>
              <a:rPr lang="en-US" sz="2600" dirty="0">
                <a:solidFill>
                  <a:srgbClr val="263D57"/>
                </a:solidFill>
                <a:latin typeface="Poppins SemiBold" pitchFamily="34" charset="0"/>
                <a:ea typeface="Poppins SemiBold" pitchFamily="34" charset="-122"/>
                <a:cs typeface="Poppins SemiBold" pitchFamily="34" charset="-120"/>
              </a:rPr>
              <a:t>Weak or strong? A dial that turns with age</a:t>
            </a:r>
            <a:endParaRPr lang="en-US" sz="2600" dirty="0"/>
          </a:p>
        </p:txBody>
      </p:sp>
      <p:sp>
        <p:nvSpPr>
          <p:cNvPr id="4" name="Text 2"/>
          <p:cNvSpPr txBox="1"/>
          <p:nvPr/>
        </p:nvSpPr>
        <p:spPr>
          <a:xfrm>
            <a:off x="548640" y="1572768"/>
            <a:ext cx="10241280" cy="548640"/>
          </a:xfrm>
          <a:prstGeom prst="rect">
            <a:avLst/>
          </a:prstGeom>
          <a:noFill/>
          <a:ln/>
        </p:spPr>
        <p:txBody>
          <a:bodyPr wrap="square" lIns="0" tIns="0" rIns="0" bIns="0" rtlCol="0" anchor="t"/>
          <a:lstStyle/>
          <a:p>
            <a:pPr indent="0" marL="0">
              <a:buNone/>
            </a:pPr>
            <a:r>
              <a:rPr lang="en-US" sz="1500" dirty="0">
                <a:solidFill>
                  <a:srgbClr val="5A6573"/>
                </a:solidFill>
                <a:latin typeface="Inter" pitchFamily="34" charset="0"/>
                <a:ea typeface="Inter" pitchFamily="34" charset="-122"/>
                <a:cs typeface="Inter" pitchFamily="34" charset="-120"/>
              </a:rPr>
              <a:t>No study has tested whether training time should go to a weak or a strong function. The evidence supports a balance that shifts as executive functions mature.</a:t>
            </a:r>
            <a:endParaRPr lang="en-US" sz="1500" dirty="0"/>
          </a:p>
        </p:txBody>
      </p:sp>
      <p:sp>
        <p:nvSpPr>
          <p:cNvPr id="5" name="Text 3"/>
          <p:cNvSpPr txBox="1"/>
          <p:nvPr/>
        </p:nvSpPr>
        <p:spPr>
          <a:xfrm>
            <a:off x="548640" y="2286000"/>
            <a:ext cx="2883332" cy="566928"/>
          </a:xfrm>
          <a:prstGeom prst="homePlate">
            <a:avLst/>
          </a:prstGeom>
          <a:solidFill>
            <a:srgbClr val="AFC0D4"/>
          </a:solidFill>
          <a:ln/>
        </p:spPr>
        <p:txBody>
          <a:bodyPr wrap="square" lIns="0" tIns="0" rIns="0" bIns="0" rtlCol="0" anchor="ctr"/>
          <a:lstStyle/>
          <a:p>
            <a:pPr algn="ctr" indent="0" marL="0">
              <a:buNone/>
            </a:pPr>
            <a:r>
              <a:rPr lang="en-US" sz="1800" b="1" dirty="0">
                <a:solidFill>
                  <a:srgbClr val="263D57"/>
                </a:solidFill>
                <a:latin typeface="Poppins SemiBold" pitchFamily="34" charset="0"/>
                <a:ea typeface="Poppins SemiBold" pitchFamily="34" charset="-122"/>
                <a:cs typeface="Poppins SemiBold" pitchFamily="34" charset="-120"/>
              </a:rPr>
              <a:t>8–11</a:t>
            </a:r>
            <a:endParaRPr lang="en-US" sz="1800" dirty="0"/>
          </a:p>
        </p:txBody>
      </p:sp>
      <p:sp>
        <p:nvSpPr>
          <p:cNvPr id="6" name="Band 8–11"/>
          <p:cNvSpPr/>
          <p:nvPr/>
        </p:nvSpPr>
        <p:spPr>
          <a:xfrm>
            <a:off x="603504" y="3035808"/>
            <a:ext cx="2609012" cy="2103120"/>
          </a:xfrm>
          <a:prstGeom prst="roundRect">
            <a:avLst>
              <a:gd name="adj" fmla="val 6957"/>
            </a:avLst>
          </a:prstGeom>
          <a:solidFill>
            <a:srgbClr val="F2F5F8"/>
          </a:solidFill>
          <a:ln w="9525">
            <a:solidFill>
              <a:srgbClr val="E2E8F0"/>
            </a:solidFill>
            <a:prstDash val="solid"/>
          </a:ln>
        </p:spPr>
      </p:sp>
      <p:sp>
        <p:nvSpPr>
          <p:cNvPr id="7" name="Text 5"/>
          <p:cNvSpPr txBox="1"/>
          <p:nvPr/>
        </p:nvSpPr>
        <p:spPr>
          <a:xfrm>
            <a:off x="804672" y="3218688"/>
            <a:ext cx="2224964" cy="566928"/>
          </a:xfrm>
          <a:prstGeom prst="rect">
            <a:avLst/>
          </a:prstGeom>
          <a:noFill/>
          <a:ln/>
        </p:spPr>
        <p:txBody>
          <a:bodyPr wrap="square" lIns="0" tIns="0" rIns="0" bIns="0" rtlCol="0" anchor="t"/>
          <a:lstStyle/>
          <a:p>
            <a:pPr indent="0" marL="0">
              <a:buNone/>
            </a:pPr>
            <a:r>
              <a:rPr lang="en-US" sz="1500" dirty="0">
                <a:solidFill>
                  <a:srgbClr val="263D57"/>
                </a:solidFill>
                <a:latin typeface="Poppins SemiBold" pitchFamily="34" charset="0"/>
                <a:ea typeface="Poppins SemiBold" pitchFamily="34" charset="-122"/>
                <a:cs typeface="Poppins SemiBold" pitchFamily="34" charset="-120"/>
              </a:rPr>
              <a:t>Broad</a:t>
            </a:r>
            <a:endParaRPr lang="en-US" sz="1500" dirty="0"/>
          </a:p>
        </p:txBody>
      </p:sp>
      <p:sp>
        <p:nvSpPr>
          <p:cNvPr id="8" name="Text 6"/>
          <p:cNvSpPr txBox="1"/>
          <p:nvPr/>
        </p:nvSpPr>
        <p:spPr>
          <a:xfrm>
            <a:off x="804672" y="3813048"/>
            <a:ext cx="2224964" cy="1188720"/>
          </a:xfrm>
          <a:prstGeom prst="rect">
            <a:avLst/>
          </a:prstGeom>
          <a:noFill/>
          <a:ln/>
        </p:spPr>
        <p:txBody>
          <a:bodyPr wrap="square" lIns="0" tIns="0" rIns="0" bIns="0" rtlCol="0" anchor="t"/>
          <a:lstStyle/>
          <a:p>
            <a:pPr indent="0" marL="0">
              <a:buNone/>
            </a:pPr>
            <a:r>
              <a:rPr lang="en-US" sz="1400" dirty="0">
                <a:solidFill>
                  <a:srgbClr val="5A6573"/>
                </a:solidFill>
                <a:latin typeface="Inter" pitchFamily="34" charset="0"/>
                <a:ea typeface="Inter" pitchFamily="34" charset="-122"/>
                <a:cs typeface="Inter" pitchFamily="34" charset="-120"/>
              </a:rPr>
              <a:t>Varied small games and other sports. Load every function, label no one. One extra rule at a time.</a:t>
            </a:r>
            <a:endParaRPr lang="en-US" sz="1400" dirty="0"/>
          </a:p>
        </p:txBody>
      </p:sp>
      <p:sp>
        <p:nvSpPr>
          <p:cNvPr id="9" name="Text 7"/>
          <p:cNvSpPr txBox="1"/>
          <p:nvPr/>
        </p:nvSpPr>
        <p:spPr>
          <a:xfrm>
            <a:off x="3212516" y="2286000"/>
            <a:ext cx="2993060" cy="566928"/>
          </a:xfrm>
          <a:prstGeom prst="chevron">
            <a:avLst/>
          </a:prstGeom>
          <a:solidFill>
            <a:srgbClr val="6D8BB0"/>
          </a:solidFill>
          <a:ln/>
        </p:spPr>
        <p:txBody>
          <a:bodyPr wrap="square" lIns="0" tIns="0" rIns="0" bIns="0" rtlCol="0" anchor="ctr"/>
          <a:lstStyle/>
          <a:p>
            <a:pPr algn="ctr" indent="0" marL="0">
              <a:buNone/>
            </a:pPr>
            <a:r>
              <a:rPr lang="en-US" sz="1800" b="1" dirty="0">
                <a:solidFill>
                  <a:srgbClr val="FFFFFF"/>
                </a:solidFill>
                <a:latin typeface="Poppins SemiBold" pitchFamily="34" charset="0"/>
                <a:ea typeface="Poppins SemiBold" pitchFamily="34" charset="-122"/>
                <a:cs typeface="Poppins SemiBold" pitchFamily="34" charset="-120"/>
              </a:rPr>
              <a:t>12–14</a:t>
            </a:r>
            <a:endParaRPr lang="en-US" sz="1800" dirty="0"/>
          </a:p>
        </p:txBody>
      </p:sp>
      <p:sp>
        <p:nvSpPr>
          <p:cNvPr id="10" name="Band 12–14"/>
          <p:cNvSpPr/>
          <p:nvPr/>
        </p:nvSpPr>
        <p:spPr>
          <a:xfrm>
            <a:off x="3377108" y="3035808"/>
            <a:ext cx="2609012" cy="2103120"/>
          </a:xfrm>
          <a:prstGeom prst="roundRect">
            <a:avLst>
              <a:gd name="adj" fmla="val 6957"/>
            </a:avLst>
          </a:prstGeom>
          <a:solidFill>
            <a:srgbClr val="E2F3F1"/>
          </a:solidFill>
          <a:ln w="22225">
            <a:solidFill>
              <a:srgbClr val="41C5C5"/>
            </a:solidFill>
            <a:prstDash val="solid"/>
          </a:ln>
        </p:spPr>
      </p:sp>
      <p:sp>
        <p:nvSpPr>
          <p:cNvPr id="11" name="Text 9"/>
          <p:cNvSpPr txBox="1"/>
          <p:nvPr/>
        </p:nvSpPr>
        <p:spPr>
          <a:xfrm>
            <a:off x="4815688" y="2898648"/>
            <a:ext cx="1005840" cy="274320"/>
          </a:xfrm>
          <a:prstGeom prst="roundRect">
            <a:avLst>
              <a:gd name="adj" fmla="val 50000"/>
            </a:avLst>
          </a:prstGeom>
          <a:solidFill>
            <a:srgbClr val="41C5C5"/>
          </a:solidFill>
          <a:ln/>
        </p:spPr>
        <p:txBody>
          <a:bodyPr wrap="square" lIns="0" tIns="0" rIns="0" bIns="0" rtlCol="0" anchor="ctr"/>
          <a:lstStyle/>
          <a:p>
            <a:pPr algn="ctr" indent="0" marL="0">
              <a:buNone/>
            </a:pPr>
            <a:r>
              <a:rPr lang="en-US" sz="1000" b="1" dirty="0">
                <a:solidFill>
                  <a:srgbClr val="263D57"/>
                </a:solidFill>
                <a:latin typeface="Inter" pitchFamily="34" charset="0"/>
                <a:ea typeface="Inter" pitchFamily="34" charset="-122"/>
                <a:cs typeface="Inter" pitchFamily="34" charset="-120"/>
              </a:rPr>
              <a:t>Our focus</a:t>
            </a:r>
            <a:endParaRPr lang="en-US" sz="1000" dirty="0"/>
          </a:p>
        </p:txBody>
      </p:sp>
      <p:sp>
        <p:nvSpPr>
          <p:cNvPr id="12" name="Text 10"/>
          <p:cNvSpPr txBox="1"/>
          <p:nvPr/>
        </p:nvSpPr>
        <p:spPr>
          <a:xfrm>
            <a:off x="3578276" y="3218688"/>
            <a:ext cx="2224964" cy="566928"/>
          </a:xfrm>
          <a:prstGeom prst="rect">
            <a:avLst/>
          </a:prstGeom>
          <a:noFill/>
          <a:ln/>
        </p:spPr>
        <p:txBody>
          <a:bodyPr wrap="square" lIns="0" tIns="0" rIns="0" bIns="0" rtlCol="0" anchor="t"/>
          <a:lstStyle/>
          <a:p>
            <a:pPr indent="0" marL="0">
              <a:buNone/>
            </a:pPr>
            <a:r>
              <a:rPr lang="en-US" sz="1500" dirty="0">
                <a:solidFill>
                  <a:srgbClr val="263D57"/>
                </a:solidFill>
                <a:latin typeface="Poppins SemiBold" pitchFamily="34" charset="0"/>
                <a:ea typeface="Poppins SemiBold" pitchFamily="34" charset="-122"/>
                <a:cs typeface="Poppins SemiBold" pitchFamily="34" charset="-120"/>
              </a:rPr>
              <a:t>Load moderate weaknesses</a:t>
            </a:r>
            <a:endParaRPr lang="en-US" sz="1500" dirty="0"/>
          </a:p>
        </p:txBody>
      </p:sp>
      <p:sp>
        <p:nvSpPr>
          <p:cNvPr id="13" name="Text 11"/>
          <p:cNvSpPr txBox="1"/>
          <p:nvPr/>
        </p:nvSpPr>
        <p:spPr>
          <a:xfrm>
            <a:off x="3578276" y="3813048"/>
            <a:ext cx="2224964" cy="1188720"/>
          </a:xfrm>
          <a:prstGeom prst="rect">
            <a:avLst/>
          </a:prstGeom>
          <a:noFill/>
          <a:ln/>
        </p:spPr>
        <p:txBody>
          <a:bodyPr wrap="square" lIns="0" tIns="0" rIns="0" bIns="0" rtlCol="0" anchor="t"/>
          <a:lstStyle/>
          <a:p>
            <a:pPr indent="0" marL="0">
              <a:buNone/>
            </a:pPr>
            <a:r>
              <a:rPr lang="en-US" sz="1400" dirty="0">
                <a:solidFill>
                  <a:srgbClr val="5A6573"/>
                </a:solidFill>
                <a:latin typeface="Inter" pitchFamily="34" charset="0"/>
                <a:ea typeface="Inter" pitchFamily="34" charset="-122"/>
                <a:cs typeface="Inter" pitchFamily="34" charset="-120"/>
              </a:rPr>
              <a:t>Individual constraints inside team drills at the right difficulty. First compensations for weaknesses that persist.</a:t>
            </a:r>
            <a:endParaRPr lang="en-US" sz="1400" dirty="0"/>
          </a:p>
        </p:txBody>
      </p:sp>
      <p:sp>
        <p:nvSpPr>
          <p:cNvPr id="14" name="Text 12"/>
          <p:cNvSpPr txBox="1"/>
          <p:nvPr/>
        </p:nvSpPr>
        <p:spPr>
          <a:xfrm>
            <a:off x="5986120" y="2286000"/>
            <a:ext cx="2993060" cy="566928"/>
          </a:xfrm>
          <a:prstGeom prst="chevron">
            <a:avLst/>
          </a:prstGeom>
          <a:solidFill>
            <a:srgbClr val="476385"/>
          </a:solidFill>
          <a:ln/>
        </p:spPr>
        <p:txBody>
          <a:bodyPr wrap="square" lIns="0" tIns="0" rIns="0" bIns="0" rtlCol="0" anchor="ctr"/>
          <a:lstStyle/>
          <a:p>
            <a:pPr algn="ctr" indent="0" marL="0">
              <a:buNone/>
            </a:pPr>
            <a:r>
              <a:rPr lang="en-US" sz="1800" b="1" dirty="0">
                <a:solidFill>
                  <a:srgbClr val="FFFFFF"/>
                </a:solidFill>
                <a:latin typeface="Poppins SemiBold" pitchFamily="34" charset="0"/>
                <a:ea typeface="Poppins SemiBold" pitchFamily="34" charset="-122"/>
                <a:cs typeface="Poppins SemiBold" pitchFamily="34" charset="-120"/>
              </a:rPr>
              <a:t>15–18</a:t>
            </a:r>
            <a:endParaRPr lang="en-US" sz="1800" dirty="0"/>
          </a:p>
        </p:txBody>
      </p:sp>
      <p:sp>
        <p:nvSpPr>
          <p:cNvPr id="15" name="Band 15–18"/>
          <p:cNvSpPr/>
          <p:nvPr/>
        </p:nvSpPr>
        <p:spPr>
          <a:xfrm>
            <a:off x="6150712" y="3035808"/>
            <a:ext cx="2609012" cy="2103120"/>
          </a:xfrm>
          <a:prstGeom prst="roundRect">
            <a:avLst>
              <a:gd name="adj" fmla="val 6957"/>
            </a:avLst>
          </a:prstGeom>
          <a:solidFill>
            <a:srgbClr val="F2F5F8"/>
          </a:solidFill>
          <a:ln w="9525">
            <a:solidFill>
              <a:srgbClr val="E2E8F0"/>
            </a:solidFill>
            <a:prstDash val="solid"/>
          </a:ln>
        </p:spPr>
      </p:sp>
      <p:sp>
        <p:nvSpPr>
          <p:cNvPr id="16" name="Text 14"/>
          <p:cNvSpPr txBox="1"/>
          <p:nvPr/>
        </p:nvSpPr>
        <p:spPr>
          <a:xfrm>
            <a:off x="6351880" y="3218688"/>
            <a:ext cx="2224964" cy="566928"/>
          </a:xfrm>
          <a:prstGeom prst="rect">
            <a:avLst/>
          </a:prstGeom>
          <a:noFill/>
          <a:ln/>
        </p:spPr>
        <p:txBody>
          <a:bodyPr wrap="square" lIns="0" tIns="0" rIns="0" bIns="0" rtlCol="0" anchor="t"/>
          <a:lstStyle/>
          <a:p>
            <a:pPr indent="0" marL="0">
              <a:buNone/>
            </a:pPr>
            <a:r>
              <a:rPr lang="en-US" sz="1500" dirty="0">
                <a:solidFill>
                  <a:srgbClr val="263D57"/>
                </a:solidFill>
                <a:latin typeface="Poppins SemiBold" pitchFamily="34" charset="0"/>
                <a:ea typeface="Poppins SemiBold" pitchFamily="34" charset="-122"/>
                <a:cs typeface="Poppins SemiBold" pitchFamily="34" charset="-120"/>
              </a:rPr>
              <a:t>Compensate, use strengths</a:t>
            </a:r>
            <a:endParaRPr lang="en-US" sz="1500" dirty="0"/>
          </a:p>
        </p:txBody>
      </p:sp>
      <p:sp>
        <p:nvSpPr>
          <p:cNvPr id="17" name="Text 15"/>
          <p:cNvSpPr txBox="1"/>
          <p:nvPr/>
        </p:nvSpPr>
        <p:spPr>
          <a:xfrm>
            <a:off x="6351880" y="3813048"/>
            <a:ext cx="2224964" cy="1188720"/>
          </a:xfrm>
          <a:prstGeom prst="rect">
            <a:avLst/>
          </a:prstGeom>
          <a:noFill/>
          <a:ln/>
        </p:spPr>
        <p:txBody>
          <a:bodyPr wrap="square" lIns="0" tIns="0" rIns="0" bIns="0" rtlCol="0" anchor="t"/>
          <a:lstStyle/>
          <a:p>
            <a:pPr indent="0" marL="0">
              <a:buNone/>
            </a:pPr>
            <a:r>
              <a:rPr lang="en-US" sz="1400" dirty="0">
                <a:solidFill>
                  <a:srgbClr val="5A6573"/>
                </a:solidFill>
                <a:latin typeface="Inter" pitchFamily="34" charset="0"/>
                <a:ea typeface="Inter" pitchFamily="34" charset="-122"/>
                <a:cs typeface="Inter" pitchFamily="34" charset="-120"/>
              </a:rPr>
              <a:t>Automate routines: a scan before every reception, if-then options. Use strengths through role. Add pressure.</a:t>
            </a:r>
            <a:endParaRPr lang="en-US" sz="1400" dirty="0"/>
          </a:p>
        </p:txBody>
      </p:sp>
      <p:sp>
        <p:nvSpPr>
          <p:cNvPr id="18" name="Text 16"/>
          <p:cNvSpPr txBox="1"/>
          <p:nvPr/>
        </p:nvSpPr>
        <p:spPr>
          <a:xfrm>
            <a:off x="8759723" y="2286000"/>
            <a:ext cx="2993060" cy="566928"/>
          </a:xfrm>
          <a:prstGeom prst="chevron">
            <a:avLst/>
          </a:prstGeom>
          <a:solidFill>
            <a:srgbClr val="263D57"/>
          </a:solidFill>
          <a:ln/>
        </p:spPr>
        <p:txBody>
          <a:bodyPr wrap="square" lIns="0" tIns="0" rIns="0" bIns="0" rtlCol="0" anchor="ctr"/>
          <a:lstStyle/>
          <a:p>
            <a:pPr algn="ctr" indent="0" marL="0">
              <a:buNone/>
            </a:pPr>
            <a:r>
              <a:rPr lang="en-US" sz="1800" b="1" dirty="0">
                <a:solidFill>
                  <a:srgbClr val="FFFFFF"/>
                </a:solidFill>
                <a:latin typeface="Poppins SemiBold" pitchFamily="34" charset="0"/>
                <a:ea typeface="Poppins SemiBold" pitchFamily="34" charset="-122"/>
                <a:cs typeface="Poppins SemiBold" pitchFamily="34" charset="-120"/>
              </a:rPr>
              <a:t>18+</a:t>
            </a:r>
            <a:endParaRPr lang="en-US" sz="1800" dirty="0"/>
          </a:p>
        </p:txBody>
      </p:sp>
      <p:sp>
        <p:nvSpPr>
          <p:cNvPr id="19" name="Band 18+"/>
          <p:cNvSpPr/>
          <p:nvPr/>
        </p:nvSpPr>
        <p:spPr>
          <a:xfrm>
            <a:off x="8924315" y="3035808"/>
            <a:ext cx="2609012" cy="2103120"/>
          </a:xfrm>
          <a:prstGeom prst="roundRect">
            <a:avLst>
              <a:gd name="adj" fmla="val 6957"/>
            </a:avLst>
          </a:prstGeom>
          <a:solidFill>
            <a:srgbClr val="F2F5F8"/>
          </a:solidFill>
          <a:ln w="9525">
            <a:solidFill>
              <a:srgbClr val="E2E8F0"/>
            </a:solidFill>
            <a:prstDash val="solid"/>
          </a:ln>
        </p:spPr>
      </p:sp>
      <p:sp>
        <p:nvSpPr>
          <p:cNvPr id="20" name="Text 18"/>
          <p:cNvSpPr txBox="1"/>
          <p:nvPr/>
        </p:nvSpPr>
        <p:spPr>
          <a:xfrm>
            <a:off x="9125483" y="3218688"/>
            <a:ext cx="2224964" cy="566928"/>
          </a:xfrm>
          <a:prstGeom prst="rect">
            <a:avLst/>
          </a:prstGeom>
          <a:noFill/>
          <a:ln/>
        </p:spPr>
        <p:txBody>
          <a:bodyPr wrap="square" lIns="0" tIns="0" rIns="0" bIns="0" rtlCol="0" anchor="t"/>
          <a:lstStyle/>
          <a:p>
            <a:pPr indent="0" marL="0">
              <a:buNone/>
            </a:pPr>
            <a:r>
              <a:rPr lang="en-US" sz="1500" dirty="0">
                <a:solidFill>
                  <a:srgbClr val="263D57"/>
                </a:solidFill>
                <a:latin typeface="Poppins SemiBold" pitchFamily="34" charset="0"/>
                <a:ea typeface="Poppins SemiBold" pitchFamily="34" charset="-122"/>
                <a:cs typeface="Poppins SemiBold" pitchFamily="34" charset="-120"/>
              </a:rPr>
              <a:t>Decisions in context</a:t>
            </a:r>
            <a:endParaRPr lang="en-US" sz="1500" dirty="0"/>
          </a:p>
        </p:txBody>
      </p:sp>
      <p:sp>
        <p:nvSpPr>
          <p:cNvPr id="21" name="Text 19"/>
          <p:cNvSpPr txBox="1"/>
          <p:nvPr/>
        </p:nvSpPr>
        <p:spPr>
          <a:xfrm>
            <a:off x="9125483" y="3813048"/>
            <a:ext cx="2224964" cy="1188720"/>
          </a:xfrm>
          <a:prstGeom prst="rect">
            <a:avLst/>
          </a:prstGeom>
          <a:noFill/>
          <a:ln/>
        </p:spPr>
        <p:txBody>
          <a:bodyPr wrap="square" lIns="0" tIns="0" rIns="0" bIns="0" rtlCol="0" anchor="t"/>
          <a:lstStyle/>
          <a:p>
            <a:pPr indent="0" marL="0">
              <a:buNone/>
            </a:pPr>
            <a:r>
              <a:rPr lang="en-US" sz="1400" dirty="0">
                <a:solidFill>
                  <a:srgbClr val="5A6573"/>
                </a:solidFill>
                <a:latin typeface="Inter" pitchFamily="34" charset="0"/>
                <a:ea typeface="Inter" pitchFamily="34" charset="-122"/>
                <a:cs typeface="Inter" pitchFamily="34" charset="-120"/>
              </a:rPr>
              <a:t>Executive functions are stable; football decision-making keeps improving. Train it in the game.</a:t>
            </a:r>
            <a:endParaRPr lang="en-US" sz="1400" dirty="0"/>
          </a:p>
        </p:txBody>
      </p:sp>
      <p:sp>
        <p:nvSpPr>
          <p:cNvPr id="22" name="Shape 20"/>
          <p:cNvSpPr/>
          <p:nvPr/>
        </p:nvSpPr>
        <p:spPr>
          <a:xfrm>
            <a:off x="548640" y="5349240"/>
            <a:ext cx="5432908" cy="731520"/>
          </a:xfrm>
          <a:prstGeom prst="roundRect">
            <a:avLst>
              <a:gd name="adj" fmla="val 12500"/>
            </a:avLst>
          </a:prstGeom>
          <a:solidFill>
            <a:srgbClr val="F2F5F8"/>
          </a:solidFill>
          <a:ln/>
        </p:spPr>
      </p:sp>
      <p:sp>
        <p:nvSpPr>
          <p:cNvPr id="23" name="Text 21"/>
          <p:cNvSpPr txBox="1"/>
          <p:nvPr/>
        </p:nvSpPr>
        <p:spPr>
          <a:xfrm>
            <a:off x="777240" y="5349240"/>
            <a:ext cx="4975708" cy="731520"/>
          </a:xfrm>
          <a:prstGeom prst="rect">
            <a:avLst/>
          </a:prstGeom>
          <a:noFill/>
          <a:ln/>
        </p:spPr>
        <p:txBody>
          <a:bodyPr wrap="square" lIns="0" tIns="0" rIns="0" bIns="0" rtlCol="0" anchor="ctr"/>
          <a:lstStyle/>
          <a:p>
            <a:pPr indent="0" marL="0">
              <a:buNone/>
            </a:pPr>
            <a:r>
              <a:rPr lang="en-US" sz="1400" b="1" dirty="0">
                <a:solidFill>
                  <a:srgbClr val="263D57"/>
                </a:solidFill>
                <a:latin typeface="Inter" pitchFamily="34" charset="0"/>
                <a:ea typeface="Inter" pitchFamily="34" charset="-122"/>
                <a:cs typeface="Inter" pitchFamily="34" charset="-120"/>
              </a:rPr>
              <a:t>Floor rule.  </a:t>
            </a:r>
            <a:pPr indent="0" marL="0">
              <a:buNone/>
            </a:pPr>
            <a:r>
              <a:rPr lang="en-US" sz="1400" dirty="0">
                <a:solidFill>
                  <a:srgbClr val="263D57"/>
                </a:solidFill>
                <a:latin typeface="Inter" pitchFamily="34" charset="0"/>
                <a:ea typeface="Inter" pitchFamily="34" charset="-122"/>
                <a:cs typeface="Inter" pitchFamily="34" charset="-120"/>
              </a:rPr>
              <a:t>Never let one strength hide several severe weaknesses.</a:t>
            </a:r>
            <a:endParaRPr lang="en-US" sz="1400" dirty="0"/>
          </a:p>
        </p:txBody>
      </p:sp>
      <p:sp>
        <p:nvSpPr>
          <p:cNvPr id="24" name="Shape 22"/>
          <p:cNvSpPr/>
          <p:nvPr/>
        </p:nvSpPr>
        <p:spPr>
          <a:xfrm>
            <a:off x="6210148" y="5349240"/>
            <a:ext cx="5432908" cy="731520"/>
          </a:xfrm>
          <a:prstGeom prst="roundRect">
            <a:avLst>
              <a:gd name="adj" fmla="val 12500"/>
            </a:avLst>
          </a:prstGeom>
          <a:solidFill>
            <a:srgbClr val="F2F5F8"/>
          </a:solidFill>
          <a:ln/>
        </p:spPr>
      </p:sp>
      <p:sp>
        <p:nvSpPr>
          <p:cNvPr id="25" name="Text 23"/>
          <p:cNvSpPr txBox="1"/>
          <p:nvPr/>
        </p:nvSpPr>
        <p:spPr>
          <a:xfrm>
            <a:off x="6438748" y="5349240"/>
            <a:ext cx="4975708" cy="731520"/>
          </a:xfrm>
          <a:prstGeom prst="rect">
            <a:avLst/>
          </a:prstGeom>
          <a:noFill/>
          <a:ln/>
        </p:spPr>
        <p:txBody>
          <a:bodyPr wrap="square" lIns="0" tIns="0" rIns="0" bIns="0" rtlCol="0" anchor="ctr"/>
          <a:lstStyle/>
          <a:p>
            <a:pPr indent="0" marL="0">
              <a:buNone/>
            </a:pPr>
            <a:r>
              <a:rPr lang="en-US" sz="1400" b="1" dirty="0">
                <a:solidFill>
                  <a:srgbClr val="263D57"/>
                </a:solidFill>
                <a:latin typeface="Inter" pitchFamily="34" charset="0"/>
                <a:ea typeface="Inter" pitchFamily="34" charset="-122"/>
                <a:cs typeface="Inter" pitchFamily="34" charset="-120"/>
              </a:rPr>
              <a:t>Profile is not a verdict.  </a:t>
            </a:r>
            <a:pPr indent="0" marL="0">
              <a:buNone/>
            </a:pPr>
            <a:r>
              <a:rPr lang="en-US" sz="1400" dirty="0">
                <a:solidFill>
                  <a:srgbClr val="263D57"/>
                </a:solidFill>
                <a:latin typeface="Inter" pitchFamily="34" charset="0"/>
                <a:ea typeface="Inter" pitchFamily="34" charset="-122"/>
                <a:cs typeface="Inter" pitchFamily="34" charset="-120"/>
              </a:rPr>
              <a:t>Act only when the coach also sees the behaviour on the pitch.</a:t>
            </a:r>
            <a:endParaRPr lang="en-US" sz="1400" dirty="0"/>
          </a:p>
        </p:txBody>
      </p:sp>
      <p:sp>
        <p:nvSpPr>
          <p:cNvPr id="25" name="Slide Number Placeholder 0"/>
          <p:cNvSpPr>
            <a:spLocks noGrp="1"/>
          </p:cNvSpPr>
          <p:nvPr>
            <p:ph type="sldNum" sz="quarter" idx="4294967295"/>
          </p:nvPr>
        </p:nvSpPr>
        <p:spPr>
          <a:xfrm>
            <a:off x="10774375"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Inter"/>
                <a:ea typeface="Inter"/>
                <a:cs typeface="Inter"/>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3" type="body" hasCustomPrompt="1"/>
          </p:nvPr>
        </p:nvSpPr>
        <p:spPr>
          <a:xfrm>
            <a:off x="548640" y="402336"/>
            <a:ext cx="8229600" cy="274320"/>
          </a:xfrm>
          <a:prstGeom prst="rect">
            <a:avLst/>
          </a:prstGeom>
          <a:noFill/>
          <a:ln/>
        </p:spPr>
        <p:txBody>
          <a:bodyPr wrap="square" lIns="0" tIns="0" rIns="0" bIns="0" rtlCol="0" anchor="t"/>
          <a:lstStyle/>
          <a:p>
            <a:pPr algn="l" indent="0" marL="0">
              <a:buNone/>
            </a:pPr>
            <a:r>
              <a:rPr lang="en-US" sz="1200" b="1" spc="200" kern="0" dirty="0">
                <a:solidFill>
                  <a:srgbClr val="41C5C5"/>
                </a:solidFill>
                <a:latin typeface="Inter" pitchFamily="34" charset="0"/>
                <a:ea typeface="Inter" pitchFamily="34" charset="-122"/>
                <a:cs typeface="Inter" pitchFamily="34" charset="-120"/>
              </a:rPr>
              <a:t>LIBRARY</a:t>
            </a:r>
            <a:endParaRPr lang="en-US" sz="1200" dirty="0"/>
          </a:p>
        </p:txBody>
      </p:sp>
      <p:sp>
        <p:nvSpPr>
          <p:cNvPr id="3" name="Text 2"/>
          <p:cNvSpPr/>
          <p:nvPr>
            <p:ph idx="104" type="title" hasCustomPrompt="1"/>
          </p:nvPr>
        </p:nvSpPr>
        <p:spPr>
          <a:xfrm>
            <a:off x="548640" y="731520"/>
            <a:ext cx="9509760" cy="713232"/>
          </a:xfrm>
          <a:prstGeom prst="rect">
            <a:avLst/>
          </a:prstGeom>
          <a:noFill/>
          <a:ln/>
        </p:spPr>
        <p:txBody>
          <a:bodyPr wrap="square" lIns="0" tIns="0" rIns="0" bIns="0" rtlCol="0" anchor="t"/>
          <a:lstStyle/>
          <a:p>
            <a:pPr algn="l" indent="0" marL="0">
              <a:buNone/>
            </a:pPr>
            <a:r>
              <a:rPr lang="en-US" sz="2600" dirty="0">
                <a:solidFill>
                  <a:srgbClr val="263D57"/>
                </a:solidFill>
                <a:latin typeface="Poppins SemiBold" pitchFamily="34" charset="0"/>
                <a:ea typeface="Poppins SemiBold" pitchFamily="34" charset="-122"/>
                <a:cs typeface="Poppins SemiBold" pitchFamily="34" charset="-120"/>
              </a:rPr>
              <a:t>One card = one change to a familiar drill</a:t>
            </a:r>
            <a:endParaRPr lang="en-US" sz="2600" dirty="0"/>
          </a:p>
        </p:txBody>
      </p:sp>
      <p:sp>
        <p:nvSpPr>
          <p:cNvPr id="4" name="Drill card 5v2 rondo"/>
          <p:cNvSpPr/>
          <p:nvPr/>
        </p:nvSpPr>
        <p:spPr>
          <a:xfrm>
            <a:off x="548640" y="1572768"/>
            <a:ext cx="3545738" cy="3886200"/>
          </a:xfrm>
          <a:prstGeom prst="roundRect">
            <a:avLst>
              <a:gd name="adj" fmla="val 4126"/>
            </a:avLst>
          </a:prstGeom>
          <a:solidFill>
            <a:srgbClr val="F2F5F8"/>
          </a:solidFill>
          <a:ln w="9525">
            <a:solidFill>
              <a:srgbClr val="E2E8F0"/>
            </a:solidFill>
            <a:prstDash val="solid"/>
          </a:ln>
        </p:spPr>
      </p:sp>
      <p:sp>
        <p:nvSpPr>
          <p:cNvPr id="5" name="Shape 3"/>
          <p:cNvSpPr/>
          <p:nvPr/>
        </p:nvSpPr>
        <p:spPr>
          <a:xfrm>
            <a:off x="731520" y="1755648"/>
            <a:ext cx="3179978" cy="960120"/>
          </a:xfrm>
          <a:prstGeom prst="roundRect">
            <a:avLst>
              <a:gd name="adj" fmla="val 7619"/>
            </a:avLst>
          </a:prstGeom>
          <a:solidFill>
            <a:srgbClr val="E2F3F1"/>
          </a:solidFill>
          <a:ln/>
        </p:spPr>
      </p:sp>
      <p:sp>
        <p:nvSpPr>
          <p:cNvPr id="6" name="Shape 4"/>
          <p:cNvSpPr/>
          <p:nvPr/>
        </p:nvSpPr>
        <p:spPr>
          <a:xfrm>
            <a:off x="1975866" y="1890065"/>
            <a:ext cx="691286" cy="691286"/>
          </a:xfrm>
          <a:prstGeom prst="ellipse">
            <a:avLst/>
          </a:prstGeom>
          <a:solidFill>
            <a:srgbClr val="E2F3F1"/>
          </a:solidFill>
          <a:ln w="19050">
            <a:solidFill>
              <a:srgbClr val="FFFFFF"/>
            </a:solidFill>
            <a:prstDash val="solid"/>
          </a:ln>
        </p:spPr>
      </p:sp>
      <p:sp>
        <p:nvSpPr>
          <p:cNvPr id="7" name="Shape 5"/>
          <p:cNvSpPr/>
          <p:nvPr/>
        </p:nvSpPr>
        <p:spPr>
          <a:xfrm>
            <a:off x="2321509" y="1890065"/>
            <a:ext cx="255574" cy="202258"/>
          </a:xfrm>
          <a:prstGeom prst="line">
            <a:avLst/>
          </a:prstGeom>
          <a:noFill/>
          <a:ln w="22225">
            <a:solidFill>
              <a:srgbClr val="263D57"/>
            </a:solidFill>
            <a:prstDash val="solid"/>
            <a:tailEnd type="triangle"/>
          </a:ln>
        </p:spPr>
      </p:sp>
      <p:sp>
        <p:nvSpPr>
          <p:cNvPr id="8" name="Shape 6"/>
          <p:cNvSpPr/>
          <p:nvPr/>
        </p:nvSpPr>
        <p:spPr>
          <a:xfrm flipH="1" flipV="1">
            <a:off x="2358085" y="1999793"/>
            <a:ext cx="182422" cy="238834"/>
          </a:xfrm>
          <a:prstGeom prst="line">
            <a:avLst/>
          </a:prstGeom>
          <a:noFill/>
          <a:ln w="22225">
            <a:solidFill>
              <a:srgbClr val="EB5E28"/>
            </a:solidFill>
            <a:prstDash val="dash"/>
            <a:tailEnd type="triangle"/>
          </a:ln>
        </p:spPr>
      </p:sp>
      <p:sp>
        <p:nvSpPr>
          <p:cNvPr id="9" name="Shape 7"/>
          <p:cNvSpPr/>
          <p:nvPr/>
        </p:nvSpPr>
        <p:spPr>
          <a:xfrm>
            <a:off x="2230069" y="1798625"/>
            <a:ext cx="182880" cy="182880"/>
          </a:xfrm>
          <a:prstGeom prst="ellipse">
            <a:avLst/>
          </a:prstGeom>
          <a:solidFill>
            <a:srgbClr val="41C5C5"/>
          </a:solidFill>
          <a:ln w="15875">
            <a:solidFill>
              <a:srgbClr val="FFFFFF"/>
            </a:solidFill>
            <a:prstDash val="solid"/>
          </a:ln>
        </p:spPr>
      </p:sp>
      <p:sp>
        <p:nvSpPr>
          <p:cNvPr id="10" name="Shape 8"/>
          <p:cNvSpPr/>
          <p:nvPr/>
        </p:nvSpPr>
        <p:spPr>
          <a:xfrm>
            <a:off x="2558795" y="2037458"/>
            <a:ext cx="182880" cy="182880"/>
          </a:xfrm>
          <a:prstGeom prst="ellipse">
            <a:avLst/>
          </a:prstGeom>
          <a:solidFill>
            <a:srgbClr val="41C5C5"/>
          </a:solidFill>
          <a:ln w="15875">
            <a:solidFill>
              <a:srgbClr val="FFFFFF"/>
            </a:solidFill>
            <a:prstDash val="solid"/>
          </a:ln>
        </p:spPr>
      </p:sp>
      <p:sp>
        <p:nvSpPr>
          <p:cNvPr id="11" name="Shape 9"/>
          <p:cNvSpPr/>
          <p:nvPr/>
        </p:nvSpPr>
        <p:spPr>
          <a:xfrm>
            <a:off x="2433233" y="2423899"/>
            <a:ext cx="182880" cy="182880"/>
          </a:xfrm>
          <a:prstGeom prst="ellipse">
            <a:avLst/>
          </a:prstGeom>
          <a:solidFill>
            <a:srgbClr val="41C5C5"/>
          </a:solidFill>
          <a:ln w="15875">
            <a:solidFill>
              <a:srgbClr val="FFFFFF"/>
            </a:solidFill>
            <a:prstDash val="solid"/>
          </a:ln>
        </p:spPr>
      </p:sp>
      <p:sp>
        <p:nvSpPr>
          <p:cNvPr id="12" name="Shape 10"/>
          <p:cNvSpPr/>
          <p:nvPr/>
        </p:nvSpPr>
        <p:spPr>
          <a:xfrm>
            <a:off x="2026905" y="2423899"/>
            <a:ext cx="182880" cy="182880"/>
          </a:xfrm>
          <a:prstGeom prst="ellipse">
            <a:avLst/>
          </a:prstGeom>
          <a:solidFill>
            <a:srgbClr val="41C5C5"/>
          </a:solidFill>
          <a:ln w="15875">
            <a:solidFill>
              <a:srgbClr val="FFFFFF"/>
            </a:solidFill>
            <a:prstDash val="solid"/>
          </a:ln>
        </p:spPr>
      </p:sp>
      <p:sp>
        <p:nvSpPr>
          <p:cNvPr id="13" name="Shape 11"/>
          <p:cNvSpPr/>
          <p:nvPr/>
        </p:nvSpPr>
        <p:spPr>
          <a:xfrm>
            <a:off x="1901343" y="2037458"/>
            <a:ext cx="182880" cy="182880"/>
          </a:xfrm>
          <a:prstGeom prst="ellipse">
            <a:avLst/>
          </a:prstGeom>
          <a:solidFill>
            <a:srgbClr val="41C5C5"/>
          </a:solidFill>
          <a:ln w="15875">
            <a:solidFill>
              <a:srgbClr val="FFFFFF"/>
            </a:solidFill>
            <a:prstDash val="solid"/>
          </a:ln>
        </p:spPr>
      </p:sp>
      <p:sp>
        <p:nvSpPr>
          <p:cNvPr id="14" name="Shape 12"/>
          <p:cNvSpPr/>
          <p:nvPr/>
        </p:nvSpPr>
        <p:spPr>
          <a:xfrm>
            <a:off x="2065477" y="2189988"/>
            <a:ext cx="182880" cy="182880"/>
          </a:xfrm>
          <a:prstGeom prst="ellipse">
            <a:avLst/>
          </a:prstGeom>
          <a:solidFill>
            <a:srgbClr val="263D57"/>
          </a:solidFill>
          <a:ln w="15875">
            <a:solidFill>
              <a:srgbClr val="FFFFFF"/>
            </a:solidFill>
            <a:prstDash val="solid"/>
          </a:ln>
        </p:spPr>
      </p:sp>
      <p:sp>
        <p:nvSpPr>
          <p:cNvPr id="15" name="Shape 13"/>
          <p:cNvSpPr/>
          <p:nvPr/>
        </p:nvSpPr>
        <p:spPr>
          <a:xfrm>
            <a:off x="2412949" y="2281428"/>
            <a:ext cx="182880" cy="182880"/>
          </a:xfrm>
          <a:prstGeom prst="ellipse">
            <a:avLst/>
          </a:prstGeom>
          <a:solidFill>
            <a:srgbClr val="263D57"/>
          </a:solidFill>
          <a:ln w="15875">
            <a:solidFill>
              <a:srgbClr val="FFFFFF"/>
            </a:solidFill>
            <a:prstDash val="solid"/>
          </a:ln>
        </p:spPr>
      </p:sp>
      <p:sp>
        <p:nvSpPr>
          <p:cNvPr id="16" name="Shape 14"/>
          <p:cNvSpPr/>
          <p:nvPr/>
        </p:nvSpPr>
        <p:spPr>
          <a:xfrm>
            <a:off x="2421864" y="2036914"/>
            <a:ext cx="164592" cy="164592"/>
          </a:xfrm>
          <a:prstGeom prst="line">
            <a:avLst/>
          </a:prstGeom>
          <a:noFill/>
          <a:ln w="28575">
            <a:solidFill>
              <a:srgbClr val="EB5E28"/>
            </a:solidFill>
            <a:prstDash val="solid"/>
          </a:ln>
        </p:spPr>
      </p:sp>
      <p:sp>
        <p:nvSpPr>
          <p:cNvPr id="17" name="Shape 15"/>
          <p:cNvSpPr/>
          <p:nvPr/>
        </p:nvSpPr>
        <p:spPr>
          <a:xfrm flipH="1">
            <a:off x="2421864" y="2036914"/>
            <a:ext cx="164592" cy="164592"/>
          </a:xfrm>
          <a:prstGeom prst="line">
            <a:avLst/>
          </a:prstGeom>
          <a:noFill/>
          <a:ln w="28575">
            <a:solidFill>
              <a:srgbClr val="EB5E28"/>
            </a:solidFill>
            <a:prstDash val="solid"/>
          </a:ln>
        </p:spPr>
      </p:sp>
      <p:sp>
        <p:nvSpPr>
          <p:cNvPr id="18" name="Text 16"/>
          <p:cNvSpPr txBox="1"/>
          <p:nvPr/>
        </p:nvSpPr>
        <p:spPr>
          <a:xfrm>
            <a:off x="777240" y="2852928"/>
            <a:ext cx="1991258" cy="365760"/>
          </a:xfrm>
          <a:prstGeom prst="rect">
            <a:avLst/>
          </a:prstGeom>
          <a:noFill/>
          <a:ln/>
        </p:spPr>
        <p:txBody>
          <a:bodyPr wrap="square" lIns="0" tIns="0" rIns="0" bIns="0" rtlCol="0" anchor="ctr"/>
          <a:lstStyle/>
          <a:p>
            <a:pPr indent="0" marL="0">
              <a:buNone/>
            </a:pPr>
            <a:r>
              <a:rPr lang="en-US" sz="1500" dirty="0">
                <a:solidFill>
                  <a:srgbClr val="263D57"/>
                </a:solidFill>
                <a:latin typeface="Poppins SemiBold" pitchFamily="34" charset="0"/>
                <a:ea typeface="Poppins SemiBold" pitchFamily="34" charset="-122"/>
                <a:cs typeface="Poppins SemiBold" pitchFamily="34" charset="-120"/>
              </a:rPr>
              <a:t>5v2 rondo</a:t>
            </a:r>
            <a:endParaRPr lang="en-US" sz="1500" dirty="0"/>
          </a:p>
        </p:txBody>
      </p:sp>
      <p:sp>
        <p:nvSpPr>
          <p:cNvPr id="19" name="Text 17"/>
          <p:cNvSpPr txBox="1"/>
          <p:nvPr/>
        </p:nvSpPr>
        <p:spPr>
          <a:xfrm>
            <a:off x="2795930" y="2898648"/>
            <a:ext cx="1097280" cy="274320"/>
          </a:xfrm>
          <a:prstGeom prst="roundRect">
            <a:avLst>
              <a:gd name="adj" fmla="val 50000"/>
            </a:avLst>
          </a:prstGeom>
          <a:solidFill>
            <a:srgbClr val="E2F3F1"/>
          </a:solidFill>
          <a:ln/>
        </p:spPr>
        <p:txBody>
          <a:bodyPr wrap="square" lIns="0" tIns="0" rIns="0" bIns="0" rtlCol="0" anchor="ctr"/>
          <a:lstStyle/>
          <a:p>
            <a:pPr algn="ctr" indent="0" marL="0">
              <a:buNone/>
            </a:pPr>
            <a:r>
              <a:rPr lang="en-US" sz="1000" b="1" dirty="0">
                <a:solidFill>
                  <a:srgbClr val="007D8C"/>
                </a:solidFill>
                <a:latin typeface="Inter" pitchFamily="34" charset="0"/>
                <a:ea typeface="Inter" pitchFamily="34" charset="-122"/>
                <a:cs typeface="Inter" pitchFamily="34" charset="-120"/>
              </a:rPr>
              <a:t>Inhibition</a:t>
            </a:r>
            <a:endParaRPr lang="en-US" sz="1000" dirty="0"/>
          </a:p>
        </p:txBody>
      </p:sp>
      <p:sp>
        <p:nvSpPr>
          <p:cNvPr id="20" name="Text 18"/>
          <p:cNvSpPr txBox="1"/>
          <p:nvPr/>
        </p:nvSpPr>
        <p:spPr>
          <a:xfrm>
            <a:off x="777240" y="3328416"/>
            <a:ext cx="3088538" cy="445516"/>
          </a:xfrm>
          <a:prstGeom prst="rect">
            <a:avLst/>
          </a:prstGeom>
          <a:noFill/>
          <a:ln/>
        </p:spPr>
        <p:txBody>
          <a:bodyPr wrap="square" lIns="0" tIns="0" rIns="0" bIns="0" rtlCol="0" anchor="t"/>
          <a:lstStyle/>
          <a:p>
            <a:pPr indent="0" marL="0">
              <a:buNone/>
            </a:pPr>
            <a:r>
              <a:rPr lang="en-US" sz="1400" b="1" dirty="0">
                <a:solidFill>
                  <a:srgbClr val="007D8C"/>
                </a:solidFill>
                <a:latin typeface="Inter" pitchFamily="34" charset="0"/>
                <a:ea typeface="Inter" pitchFamily="34" charset="-122"/>
                <a:cs typeface="Inter" pitchFamily="34" charset="-120"/>
              </a:rPr>
              <a:t>Change  </a:t>
            </a:r>
            <a:pPr indent="0" marL="0">
              <a:buNone/>
            </a:pPr>
            <a:r>
              <a:rPr lang="en-US" sz="1400" dirty="0">
                <a:solidFill>
                  <a:srgbClr val="2A323C"/>
                </a:solidFill>
                <a:latin typeface="Inter" pitchFamily="34" charset="0"/>
                <a:ea typeface="Inter" pitchFamily="34" charset="-122"/>
                <a:cs typeface="Inter" pitchFamily="34" charset="-120"/>
              </a:rPr>
              <a:t>No return pass to the player who just passed to you</a:t>
            </a:r>
            <a:endParaRPr lang="en-US" sz="1400" dirty="0"/>
          </a:p>
        </p:txBody>
      </p:sp>
      <p:sp>
        <p:nvSpPr>
          <p:cNvPr id="21" name="Text 19"/>
          <p:cNvSpPr txBox="1"/>
          <p:nvPr/>
        </p:nvSpPr>
        <p:spPr>
          <a:xfrm>
            <a:off x="777240" y="3883660"/>
            <a:ext cx="3088538" cy="445516"/>
          </a:xfrm>
          <a:prstGeom prst="rect">
            <a:avLst/>
          </a:prstGeom>
          <a:noFill/>
          <a:ln/>
        </p:spPr>
        <p:txBody>
          <a:bodyPr wrap="square" lIns="0" tIns="0" rIns="0" bIns="0" rtlCol="0" anchor="t"/>
          <a:lstStyle/>
          <a:p>
            <a:pPr indent="0" marL="0">
              <a:buNone/>
            </a:pPr>
            <a:r>
              <a:rPr lang="en-US" sz="1400" b="1" dirty="0">
                <a:solidFill>
                  <a:srgbClr val="007D8C"/>
                </a:solidFill>
                <a:latin typeface="Inter" pitchFamily="34" charset="0"/>
                <a:ea typeface="Inter" pitchFamily="34" charset="-122"/>
                <a:cs typeface="Inter" pitchFamily="34" charset="-120"/>
              </a:rPr>
              <a:t>Exaggerates  </a:t>
            </a:r>
            <a:pPr indent="0" marL="0">
              <a:buNone/>
            </a:pPr>
            <a:r>
              <a:rPr lang="en-US" sz="1400" dirty="0">
                <a:solidFill>
                  <a:srgbClr val="2A323C"/>
                </a:solidFill>
                <a:latin typeface="Inter" pitchFamily="34" charset="0"/>
                <a:ea typeface="Inter" pitchFamily="34" charset="-122"/>
                <a:cs typeface="Inter" pitchFamily="34" charset="-120"/>
              </a:rPr>
              <a:t>Stop the obvious pass, find the next one</a:t>
            </a:r>
            <a:endParaRPr lang="en-US" sz="1400" dirty="0"/>
          </a:p>
        </p:txBody>
      </p:sp>
      <p:sp>
        <p:nvSpPr>
          <p:cNvPr id="22" name="Text 20"/>
          <p:cNvSpPr txBox="1"/>
          <p:nvPr/>
        </p:nvSpPr>
        <p:spPr>
          <a:xfrm>
            <a:off x="777240" y="4438904"/>
            <a:ext cx="3088538" cy="445516"/>
          </a:xfrm>
          <a:prstGeom prst="rect">
            <a:avLst/>
          </a:prstGeom>
          <a:noFill/>
          <a:ln/>
        </p:spPr>
        <p:txBody>
          <a:bodyPr wrap="square" lIns="0" tIns="0" rIns="0" bIns="0" rtlCol="0" anchor="t"/>
          <a:lstStyle/>
          <a:p>
            <a:pPr indent="0" marL="0">
              <a:buNone/>
            </a:pPr>
            <a:r>
              <a:rPr lang="en-US" sz="1400" b="1" dirty="0">
                <a:solidFill>
                  <a:srgbClr val="007D8C"/>
                </a:solidFill>
                <a:latin typeface="Inter" pitchFamily="34" charset="0"/>
                <a:ea typeface="Inter" pitchFamily="34" charset="-122"/>
                <a:cs typeface="Inter" pitchFamily="34" charset="-120"/>
              </a:rPr>
              <a:t>Count  </a:t>
            </a:r>
            <a:pPr indent="0" marL="0">
              <a:buNone/>
            </a:pPr>
            <a:r>
              <a:rPr lang="en-US" sz="1400" dirty="0">
                <a:solidFill>
                  <a:srgbClr val="2A323C"/>
                </a:solidFill>
                <a:latin typeface="Inter" pitchFamily="34" charset="0"/>
                <a:ea typeface="Inter" pitchFamily="34" charset="-122"/>
                <a:cs typeface="Inter" pitchFamily="34" charset="-120"/>
              </a:rPr>
              <a:t>Illegal passes; losses after a closed lane</a:t>
            </a:r>
            <a:endParaRPr lang="en-US" sz="1400" dirty="0"/>
          </a:p>
        </p:txBody>
      </p:sp>
      <p:sp>
        <p:nvSpPr>
          <p:cNvPr id="23" name="Text 21"/>
          <p:cNvSpPr txBox="1"/>
          <p:nvPr/>
        </p:nvSpPr>
        <p:spPr>
          <a:xfrm>
            <a:off x="777240" y="5074920"/>
            <a:ext cx="1143000" cy="256032"/>
          </a:xfrm>
          <a:prstGeom prst="roundRect">
            <a:avLst>
              <a:gd name="adj" fmla="val 50000"/>
            </a:avLst>
          </a:prstGeom>
          <a:solidFill>
            <a:srgbClr val="8A94A3"/>
          </a:solidFill>
          <a:ln/>
        </p:spPr>
        <p:txBody>
          <a:bodyPr wrap="square" lIns="0" tIns="0" rIns="0" bIns="0" rtlCol="0" anchor="ctr"/>
          <a:lstStyle/>
          <a:p>
            <a:pPr algn="ctr" indent="0" marL="0">
              <a:buNone/>
            </a:pPr>
            <a:r>
              <a:rPr lang="en-US" sz="1000" b="1" dirty="0">
                <a:solidFill>
                  <a:srgbClr val="FFFFFF"/>
                </a:solidFill>
                <a:latin typeface="Inter" pitchFamily="34" charset="0"/>
                <a:ea typeface="Inter" pitchFamily="34" charset="-122"/>
                <a:cs typeface="Inter" pitchFamily="34" charset="-120"/>
              </a:rPr>
              <a:t>Evidence C</a:t>
            </a:r>
            <a:endParaRPr lang="en-US" sz="1000" dirty="0"/>
          </a:p>
        </p:txBody>
      </p:sp>
      <p:sp>
        <p:nvSpPr>
          <p:cNvPr id="24" name="Drill card Positional 4v4+3"/>
          <p:cNvSpPr/>
          <p:nvPr/>
        </p:nvSpPr>
        <p:spPr>
          <a:xfrm>
            <a:off x="4322978" y="1572768"/>
            <a:ext cx="3545738" cy="3886200"/>
          </a:xfrm>
          <a:prstGeom prst="roundRect">
            <a:avLst>
              <a:gd name="adj" fmla="val 4126"/>
            </a:avLst>
          </a:prstGeom>
          <a:solidFill>
            <a:srgbClr val="F2F5F8"/>
          </a:solidFill>
          <a:ln w="9525">
            <a:solidFill>
              <a:srgbClr val="E2E8F0"/>
            </a:solidFill>
            <a:prstDash val="solid"/>
          </a:ln>
        </p:spPr>
      </p:sp>
      <p:sp>
        <p:nvSpPr>
          <p:cNvPr id="25" name="Shape 23"/>
          <p:cNvSpPr/>
          <p:nvPr/>
        </p:nvSpPr>
        <p:spPr>
          <a:xfrm>
            <a:off x="4505858" y="1755648"/>
            <a:ext cx="3179978" cy="960120"/>
          </a:xfrm>
          <a:prstGeom prst="roundRect">
            <a:avLst>
              <a:gd name="adj" fmla="val 7619"/>
            </a:avLst>
          </a:prstGeom>
          <a:solidFill>
            <a:srgbClr val="E2F3F1"/>
          </a:solidFill>
          <a:ln/>
        </p:spPr>
      </p:sp>
      <p:sp>
        <p:nvSpPr>
          <p:cNvPr id="26" name="Shape 24"/>
          <p:cNvSpPr/>
          <p:nvPr/>
        </p:nvSpPr>
        <p:spPr>
          <a:xfrm>
            <a:off x="4780178" y="1956816"/>
            <a:ext cx="2631338" cy="557784"/>
          </a:xfrm>
          <a:prstGeom prst="rect">
            <a:avLst/>
          </a:prstGeom>
          <a:solidFill>
            <a:srgbClr val="E2F3F1"/>
          </a:solidFill>
          <a:ln w="19050">
            <a:solidFill>
              <a:srgbClr val="FFFFFF"/>
            </a:solidFill>
            <a:prstDash val="solid"/>
          </a:ln>
        </p:spPr>
      </p:sp>
      <p:sp>
        <p:nvSpPr>
          <p:cNvPr id="27" name="Shape 25"/>
          <p:cNvSpPr/>
          <p:nvPr/>
        </p:nvSpPr>
        <p:spPr>
          <a:xfrm>
            <a:off x="5306446" y="2124151"/>
            <a:ext cx="999909" cy="33467"/>
          </a:xfrm>
          <a:prstGeom prst="line">
            <a:avLst/>
          </a:prstGeom>
          <a:noFill/>
          <a:ln w="22225">
            <a:solidFill>
              <a:srgbClr val="263D57"/>
            </a:solidFill>
            <a:prstDash val="solid"/>
            <a:tailEnd type="triangle"/>
          </a:ln>
        </p:spPr>
      </p:sp>
      <p:sp>
        <p:nvSpPr>
          <p:cNvPr id="28" name="Shape 26"/>
          <p:cNvSpPr/>
          <p:nvPr/>
        </p:nvSpPr>
        <p:spPr>
          <a:xfrm>
            <a:off x="5215006" y="2032711"/>
            <a:ext cx="182880" cy="182880"/>
          </a:xfrm>
          <a:prstGeom prst="ellipse">
            <a:avLst/>
          </a:prstGeom>
          <a:solidFill>
            <a:srgbClr val="41C5C5"/>
          </a:solidFill>
          <a:ln w="15875">
            <a:solidFill>
              <a:srgbClr val="FFFFFF"/>
            </a:solidFill>
            <a:prstDash val="solid"/>
          </a:ln>
        </p:spPr>
      </p:sp>
      <p:sp>
        <p:nvSpPr>
          <p:cNvPr id="29" name="Shape 27"/>
          <p:cNvSpPr/>
          <p:nvPr/>
        </p:nvSpPr>
        <p:spPr>
          <a:xfrm>
            <a:off x="5872841" y="2266980"/>
            <a:ext cx="182880" cy="182880"/>
          </a:xfrm>
          <a:prstGeom prst="ellipse">
            <a:avLst/>
          </a:prstGeom>
          <a:solidFill>
            <a:srgbClr val="41C5C5"/>
          </a:solidFill>
          <a:ln w="15875">
            <a:solidFill>
              <a:srgbClr val="FFFFFF"/>
            </a:solidFill>
            <a:prstDash val="solid"/>
          </a:ln>
        </p:spPr>
      </p:sp>
      <p:sp>
        <p:nvSpPr>
          <p:cNvPr id="30" name="Shape 28"/>
          <p:cNvSpPr/>
          <p:nvPr/>
        </p:nvSpPr>
        <p:spPr>
          <a:xfrm>
            <a:off x="6320168" y="2060600"/>
            <a:ext cx="182880" cy="182880"/>
          </a:xfrm>
          <a:prstGeom prst="ellipse">
            <a:avLst/>
          </a:prstGeom>
          <a:solidFill>
            <a:srgbClr val="41C5C5"/>
          </a:solidFill>
          <a:ln w="15875">
            <a:solidFill>
              <a:srgbClr val="FFFFFF"/>
            </a:solidFill>
            <a:prstDash val="solid"/>
          </a:ln>
        </p:spPr>
      </p:sp>
      <p:sp>
        <p:nvSpPr>
          <p:cNvPr id="31" name="Shape 29"/>
          <p:cNvSpPr/>
          <p:nvPr/>
        </p:nvSpPr>
        <p:spPr>
          <a:xfrm>
            <a:off x="6846436" y="2227936"/>
            <a:ext cx="182880" cy="182880"/>
          </a:xfrm>
          <a:prstGeom prst="ellipse">
            <a:avLst/>
          </a:prstGeom>
          <a:solidFill>
            <a:srgbClr val="41C5C5"/>
          </a:solidFill>
          <a:ln w="15875">
            <a:solidFill>
              <a:srgbClr val="FFFFFF"/>
            </a:solidFill>
            <a:prstDash val="solid"/>
          </a:ln>
        </p:spPr>
      </p:sp>
      <p:sp>
        <p:nvSpPr>
          <p:cNvPr id="32" name="Shape 30"/>
          <p:cNvSpPr/>
          <p:nvPr/>
        </p:nvSpPr>
        <p:spPr>
          <a:xfrm>
            <a:off x="5530767" y="2172157"/>
            <a:ext cx="182880" cy="182880"/>
          </a:xfrm>
          <a:prstGeom prst="ellipse">
            <a:avLst/>
          </a:prstGeom>
          <a:solidFill>
            <a:srgbClr val="263D57"/>
          </a:solidFill>
          <a:ln w="15875">
            <a:solidFill>
              <a:srgbClr val="FFFFFF"/>
            </a:solidFill>
            <a:prstDash val="solid"/>
          </a:ln>
        </p:spPr>
      </p:sp>
      <p:sp>
        <p:nvSpPr>
          <p:cNvPr id="33" name="Shape 31"/>
          <p:cNvSpPr/>
          <p:nvPr/>
        </p:nvSpPr>
        <p:spPr>
          <a:xfrm>
            <a:off x="6004408" y="2004822"/>
            <a:ext cx="182880" cy="182880"/>
          </a:xfrm>
          <a:prstGeom prst="ellipse">
            <a:avLst/>
          </a:prstGeom>
          <a:solidFill>
            <a:srgbClr val="263D57"/>
          </a:solidFill>
          <a:ln w="15875">
            <a:solidFill>
              <a:srgbClr val="FFFFFF"/>
            </a:solidFill>
            <a:prstDash val="solid"/>
          </a:ln>
        </p:spPr>
      </p:sp>
      <p:sp>
        <p:nvSpPr>
          <p:cNvPr id="34" name="Shape 32"/>
          <p:cNvSpPr/>
          <p:nvPr/>
        </p:nvSpPr>
        <p:spPr>
          <a:xfrm>
            <a:off x="6530675" y="2172157"/>
            <a:ext cx="182880" cy="182880"/>
          </a:xfrm>
          <a:prstGeom prst="ellipse">
            <a:avLst/>
          </a:prstGeom>
          <a:solidFill>
            <a:srgbClr val="263D57"/>
          </a:solidFill>
          <a:ln w="15875">
            <a:solidFill>
              <a:srgbClr val="FFFFFF"/>
            </a:solidFill>
            <a:prstDash val="solid"/>
          </a:ln>
        </p:spPr>
      </p:sp>
      <p:sp>
        <p:nvSpPr>
          <p:cNvPr id="35" name="Shape 33"/>
          <p:cNvSpPr/>
          <p:nvPr/>
        </p:nvSpPr>
        <p:spPr>
          <a:xfrm>
            <a:off x="5688647" y="2339492"/>
            <a:ext cx="182880" cy="182880"/>
          </a:xfrm>
          <a:prstGeom prst="ellipse">
            <a:avLst/>
          </a:prstGeom>
          <a:solidFill>
            <a:srgbClr val="263D57"/>
          </a:solidFill>
          <a:ln w="15875">
            <a:solidFill>
              <a:srgbClr val="FFFFFF"/>
            </a:solidFill>
            <a:prstDash val="solid"/>
          </a:ln>
        </p:spPr>
      </p:sp>
      <p:sp>
        <p:nvSpPr>
          <p:cNvPr id="36" name="Shape 34"/>
          <p:cNvSpPr/>
          <p:nvPr/>
        </p:nvSpPr>
        <p:spPr>
          <a:xfrm>
            <a:off x="4688738" y="2144268"/>
            <a:ext cx="182880" cy="182880"/>
          </a:xfrm>
          <a:prstGeom prst="ellipse">
            <a:avLst/>
          </a:prstGeom>
          <a:solidFill>
            <a:srgbClr val="EABF23"/>
          </a:solidFill>
          <a:ln w="15875">
            <a:solidFill>
              <a:srgbClr val="FFFFFF"/>
            </a:solidFill>
            <a:prstDash val="solid"/>
          </a:ln>
        </p:spPr>
      </p:sp>
      <p:sp>
        <p:nvSpPr>
          <p:cNvPr id="37" name="Shape 35"/>
          <p:cNvSpPr/>
          <p:nvPr/>
        </p:nvSpPr>
        <p:spPr>
          <a:xfrm>
            <a:off x="7320077" y="2144268"/>
            <a:ext cx="182880" cy="182880"/>
          </a:xfrm>
          <a:prstGeom prst="ellipse">
            <a:avLst/>
          </a:prstGeom>
          <a:solidFill>
            <a:srgbClr val="EABF23"/>
          </a:solidFill>
          <a:ln w="15875">
            <a:solidFill>
              <a:srgbClr val="FFFFFF"/>
            </a:solidFill>
            <a:prstDash val="solid"/>
          </a:ln>
        </p:spPr>
      </p:sp>
      <p:sp>
        <p:nvSpPr>
          <p:cNvPr id="38" name="Shape 36"/>
          <p:cNvSpPr/>
          <p:nvPr/>
        </p:nvSpPr>
        <p:spPr>
          <a:xfrm>
            <a:off x="6004408" y="2423160"/>
            <a:ext cx="182880" cy="182880"/>
          </a:xfrm>
          <a:prstGeom prst="ellipse">
            <a:avLst/>
          </a:prstGeom>
          <a:solidFill>
            <a:srgbClr val="EABF23"/>
          </a:solidFill>
          <a:ln w="15875">
            <a:solidFill>
              <a:srgbClr val="FFFFFF"/>
            </a:solidFill>
            <a:prstDash val="solid"/>
          </a:ln>
        </p:spPr>
      </p:sp>
      <p:sp>
        <p:nvSpPr>
          <p:cNvPr id="39" name="Text 37"/>
          <p:cNvSpPr txBox="1"/>
          <p:nvPr/>
        </p:nvSpPr>
        <p:spPr>
          <a:xfrm>
            <a:off x="6640208" y="1810512"/>
            <a:ext cx="274320" cy="274320"/>
          </a:xfrm>
          <a:prstGeom prst="roundRect">
            <a:avLst>
              <a:gd name="adj" fmla="val 16667"/>
            </a:avLst>
          </a:prstGeom>
          <a:solidFill>
            <a:srgbClr val="263D57"/>
          </a:solid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7</a:t>
            </a:r>
            <a:endParaRPr lang="en-US" sz="1100" dirty="0"/>
          </a:p>
        </p:txBody>
      </p:sp>
      <p:sp>
        <p:nvSpPr>
          <p:cNvPr id="40" name="Text 38"/>
          <p:cNvSpPr txBox="1"/>
          <p:nvPr/>
        </p:nvSpPr>
        <p:spPr>
          <a:xfrm>
            <a:off x="4551578" y="2852928"/>
            <a:ext cx="1991258" cy="365760"/>
          </a:xfrm>
          <a:prstGeom prst="rect">
            <a:avLst/>
          </a:prstGeom>
          <a:noFill/>
          <a:ln/>
        </p:spPr>
        <p:txBody>
          <a:bodyPr wrap="square" lIns="0" tIns="0" rIns="0" bIns="0" rtlCol="0" anchor="ctr"/>
          <a:lstStyle/>
          <a:p>
            <a:pPr indent="0" marL="0">
              <a:buNone/>
            </a:pPr>
            <a:r>
              <a:rPr lang="en-US" sz="1500" dirty="0">
                <a:solidFill>
                  <a:srgbClr val="263D57"/>
                </a:solidFill>
                <a:latin typeface="Poppins SemiBold" pitchFamily="34" charset="0"/>
                <a:ea typeface="Poppins SemiBold" pitchFamily="34" charset="-122"/>
                <a:cs typeface="Poppins SemiBold" pitchFamily="34" charset="-120"/>
              </a:rPr>
              <a:t>Positional 4v4+3</a:t>
            </a:r>
            <a:endParaRPr lang="en-US" sz="1500" dirty="0"/>
          </a:p>
        </p:txBody>
      </p:sp>
      <p:sp>
        <p:nvSpPr>
          <p:cNvPr id="41" name="Text 39"/>
          <p:cNvSpPr txBox="1"/>
          <p:nvPr/>
        </p:nvSpPr>
        <p:spPr>
          <a:xfrm>
            <a:off x="6570269" y="2898648"/>
            <a:ext cx="1097280" cy="274320"/>
          </a:xfrm>
          <a:prstGeom prst="roundRect">
            <a:avLst>
              <a:gd name="adj" fmla="val 50000"/>
            </a:avLst>
          </a:prstGeom>
          <a:solidFill>
            <a:srgbClr val="E2F3F1"/>
          </a:solidFill>
          <a:ln/>
        </p:spPr>
        <p:txBody>
          <a:bodyPr wrap="square" lIns="0" tIns="0" rIns="0" bIns="0" rtlCol="0" anchor="ctr"/>
          <a:lstStyle/>
          <a:p>
            <a:pPr algn="ctr" indent="0" marL="0">
              <a:buNone/>
            </a:pPr>
            <a:r>
              <a:rPr lang="en-US" sz="1000" b="1" dirty="0">
                <a:solidFill>
                  <a:srgbClr val="007D8C"/>
                </a:solidFill>
                <a:latin typeface="Inter" pitchFamily="34" charset="0"/>
                <a:ea typeface="Inter" pitchFamily="34" charset="-122"/>
                <a:cs typeface="Inter" pitchFamily="34" charset="-120"/>
              </a:rPr>
              <a:t>Scanning</a:t>
            </a:r>
            <a:endParaRPr lang="en-US" sz="1000" dirty="0"/>
          </a:p>
        </p:txBody>
      </p:sp>
      <p:sp>
        <p:nvSpPr>
          <p:cNvPr id="42" name="Text 40"/>
          <p:cNvSpPr txBox="1"/>
          <p:nvPr/>
        </p:nvSpPr>
        <p:spPr>
          <a:xfrm>
            <a:off x="4551578" y="3328416"/>
            <a:ext cx="3088538" cy="445516"/>
          </a:xfrm>
          <a:prstGeom prst="rect">
            <a:avLst/>
          </a:prstGeom>
          <a:noFill/>
          <a:ln/>
        </p:spPr>
        <p:txBody>
          <a:bodyPr wrap="square" lIns="0" tIns="0" rIns="0" bIns="0" rtlCol="0" anchor="t"/>
          <a:lstStyle/>
          <a:p>
            <a:pPr indent="0" marL="0">
              <a:buNone/>
            </a:pPr>
            <a:r>
              <a:rPr lang="en-US" sz="1400" b="1" dirty="0">
                <a:solidFill>
                  <a:srgbClr val="007D8C"/>
                </a:solidFill>
                <a:latin typeface="Inter" pitchFamily="34" charset="0"/>
                <a:ea typeface="Inter" pitchFamily="34" charset="-122"/>
                <a:cs typeface="Inter" pitchFamily="34" charset="-120"/>
              </a:rPr>
              <a:t>Change  </a:t>
            </a:r>
            <a:pPr indent="0" marL="0">
              <a:buNone/>
            </a:pPr>
            <a:r>
              <a:rPr lang="en-US" sz="1400" dirty="0">
                <a:solidFill>
                  <a:srgbClr val="2A323C"/>
                </a:solidFill>
                <a:latin typeface="Inter" pitchFamily="34" charset="0"/>
                <a:ea typeface="Inter" pitchFamily="34" charset="-122"/>
                <a:cs typeface="Inter" pitchFamily="34" charset="-120"/>
              </a:rPr>
              <a:t>Call the number shown behind you before receiving</a:t>
            </a:r>
            <a:endParaRPr lang="en-US" sz="1400" dirty="0"/>
          </a:p>
        </p:txBody>
      </p:sp>
      <p:sp>
        <p:nvSpPr>
          <p:cNvPr id="43" name="Text 41"/>
          <p:cNvSpPr txBox="1"/>
          <p:nvPr/>
        </p:nvSpPr>
        <p:spPr>
          <a:xfrm>
            <a:off x="4551578" y="3883660"/>
            <a:ext cx="3088538" cy="445516"/>
          </a:xfrm>
          <a:prstGeom prst="rect">
            <a:avLst/>
          </a:prstGeom>
          <a:noFill/>
          <a:ln/>
        </p:spPr>
        <p:txBody>
          <a:bodyPr wrap="square" lIns="0" tIns="0" rIns="0" bIns="0" rtlCol="0" anchor="t"/>
          <a:lstStyle/>
          <a:p>
            <a:pPr indent="0" marL="0">
              <a:buNone/>
            </a:pPr>
            <a:r>
              <a:rPr lang="en-US" sz="1400" b="1" dirty="0">
                <a:solidFill>
                  <a:srgbClr val="007D8C"/>
                </a:solidFill>
                <a:latin typeface="Inter" pitchFamily="34" charset="0"/>
                <a:ea typeface="Inter" pitchFamily="34" charset="-122"/>
                <a:cs typeface="Inter" pitchFamily="34" charset="-120"/>
              </a:rPr>
              <a:t>Exaggerates  </a:t>
            </a:r>
            <a:pPr indent="0" marL="0">
              <a:buNone/>
            </a:pPr>
            <a:r>
              <a:rPr lang="en-US" sz="1400" dirty="0">
                <a:solidFill>
                  <a:srgbClr val="2A323C"/>
                </a:solidFill>
                <a:latin typeface="Inter" pitchFamily="34" charset="0"/>
                <a:ea typeface="Inter" pitchFamily="34" charset="-122"/>
                <a:cs typeface="Inter" pitchFamily="34" charset="-120"/>
              </a:rPr>
              <a:t>Look away from the ball before it arrives</a:t>
            </a:r>
            <a:endParaRPr lang="en-US" sz="1400" dirty="0"/>
          </a:p>
        </p:txBody>
      </p:sp>
      <p:sp>
        <p:nvSpPr>
          <p:cNvPr id="44" name="Text 42"/>
          <p:cNvSpPr txBox="1"/>
          <p:nvPr/>
        </p:nvSpPr>
        <p:spPr>
          <a:xfrm>
            <a:off x="4551578" y="4438904"/>
            <a:ext cx="3088538" cy="445516"/>
          </a:xfrm>
          <a:prstGeom prst="rect">
            <a:avLst/>
          </a:prstGeom>
          <a:noFill/>
          <a:ln/>
        </p:spPr>
        <p:txBody>
          <a:bodyPr wrap="square" lIns="0" tIns="0" rIns="0" bIns="0" rtlCol="0" anchor="t"/>
          <a:lstStyle/>
          <a:p>
            <a:pPr indent="0" marL="0">
              <a:buNone/>
            </a:pPr>
            <a:r>
              <a:rPr lang="en-US" sz="1400" b="1" dirty="0">
                <a:solidFill>
                  <a:srgbClr val="007D8C"/>
                </a:solidFill>
                <a:latin typeface="Inter" pitchFamily="34" charset="0"/>
                <a:ea typeface="Inter" pitchFamily="34" charset="-122"/>
                <a:cs typeface="Inter" pitchFamily="34" charset="-120"/>
              </a:rPr>
              <a:t>Count  </a:t>
            </a:r>
            <a:pPr indent="0" marL="0">
              <a:buNone/>
            </a:pPr>
            <a:r>
              <a:rPr lang="en-US" sz="1400" dirty="0">
                <a:solidFill>
                  <a:srgbClr val="2A323C"/>
                </a:solidFill>
                <a:latin typeface="Inter" pitchFamily="34" charset="0"/>
                <a:ea typeface="Inter" pitchFamily="34" charset="-122"/>
                <a:cs typeface="Inter" pitchFamily="34" charset="-120"/>
              </a:rPr>
              <a:t>Scans before receiving; forward turns</a:t>
            </a:r>
            <a:endParaRPr lang="en-US" sz="1400" dirty="0"/>
          </a:p>
        </p:txBody>
      </p:sp>
      <p:sp>
        <p:nvSpPr>
          <p:cNvPr id="45" name="Text 43"/>
          <p:cNvSpPr txBox="1"/>
          <p:nvPr/>
        </p:nvSpPr>
        <p:spPr>
          <a:xfrm>
            <a:off x="4551578" y="5074920"/>
            <a:ext cx="1143000" cy="256032"/>
          </a:xfrm>
          <a:prstGeom prst="roundRect">
            <a:avLst>
              <a:gd name="adj" fmla="val 50000"/>
            </a:avLst>
          </a:prstGeom>
          <a:solidFill>
            <a:srgbClr val="007D8C"/>
          </a:solidFill>
          <a:ln/>
        </p:spPr>
        <p:txBody>
          <a:bodyPr wrap="square" lIns="0" tIns="0" rIns="0" bIns="0" rtlCol="0" anchor="ctr"/>
          <a:lstStyle/>
          <a:p>
            <a:pPr algn="ctr" indent="0" marL="0">
              <a:buNone/>
            </a:pPr>
            <a:r>
              <a:rPr lang="en-US" sz="1000" b="1" dirty="0">
                <a:solidFill>
                  <a:srgbClr val="FFFFFF"/>
                </a:solidFill>
                <a:latin typeface="Inter" pitchFamily="34" charset="0"/>
                <a:ea typeface="Inter" pitchFamily="34" charset="-122"/>
                <a:cs typeface="Inter" pitchFamily="34" charset="-120"/>
              </a:rPr>
              <a:t>Evidence A</a:t>
            </a:r>
            <a:endParaRPr lang="en-US" sz="1000" dirty="0"/>
          </a:p>
        </p:txBody>
      </p:sp>
      <p:sp>
        <p:nvSpPr>
          <p:cNvPr id="46" name="Drill card 4v4 with four goals"/>
          <p:cNvSpPr/>
          <p:nvPr/>
        </p:nvSpPr>
        <p:spPr>
          <a:xfrm>
            <a:off x="8097317" y="1572768"/>
            <a:ext cx="3545738" cy="3886200"/>
          </a:xfrm>
          <a:prstGeom prst="roundRect">
            <a:avLst>
              <a:gd name="adj" fmla="val 4126"/>
            </a:avLst>
          </a:prstGeom>
          <a:solidFill>
            <a:srgbClr val="F2F5F8"/>
          </a:solidFill>
          <a:ln w="9525">
            <a:solidFill>
              <a:srgbClr val="E2E8F0"/>
            </a:solidFill>
            <a:prstDash val="solid"/>
          </a:ln>
        </p:spPr>
      </p:sp>
      <p:sp>
        <p:nvSpPr>
          <p:cNvPr id="47" name="Shape 45"/>
          <p:cNvSpPr/>
          <p:nvPr/>
        </p:nvSpPr>
        <p:spPr>
          <a:xfrm>
            <a:off x="8280197" y="1755648"/>
            <a:ext cx="3179978" cy="960120"/>
          </a:xfrm>
          <a:prstGeom prst="roundRect">
            <a:avLst>
              <a:gd name="adj" fmla="val 7619"/>
            </a:avLst>
          </a:prstGeom>
          <a:solidFill>
            <a:srgbClr val="E2F3F1"/>
          </a:solidFill>
          <a:ln/>
        </p:spPr>
      </p:sp>
      <p:sp>
        <p:nvSpPr>
          <p:cNvPr id="48" name="Shape 46"/>
          <p:cNvSpPr/>
          <p:nvPr/>
        </p:nvSpPr>
        <p:spPr>
          <a:xfrm>
            <a:off x="8600237" y="1920240"/>
            <a:ext cx="2539898" cy="630936"/>
          </a:xfrm>
          <a:prstGeom prst="rect">
            <a:avLst/>
          </a:prstGeom>
          <a:solidFill>
            <a:srgbClr val="E2F3F1"/>
          </a:solidFill>
          <a:ln w="19050">
            <a:solidFill>
              <a:srgbClr val="FFFFFF"/>
            </a:solidFill>
            <a:prstDash val="solid"/>
          </a:ln>
        </p:spPr>
      </p:sp>
      <p:sp>
        <p:nvSpPr>
          <p:cNvPr id="49" name="Shape 47"/>
          <p:cNvSpPr/>
          <p:nvPr/>
        </p:nvSpPr>
        <p:spPr>
          <a:xfrm>
            <a:off x="8490509" y="1995952"/>
            <a:ext cx="109728" cy="310896"/>
          </a:xfrm>
          <a:prstGeom prst="rect">
            <a:avLst/>
          </a:prstGeom>
          <a:solidFill>
            <a:srgbClr val="263D57"/>
          </a:solidFill>
          <a:ln/>
        </p:spPr>
      </p:sp>
      <p:sp>
        <p:nvSpPr>
          <p:cNvPr id="50" name="Shape 48"/>
          <p:cNvSpPr/>
          <p:nvPr/>
        </p:nvSpPr>
        <p:spPr>
          <a:xfrm>
            <a:off x="8490509" y="2164568"/>
            <a:ext cx="109728" cy="310896"/>
          </a:xfrm>
          <a:prstGeom prst="rect">
            <a:avLst/>
          </a:prstGeom>
          <a:solidFill>
            <a:srgbClr val="263D57"/>
          </a:solidFill>
          <a:ln/>
        </p:spPr>
      </p:sp>
      <p:sp>
        <p:nvSpPr>
          <p:cNvPr id="51" name="Shape 49"/>
          <p:cNvSpPr/>
          <p:nvPr/>
        </p:nvSpPr>
        <p:spPr>
          <a:xfrm>
            <a:off x="11140135" y="1995952"/>
            <a:ext cx="109728" cy="310896"/>
          </a:xfrm>
          <a:prstGeom prst="rect">
            <a:avLst/>
          </a:prstGeom>
          <a:solidFill>
            <a:srgbClr val="263D57"/>
          </a:solidFill>
          <a:ln/>
        </p:spPr>
      </p:sp>
      <p:sp>
        <p:nvSpPr>
          <p:cNvPr id="52" name="Shape 50"/>
          <p:cNvSpPr/>
          <p:nvPr/>
        </p:nvSpPr>
        <p:spPr>
          <a:xfrm>
            <a:off x="11140135" y="2164568"/>
            <a:ext cx="109728" cy="310896"/>
          </a:xfrm>
          <a:prstGeom prst="rect">
            <a:avLst/>
          </a:prstGeom>
          <a:solidFill>
            <a:srgbClr val="263D57"/>
          </a:solidFill>
          <a:ln/>
        </p:spPr>
      </p:sp>
      <p:sp>
        <p:nvSpPr>
          <p:cNvPr id="53" name="Shape 51"/>
          <p:cNvSpPr/>
          <p:nvPr/>
        </p:nvSpPr>
        <p:spPr>
          <a:xfrm>
            <a:off x="9575554" y="2144268"/>
            <a:ext cx="182880" cy="182880"/>
          </a:xfrm>
          <a:prstGeom prst="ellipse">
            <a:avLst/>
          </a:prstGeom>
          <a:solidFill>
            <a:srgbClr val="41C5C5"/>
          </a:solidFill>
          <a:ln w="15875">
            <a:solidFill>
              <a:srgbClr val="FFFFFF"/>
            </a:solidFill>
            <a:prstDash val="solid"/>
          </a:ln>
        </p:spPr>
      </p:sp>
      <p:sp>
        <p:nvSpPr>
          <p:cNvPr id="54" name="Shape 52"/>
          <p:cNvSpPr/>
          <p:nvPr/>
        </p:nvSpPr>
        <p:spPr>
          <a:xfrm flipV="1">
            <a:off x="9768590" y="2046427"/>
            <a:ext cx="1117555" cy="164043"/>
          </a:xfrm>
          <a:prstGeom prst="line">
            <a:avLst/>
          </a:prstGeom>
          <a:noFill/>
          <a:ln w="22225">
            <a:solidFill>
              <a:srgbClr val="41C5C5"/>
            </a:solidFill>
            <a:prstDash val="solid"/>
            <a:tailEnd type="triangle"/>
          </a:ln>
        </p:spPr>
      </p:sp>
      <p:sp>
        <p:nvSpPr>
          <p:cNvPr id="55" name="Shape 53"/>
          <p:cNvSpPr/>
          <p:nvPr/>
        </p:nvSpPr>
        <p:spPr>
          <a:xfrm>
            <a:off x="9768590" y="2260945"/>
            <a:ext cx="1117555" cy="164043"/>
          </a:xfrm>
          <a:prstGeom prst="line">
            <a:avLst/>
          </a:prstGeom>
          <a:noFill/>
          <a:ln w="22225">
            <a:solidFill>
              <a:srgbClr val="41C5C5"/>
            </a:solidFill>
            <a:prstDash val="solid"/>
            <a:tailEnd type="triangle"/>
          </a:ln>
        </p:spPr>
      </p:sp>
      <p:sp>
        <p:nvSpPr>
          <p:cNvPr id="56" name="Shape 54"/>
          <p:cNvSpPr/>
          <p:nvPr/>
        </p:nvSpPr>
        <p:spPr>
          <a:xfrm>
            <a:off x="9143771" y="2018081"/>
            <a:ext cx="182880" cy="182880"/>
          </a:xfrm>
          <a:prstGeom prst="ellipse">
            <a:avLst/>
          </a:prstGeom>
          <a:solidFill>
            <a:srgbClr val="41C5C5"/>
          </a:solidFill>
          <a:ln w="15875">
            <a:solidFill>
              <a:srgbClr val="FFFFFF"/>
            </a:solidFill>
            <a:prstDash val="solid"/>
          </a:ln>
        </p:spPr>
      </p:sp>
      <p:sp>
        <p:nvSpPr>
          <p:cNvPr id="57" name="Shape 55"/>
          <p:cNvSpPr/>
          <p:nvPr/>
        </p:nvSpPr>
        <p:spPr>
          <a:xfrm>
            <a:off x="9270766" y="2302002"/>
            <a:ext cx="182880" cy="182880"/>
          </a:xfrm>
          <a:prstGeom prst="ellipse">
            <a:avLst/>
          </a:prstGeom>
          <a:solidFill>
            <a:srgbClr val="41C5C5"/>
          </a:solidFill>
          <a:ln w="15875">
            <a:solidFill>
              <a:srgbClr val="FFFFFF"/>
            </a:solidFill>
            <a:prstDash val="solid"/>
          </a:ln>
        </p:spPr>
      </p:sp>
      <p:sp>
        <p:nvSpPr>
          <p:cNvPr id="58" name="Shape 56"/>
          <p:cNvSpPr/>
          <p:nvPr/>
        </p:nvSpPr>
        <p:spPr>
          <a:xfrm>
            <a:off x="10159731" y="2081174"/>
            <a:ext cx="182880" cy="182880"/>
          </a:xfrm>
          <a:prstGeom prst="ellipse">
            <a:avLst/>
          </a:prstGeom>
          <a:solidFill>
            <a:srgbClr val="263D57"/>
          </a:solidFill>
          <a:ln w="15875">
            <a:solidFill>
              <a:srgbClr val="FFFFFF"/>
            </a:solidFill>
            <a:prstDash val="solid"/>
          </a:ln>
        </p:spPr>
      </p:sp>
      <p:sp>
        <p:nvSpPr>
          <p:cNvPr id="59" name="Shape 57"/>
          <p:cNvSpPr/>
          <p:nvPr/>
        </p:nvSpPr>
        <p:spPr>
          <a:xfrm>
            <a:off x="10286726" y="2270455"/>
            <a:ext cx="182880" cy="182880"/>
          </a:xfrm>
          <a:prstGeom prst="ellipse">
            <a:avLst/>
          </a:prstGeom>
          <a:solidFill>
            <a:srgbClr val="263D57"/>
          </a:solidFill>
          <a:ln w="15875">
            <a:solidFill>
              <a:srgbClr val="FFFFFF"/>
            </a:solidFill>
            <a:prstDash val="solid"/>
          </a:ln>
        </p:spPr>
      </p:sp>
      <p:sp>
        <p:nvSpPr>
          <p:cNvPr id="60" name="Shape 58"/>
          <p:cNvSpPr/>
          <p:nvPr/>
        </p:nvSpPr>
        <p:spPr>
          <a:xfrm>
            <a:off x="9905741" y="2175815"/>
            <a:ext cx="182880" cy="182880"/>
          </a:xfrm>
          <a:prstGeom prst="ellipse">
            <a:avLst/>
          </a:prstGeom>
          <a:solidFill>
            <a:srgbClr val="263D57"/>
          </a:solidFill>
          <a:ln w="15875">
            <a:solidFill>
              <a:srgbClr val="FFFFFF"/>
            </a:solidFill>
            <a:prstDash val="solid"/>
          </a:ln>
        </p:spPr>
      </p:sp>
      <p:sp>
        <p:nvSpPr>
          <p:cNvPr id="61" name="Text 59"/>
          <p:cNvSpPr txBox="1"/>
          <p:nvPr/>
        </p:nvSpPr>
        <p:spPr>
          <a:xfrm>
            <a:off x="8325917" y="2852928"/>
            <a:ext cx="1991258" cy="365760"/>
          </a:xfrm>
          <a:prstGeom prst="rect">
            <a:avLst/>
          </a:prstGeom>
          <a:noFill/>
          <a:ln/>
        </p:spPr>
        <p:txBody>
          <a:bodyPr wrap="square" lIns="0" tIns="0" rIns="0" bIns="0" rtlCol="0" anchor="ctr"/>
          <a:lstStyle/>
          <a:p>
            <a:pPr indent="0" marL="0">
              <a:buNone/>
            </a:pPr>
            <a:r>
              <a:rPr lang="en-US" sz="1500" dirty="0">
                <a:solidFill>
                  <a:srgbClr val="263D57"/>
                </a:solidFill>
                <a:latin typeface="Poppins SemiBold" pitchFamily="34" charset="0"/>
                <a:ea typeface="Poppins SemiBold" pitchFamily="34" charset="-122"/>
                <a:cs typeface="Poppins SemiBold" pitchFamily="34" charset="-120"/>
              </a:rPr>
              <a:t>4v4 with four goals</a:t>
            </a:r>
            <a:endParaRPr lang="en-US" sz="1500" dirty="0"/>
          </a:p>
        </p:txBody>
      </p:sp>
      <p:sp>
        <p:nvSpPr>
          <p:cNvPr id="62" name="Text 60"/>
          <p:cNvSpPr txBox="1"/>
          <p:nvPr/>
        </p:nvSpPr>
        <p:spPr>
          <a:xfrm>
            <a:off x="10344607" y="2898648"/>
            <a:ext cx="1097280" cy="274320"/>
          </a:xfrm>
          <a:prstGeom prst="roundRect">
            <a:avLst>
              <a:gd name="adj" fmla="val 50000"/>
            </a:avLst>
          </a:prstGeom>
          <a:solidFill>
            <a:srgbClr val="E2F3F1"/>
          </a:solidFill>
          <a:ln/>
        </p:spPr>
        <p:txBody>
          <a:bodyPr wrap="square" lIns="0" tIns="0" rIns="0" bIns="0" rtlCol="0" anchor="ctr"/>
          <a:lstStyle/>
          <a:p>
            <a:pPr algn="ctr" indent="0" marL="0">
              <a:buNone/>
            </a:pPr>
            <a:r>
              <a:rPr lang="en-US" sz="1000" b="1" dirty="0">
                <a:solidFill>
                  <a:srgbClr val="007D8C"/>
                </a:solidFill>
                <a:latin typeface="Inter" pitchFamily="34" charset="0"/>
                <a:ea typeface="Inter" pitchFamily="34" charset="-122"/>
                <a:cs typeface="Inter" pitchFamily="34" charset="-120"/>
              </a:rPr>
              <a:t>Flexibility</a:t>
            </a:r>
            <a:endParaRPr lang="en-US" sz="1000" dirty="0"/>
          </a:p>
        </p:txBody>
      </p:sp>
      <p:sp>
        <p:nvSpPr>
          <p:cNvPr id="63" name="Text 61"/>
          <p:cNvSpPr txBox="1"/>
          <p:nvPr/>
        </p:nvSpPr>
        <p:spPr>
          <a:xfrm>
            <a:off x="8325917" y="3328416"/>
            <a:ext cx="3088538" cy="445516"/>
          </a:xfrm>
          <a:prstGeom prst="rect">
            <a:avLst/>
          </a:prstGeom>
          <a:noFill/>
          <a:ln/>
        </p:spPr>
        <p:txBody>
          <a:bodyPr wrap="square" lIns="0" tIns="0" rIns="0" bIns="0" rtlCol="0" anchor="t"/>
          <a:lstStyle/>
          <a:p>
            <a:pPr indent="0" marL="0">
              <a:buNone/>
            </a:pPr>
            <a:r>
              <a:rPr lang="en-US" sz="1400" b="1" dirty="0">
                <a:solidFill>
                  <a:srgbClr val="007D8C"/>
                </a:solidFill>
                <a:latin typeface="Inter" pitchFamily="34" charset="0"/>
                <a:ea typeface="Inter" pitchFamily="34" charset="-122"/>
                <a:cs typeface="Inter" pitchFamily="34" charset="-120"/>
              </a:rPr>
              <a:t>Change  </a:t>
            </a:r>
            <a:pPr indent="0" marL="0">
              <a:buNone/>
            </a:pPr>
            <a:r>
              <a:rPr lang="en-US" sz="1400" dirty="0">
                <a:solidFill>
                  <a:srgbClr val="2A323C"/>
                </a:solidFill>
                <a:latin typeface="Inter" pitchFamily="34" charset="0"/>
                <a:ea typeface="Inter" pitchFamily="34" charset="-122"/>
                <a:cs typeface="Inter" pitchFamily="34" charset="-120"/>
              </a:rPr>
              <a:t>After winning the ball, attack the other pair of goals</a:t>
            </a:r>
            <a:endParaRPr lang="en-US" sz="1400" dirty="0"/>
          </a:p>
        </p:txBody>
      </p:sp>
      <p:sp>
        <p:nvSpPr>
          <p:cNvPr id="64" name="Text 62"/>
          <p:cNvSpPr txBox="1"/>
          <p:nvPr/>
        </p:nvSpPr>
        <p:spPr>
          <a:xfrm>
            <a:off x="8325917" y="3883660"/>
            <a:ext cx="3088538" cy="445516"/>
          </a:xfrm>
          <a:prstGeom prst="rect">
            <a:avLst/>
          </a:prstGeom>
          <a:noFill/>
          <a:ln/>
        </p:spPr>
        <p:txBody>
          <a:bodyPr wrap="square" lIns="0" tIns="0" rIns="0" bIns="0" rtlCol="0" anchor="t"/>
          <a:lstStyle/>
          <a:p>
            <a:pPr indent="0" marL="0">
              <a:buNone/>
            </a:pPr>
            <a:r>
              <a:rPr lang="en-US" sz="1400" b="1" dirty="0">
                <a:solidFill>
                  <a:srgbClr val="007D8C"/>
                </a:solidFill>
                <a:latin typeface="Inter" pitchFamily="34" charset="0"/>
                <a:ea typeface="Inter" pitchFamily="34" charset="-122"/>
                <a:cs typeface="Inter" pitchFamily="34" charset="-120"/>
              </a:rPr>
              <a:t>Exaggerates  </a:t>
            </a:r>
            <a:pPr indent="0" marL="0">
              <a:buNone/>
            </a:pPr>
            <a:r>
              <a:rPr lang="en-US" sz="1400" dirty="0">
                <a:solidFill>
                  <a:srgbClr val="2A323C"/>
                </a:solidFill>
                <a:latin typeface="Inter" pitchFamily="34" charset="0"/>
                <a:ea typeface="Inter" pitchFamily="34" charset="-122"/>
                <a:cs typeface="Inter" pitchFamily="34" charset="-120"/>
              </a:rPr>
              <a:t>Switch the plan after every turnover</a:t>
            </a:r>
            <a:endParaRPr lang="en-US" sz="1400" dirty="0"/>
          </a:p>
        </p:txBody>
      </p:sp>
      <p:sp>
        <p:nvSpPr>
          <p:cNvPr id="65" name="Text 63"/>
          <p:cNvSpPr txBox="1"/>
          <p:nvPr/>
        </p:nvSpPr>
        <p:spPr>
          <a:xfrm>
            <a:off x="8325917" y="4438904"/>
            <a:ext cx="3088538" cy="445516"/>
          </a:xfrm>
          <a:prstGeom prst="rect">
            <a:avLst/>
          </a:prstGeom>
          <a:noFill/>
          <a:ln/>
        </p:spPr>
        <p:txBody>
          <a:bodyPr wrap="square" lIns="0" tIns="0" rIns="0" bIns="0" rtlCol="0" anchor="t"/>
          <a:lstStyle/>
          <a:p>
            <a:pPr indent="0" marL="0">
              <a:buNone/>
            </a:pPr>
            <a:r>
              <a:rPr lang="en-US" sz="1400" b="1" dirty="0">
                <a:solidFill>
                  <a:srgbClr val="007D8C"/>
                </a:solidFill>
                <a:latin typeface="Inter" pitchFamily="34" charset="0"/>
                <a:ea typeface="Inter" pitchFamily="34" charset="-122"/>
                <a:cs typeface="Inter" pitchFamily="34" charset="-120"/>
              </a:rPr>
              <a:t>Count  </a:t>
            </a:r>
            <a:pPr indent="0" marL="0">
              <a:buNone/>
            </a:pPr>
            <a:r>
              <a:rPr lang="en-US" sz="1400" dirty="0">
                <a:solidFill>
                  <a:srgbClr val="2A323C"/>
                </a:solidFill>
                <a:latin typeface="Inter" pitchFamily="34" charset="0"/>
                <a:ea typeface="Inter" pitchFamily="34" charset="-122"/>
                <a:cs typeface="Inter" pitchFamily="34" charset="-120"/>
              </a:rPr>
              <a:t>Seconds to the first forward action</a:t>
            </a:r>
            <a:endParaRPr lang="en-US" sz="1400" dirty="0"/>
          </a:p>
        </p:txBody>
      </p:sp>
      <p:sp>
        <p:nvSpPr>
          <p:cNvPr id="66" name="Text 64"/>
          <p:cNvSpPr txBox="1"/>
          <p:nvPr/>
        </p:nvSpPr>
        <p:spPr>
          <a:xfrm>
            <a:off x="8325917" y="5074920"/>
            <a:ext cx="1143000" cy="256032"/>
          </a:xfrm>
          <a:prstGeom prst="roundRect">
            <a:avLst>
              <a:gd name="adj" fmla="val 50000"/>
            </a:avLst>
          </a:prstGeom>
          <a:solidFill>
            <a:srgbClr val="8A94A3"/>
          </a:solidFill>
          <a:ln/>
        </p:spPr>
        <p:txBody>
          <a:bodyPr wrap="square" lIns="0" tIns="0" rIns="0" bIns="0" rtlCol="0" anchor="ctr"/>
          <a:lstStyle/>
          <a:p>
            <a:pPr algn="ctr" indent="0" marL="0">
              <a:buNone/>
            </a:pPr>
            <a:r>
              <a:rPr lang="en-US" sz="1000" b="1" dirty="0">
                <a:solidFill>
                  <a:srgbClr val="FFFFFF"/>
                </a:solidFill>
                <a:latin typeface="Inter" pitchFamily="34" charset="0"/>
                <a:ea typeface="Inter" pitchFamily="34" charset="-122"/>
                <a:cs typeface="Inter" pitchFamily="34" charset="-120"/>
              </a:rPr>
              <a:t>Evidence C</a:t>
            </a:r>
            <a:endParaRPr lang="en-US" sz="1000" dirty="0"/>
          </a:p>
        </p:txBody>
      </p:sp>
      <p:sp>
        <p:nvSpPr>
          <p:cNvPr id="67" name="Shape 65"/>
          <p:cNvSpPr/>
          <p:nvPr/>
        </p:nvSpPr>
        <p:spPr>
          <a:xfrm>
            <a:off x="548640" y="5568696"/>
            <a:ext cx="11094415" cy="502920"/>
          </a:xfrm>
          <a:prstGeom prst="roundRect">
            <a:avLst>
              <a:gd name="adj" fmla="val 18182"/>
            </a:avLst>
          </a:prstGeom>
          <a:solidFill>
            <a:srgbClr val="F2F5F8"/>
          </a:solidFill>
          <a:ln/>
        </p:spPr>
      </p:sp>
      <p:sp>
        <p:nvSpPr>
          <p:cNvPr id="68" name="Text 66"/>
          <p:cNvSpPr txBox="1"/>
          <p:nvPr/>
        </p:nvSpPr>
        <p:spPr>
          <a:xfrm>
            <a:off x="777240" y="5568696"/>
            <a:ext cx="10637215" cy="502920"/>
          </a:xfrm>
          <a:prstGeom prst="rect">
            <a:avLst/>
          </a:prstGeom>
          <a:noFill/>
          <a:ln/>
        </p:spPr>
        <p:txBody>
          <a:bodyPr wrap="square" lIns="0" tIns="0" rIns="0" bIns="0" rtlCol="0" anchor="ctr"/>
          <a:lstStyle/>
          <a:p>
            <a:pPr indent="0" marL="0">
              <a:buNone/>
            </a:pPr>
            <a:r>
              <a:rPr lang="en-US" sz="1200" dirty="0">
                <a:solidFill>
                  <a:srgbClr val="263D57"/>
                </a:solidFill>
                <a:latin typeface="Inter" pitchFamily="34" charset="0"/>
                <a:ea typeface="Inter" pitchFamily="34" charset="-122"/>
                <a:cs typeface="Inter" pitchFamily="34" charset="-120"/>
              </a:rPr>
              <a:t>Every card: base drill · one change · one-sentence mechanism · which profile · what to count · evidence A (football study), B (other sport) or C (coaching logic). Target: 15–20 cards by Fri 13 Nov.</a:t>
            </a:r>
            <a:endParaRPr lang="en-US" sz="1200" dirty="0"/>
          </a:p>
        </p:txBody>
      </p:sp>
      <p:sp>
        <p:nvSpPr>
          <p:cNvPr id="25" name="Slide Number Placeholder 0"/>
          <p:cNvSpPr>
            <a:spLocks noGrp="1"/>
          </p:cNvSpPr>
          <p:nvPr>
            <p:ph type="sldNum" sz="quarter" idx="4294967295"/>
          </p:nvPr>
        </p:nvSpPr>
        <p:spPr>
          <a:xfrm>
            <a:off x="10774375"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Inter"/>
                <a:ea typeface="Inter"/>
                <a:cs typeface="Inter"/>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3" type="body" hasCustomPrompt="1"/>
          </p:nvPr>
        </p:nvSpPr>
        <p:spPr>
          <a:xfrm>
            <a:off x="548640" y="402336"/>
            <a:ext cx="8229600" cy="274320"/>
          </a:xfrm>
          <a:prstGeom prst="rect">
            <a:avLst/>
          </a:prstGeom>
          <a:noFill/>
          <a:ln/>
        </p:spPr>
        <p:txBody>
          <a:bodyPr wrap="square" lIns="0" tIns="0" rIns="0" bIns="0" rtlCol="0" anchor="t"/>
          <a:lstStyle/>
          <a:p>
            <a:pPr algn="l" indent="0" marL="0">
              <a:buNone/>
            </a:pPr>
            <a:r>
              <a:rPr lang="en-US" sz="1200" b="1" spc="200" kern="0" dirty="0">
                <a:solidFill>
                  <a:srgbClr val="41C5C5"/>
                </a:solidFill>
                <a:latin typeface="Inter" pitchFamily="34" charset="0"/>
                <a:ea typeface="Inter" pitchFamily="34" charset="-122"/>
                <a:cs typeface="Inter" pitchFamily="34" charset="-120"/>
              </a:rPr>
              <a:t>AI WORKFLOW</a:t>
            </a:r>
            <a:endParaRPr lang="en-US" sz="1200" dirty="0"/>
          </a:p>
        </p:txBody>
      </p:sp>
      <p:sp>
        <p:nvSpPr>
          <p:cNvPr id="3" name="Text 2"/>
          <p:cNvSpPr/>
          <p:nvPr>
            <p:ph idx="104" type="title" hasCustomPrompt="1"/>
          </p:nvPr>
        </p:nvSpPr>
        <p:spPr>
          <a:xfrm>
            <a:off x="548640" y="731520"/>
            <a:ext cx="9509760" cy="713232"/>
          </a:xfrm>
          <a:prstGeom prst="rect">
            <a:avLst/>
          </a:prstGeom>
          <a:noFill/>
          <a:ln/>
        </p:spPr>
        <p:txBody>
          <a:bodyPr wrap="square" lIns="0" tIns="0" rIns="0" bIns="0" rtlCol="0" anchor="t"/>
          <a:lstStyle/>
          <a:p>
            <a:pPr algn="l" indent="0" marL="0">
              <a:buNone/>
            </a:pPr>
            <a:r>
              <a:rPr lang="en-US" sz="2600" dirty="0">
                <a:solidFill>
                  <a:srgbClr val="263D57"/>
                </a:solidFill>
                <a:latin typeface="Poppins SemiBold" pitchFamily="34" charset="0"/>
                <a:ea typeface="Poppins SemiBold" pitchFamily="34" charset="-122"/>
                <a:cs typeface="Poppins SemiBold" pitchFamily="34" charset="-120"/>
              </a:rPr>
              <a:t>From card to visual in under 30 minutes</a:t>
            </a:r>
            <a:endParaRPr lang="en-US" sz="2600" dirty="0"/>
          </a:p>
        </p:txBody>
      </p:sp>
      <p:sp>
        <p:nvSpPr>
          <p:cNvPr id="4" name="Step Card spec"/>
          <p:cNvSpPr/>
          <p:nvPr/>
        </p:nvSpPr>
        <p:spPr>
          <a:xfrm>
            <a:off x="548640" y="1691640"/>
            <a:ext cx="1955536" cy="2514600"/>
          </a:xfrm>
          <a:prstGeom prst="roundRect">
            <a:avLst>
              <a:gd name="adj" fmla="val 7482"/>
            </a:avLst>
          </a:prstGeom>
          <a:solidFill>
            <a:srgbClr val="F2F5F8"/>
          </a:solidFill>
          <a:ln w="9525">
            <a:solidFill>
              <a:srgbClr val="E2E8F0"/>
            </a:solidFill>
            <a:prstDash val="solid"/>
          </a:ln>
        </p:spPr>
      </p:sp>
      <p:sp>
        <p:nvSpPr>
          <p:cNvPr id="5" name="Shape 3"/>
          <p:cNvSpPr/>
          <p:nvPr/>
        </p:nvSpPr>
        <p:spPr>
          <a:xfrm>
            <a:off x="749808" y="1892808"/>
            <a:ext cx="475488" cy="475488"/>
          </a:xfrm>
          <a:prstGeom prst="roundRect">
            <a:avLst>
              <a:gd name="adj" fmla="val 23077"/>
            </a:avLst>
          </a:prstGeom>
          <a:solidFill>
            <a:srgbClr val="E2F3F1"/>
          </a:solidFill>
          <a:ln/>
        </p:spPr>
      </p:sp>
      <p:pic>
        <p:nvPicPr>
          <p:cNvPr id="6" name="Image 0" descr="preencoded.png">    </p:cNvPr>
          <p:cNvPicPr>
            <a:picLocks noChangeAspect="1"/>
          </p:cNvPicPr>
          <p:nvPr/>
        </p:nvPicPr>
        <p:blipFill>
          <a:blip r:embed="rId1"/>
          <a:stretch>
            <a:fillRect/>
          </a:stretch>
        </p:blipFill>
        <p:spPr>
          <a:xfrm>
            <a:off x="854415" y="1997415"/>
            <a:ext cx="266273" cy="266273"/>
          </a:xfrm>
          <a:prstGeom prst="rect">
            <a:avLst/>
          </a:prstGeom>
        </p:spPr>
      </p:pic>
      <p:sp>
        <p:nvSpPr>
          <p:cNvPr id="7" name="Text 4"/>
          <p:cNvSpPr txBox="1"/>
          <p:nvPr/>
        </p:nvSpPr>
        <p:spPr>
          <a:xfrm>
            <a:off x="2001256" y="1892808"/>
            <a:ext cx="320040" cy="320040"/>
          </a:xfrm>
          <a:prstGeom prst="rect">
            <a:avLst/>
          </a:prstGeom>
          <a:noFill/>
          <a:ln/>
        </p:spPr>
        <p:txBody>
          <a:bodyPr wrap="square" lIns="0" tIns="0" rIns="0" bIns="0" rtlCol="0" anchor="t"/>
          <a:lstStyle/>
          <a:p>
            <a:pPr algn="r" indent="0" marL="0">
              <a:buNone/>
            </a:pPr>
            <a:r>
              <a:rPr lang="en-US" sz="1400" b="1" dirty="0">
                <a:solidFill>
                  <a:srgbClr val="8A94A3"/>
                </a:solidFill>
                <a:latin typeface="Poppins SemiBold" pitchFamily="34" charset="0"/>
                <a:ea typeface="Poppins SemiBold" pitchFamily="34" charset="-122"/>
                <a:cs typeface="Poppins SemiBold" pitchFamily="34" charset="-120"/>
              </a:rPr>
              <a:t>1</a:t>
            </a:r>
            <a:endParaRPr lang="en-US" sz="1400" dirty="0"/>
          </a:p>
        </p:txBody>
      </p:sp>
      <p:sp>
        <p:nvSpPr>
          <p:cNvPr id="8" name="Text 5"/>
          <p:cNvSpPr txBox="1"/>
          <p:nvPr/>
        </p:nvSpPr>
        <p:spPr>
          <a:xfrm>
            <a:off x="749808" y="2514600"/>
            <a:ext cx="1553200" cy="365760"/>
          </a:xfrm>
          <a:prstGeom prst="rect">
            <a:avLst/>
          </a:prstGeom>
          <a:noFill/>
          <a:ln/>
        </p:spPr>
        <p:txBody>
          <a:bodyPr wrap="square" lIns="0" tIns="0" rIns="0" bIns="0" rtlCol="0" anchor="t"/>
          <a:lstStyle/>
          <a:p>
            <a:pPr indent="0" marL="0">
              <a:buNone/>
            </a:pPr>
            <a:r>
              <a:rPr lang="en-US" sz="1600" dirty="0">
                <a:solidFill>
                  <a:srgbClr val="263D57"/>
                </a:solidFill>
                <a:latin typeface="Poppins SemiBold" pitchFamily="34" charset="0"/>
                <a:ea typeface="Poppins SemiBold" pitchFamily="34" charset="-122"/>
                <a:cs typeface="Poppins SemiBold" pitchFamily="34" charset="-120"/>
              </a:rPr>
              <a:t>Card spec</a:t>
            </a:r>
            <a:endParaRPr lang="en-US" sz="1600" dirty="0"/>
          </a:p>
        </p:txBody>
      </p:sp>
      <p:sp>
        <p:nvSpPr>
          <p:cNvPr id="9" name="Text 6"/>
          <p:cNvSpPr txBox="1"/>
          <p:nvPr/>
        </p:nvSpPr>
        <p:spPr>
          <a:xfrm>
            <a:off x="749808" y="2907792"/>
            <a:ext cx="1589776" cy="1188720"/>
          </a:xfrm>
          <a:prstGeom prst="rect">
            <a:avLst/>
          </a:prstGeom>
          <a:noFill/>
          <a:ln/>
        </p:spPr>
        <p:txBody>
          <a:bodyPr wrap="square" lIns="0" tIns="0" rIns="0" bIns="0" rtlCol="0" anchor="t"/>
          <a:lstStyle/>
          <a:p>
            <a:pPr indent="0" marL="0">
              <a:buNone/>
            </a:pPr>
            <a:r>
              <a:rPr lang="en-US" sz="1400" dirty="0">
                <a:solidFill>
                  <a:srgbClr val="5A6573"/>
                </a:solidFill>
                <a:latin typeface="Inter" pitchFamily="34" charset="0"/>
                <a:ea typeface="Inter" pitchFamily="34" charset="-122"/>
                <a:cs typeface="Inter" pitchFamily="34" charset="-120"/>
              </a:rPr>
              <a:t>Structured fields: pitch size, players, the one change, what to count</a:t>
            </a:r>
            <a:endParaRPr lang="en-US" sz="1400" dirty="0"/>
          </a:p>
        </p:txBody>
      </p:sp>
      <p:sp>
        <p:nvSpPr>
          <p:cNvPr id="10" name="Shape 7"/>
          <p:cNvSpPr/>
          <p:nvPr/>
        </p:nvSpPr>
        <p:spPr>
          <a:xfrm>
            <a:off x="2559040" y="2830068"/>
            <a:ext cx="219456" cy="237744"/>
          </a:xfrm>
          <a:prstGeom prst="rightArrow">
            <a:avLst/>
          </a:prstGeom>
          <a:solidFill>
            <a:srgbClr val="41C5C5"/>
          </a:solidFill>
          <a:ln/>
        </p:spPr>
      </p:sp>
      <p:sp>
        <p:nvSpPr>
          <p:cNvPr id="11" name="Step Diagram"/>
          <p:cNvSpPr/>
          <p:nvPr/>
        </p:nvSpPr>
        <p:spPr>
          <a:xfrm>
            <a:off x="2833360" y="1691640"/>
            <a:ext cx="1955536" cy="2514600"/>
          </a:xfrm>
          <a:prstGeom prst="roundRect">
            <a:avLst>
              <a:gd name="adj" fmla="val 7482"/>
            </a:avLst>
          </a:prstGeom>
          <a:solidFill>
            <a:srgbClr val="F2F5F8"/>
          </a:solidFill>
          <a:ln w="9525">
            <a:solidFill>
              <a:srgbClr val="E2E8F0"/>
            </a:solidFill>
            <a:prstDash val="solid"/>
          </a:ln>
        </p:spPr>
      </p:sp>
      <p:sp>
        <p:nvSpPr>
          <p:cNvPr id="12" name="Shape 9"/>
          <p:cNvSpPr/>
          <p:nvPr/>
        </p:nvSpPr>
        <p:spPr>
          <a:xfrm>
            <a:off x="3034528" y="1892808"/>
            <a:ext cx="475488" cy="475488"/>
          </a:xfrm>
          <a:prstGeom prst="roundRect">
            <a:avLst>
              <a:gd name="adj" fmla="val 23077"/>
            </a:avLst>
          </a:prstGeom>
          <a:solidFill>
            <a:srgbClr val="E2F3F1"/>
          </a:solidFill>
          <a:ln/>
        </p:spPr>
      </p:sp>
      <p:pic>
        <p:nvPicPr>
          <p:cNvPr id="13" name="Image 1" descr="preencoded.png">    </p:cNvPr>
          <p:cNvPicPr>
            <a:picLocks noChangeAspect="1"/>
          </p:cNvPicPr>
          <p:nvPr/>
        </p:nvPicPr>
        <p:blipFill>
          <a:blip r:embed="rId2"/>
          <a:stretch>
            <a:fillRect/>
          </a:stretch>
        </p:blipFill>
        <p:spPr>
          <a:xfrm>
            <a:off x="3139135" y="1997415"/>
            <a:ext cx="266273" cy="266273"/>
          </a:xfrm>
          <a:prstGeom prst="rect">
            <a:avLst/>
          </a:prstGeom>
        </p:spPr>
      </p:pic>
      <p:sp>
        <p:nvSpPr>
          <p:cNvPr id="14" name="Text 10"/>
          <p:cNvSpPr txBox="1"/>
          <p:nvPr/>
        </p:nvSpPr>
        <p:spPr>
          <a:xfrm>
            <a:off x="4285976" y="1892808"/>
            <a:ext cx="320040" cy="320040"/>
          </a:xfrm>
          <a:prstGeom prst="rect">
            <a:avLst/>
          </a:prstGeom>
          <a:noFill/>
          <a:ln/>
        </p:spPr>
        <p:txBody>
          <a:bodyPr wrap="square" lIns="0" tIns="0" rIns="0" bIns="0" rtlCol="0" anchor="t"/>
          <a:lstStyle/>
          <a:p>
            <a:pPr algn="r" indent="0" marL="0">
              <a:buNone/>
            </a:pPr>
            <a:r>
              <a:rPr lang="en-US" sz="1400" b="1" dirty="0">
                <a:solidFill>
                  <a:srgbClr val="8A94A3"/>
                </a:solidFill>
                <a:latin typeface="Poppins SemiBold" pitchFamily="34" charset="0"/>
                <a:ea typeface="Poppins SemiBold" pitchFamily="34" charset="-122"/>
                <a:cs typeface="Poppins SemiBold" pitchFamily="34" charset="-120"/>
              </a:rPr>
              <a:t>2</a:t>
            </a:r>
            <a:endParaRPr lang="en-US" sz="1400" dirty="0"/>
          </a:p>
        </p:txBody>
      </p:sp>
      <p:sp>
        <p:nvSpPr>
          <p:cNvPr id="15" name="Text 11"/>
          <p:cNvSpPr txBox="1"/>
          <p:nvPr/>
        </p:nvSpPr>
        <p:spPr>
          <a:xfrm>
            <a:off x="3034528" y="2514600"/>
            <a:ext cx="1553200" cy="365760"/>
          </a:xfrm>
          <a:prstGeom prst="rect">
            <a:avLst/>
          </a:prstGeom>
          <a:noFill/>
          <a:ln/>
        </p:spPr>
        <p:txBody>
          <a:bodyPr wrap="square" lIns="0" tIns="0" rIns="0" bIns="0" rtlCol="0" anchor="t"/>
          <a:lstStyle/>
          <a:p>
            <a:pPr indent="0" marL="0">
              <a:buNone/>
            </a:pPr>
            <a:r>
              <a:rPr lang="en-US" sz="1600" dirty="0">
                <a:solidFill>
                  <a:srgbClr val="263D57"/>
                </a:solidFill>
                <a:latin typeface="Poppins SemiBold" pitchFamily="34" charset="0"/>
                <a:ea typeface="Poppins SemiBold" pitchFamily="34" charset="-122"/>
                <a:cs typeface="Poppins SemiBold" pitchFamily="34" charset="-120"/>
              </a:rPr>
              <a:t>Diagram</a:t>
            </a:r>
            <a:endParaRPr lang="en-US" sz="1600" dirty="0"/>
          </a:p>
        </p:txBody>
      </p:sp>
      <p:sp>
        <p:nvSpPr>
          <p:cNvPr id="16" name="Text 12"/>
          <p:cNvSpPr txBox="1"/>
          <p:nvPr/>
        </p:nvSpPr>
        <p:spPr>
          <a:xfrm>
            <a:off x="3034528" y="2907792"/>
            <a:ext cx="1589776" cy="1188720"/>
          </a:xfrm>
          <a:prstGeom prst="rect">
            <a:avLst/>
          </a:prstGeom>
          <a:noFill/>
          <a:ln/>
        </p:spPr>
        <p:txBody>
          <a:bodyPr wrap="square" lIns="0" tIns="0" rIns="0" bIns="0" rtlCol="0" anchor="t"/>
          <a:lstStyle/>
          <a:p>
            <a:pPr indent="0" marL="0">
              <a:buNone/>
            </a:pPr>
            <a:r>
              <a:rPr lang="en-US" sz="1400" dirty="0">
                <a:solidFill>
                  <a:srgbClr val="5A6573"/>
                </a:solidFill>
                <a:latin typeface="Inter" pitchFamily="34" charset="0"/>
                <a:ea typeface="Inter" pitchFamily="34" charset="-122"/>
                <a:cs typeface="Inter" pitchFamily="34" charset="-120"/>
              </a:rPr>
              <a:t>Generated top-down pitch with the change in one colour</a:t>
            </a:r>
            <a:endParaRPr lang="en-US" sz="1400" dirty="0"/>
          </a:p>
        </p:txBody>
      </p:sp>
      <p:sp>
        <p:nvSpPr>
          <p:cNvPr id="17" name="Shape 13"/>
          <p:cNvSpPr/>
          <p:nvPr/>
        </p:nvSpPr>
        <p:spPr>
          <a:xfrm>
            <a:off x="4843760" y="2830068"/>
            <a:ext cx="219456" cy="237744"/>
          </a:xfrm>
          <a:prstGeom prst="rightArrow">
            <a:avLst/>
          </a:prstGeom>
          <a:solidFill>
            <a:srgbClr val="41C5C5"/>
          </a:solidFill>
          <a:ln/>
        </p:spPr>
      </p:sp>
      <p:sp>
        <p:nvSpPr>
          <p:cNvPr id="18" name="Step Animation"/>
          <p:cNvSpPr/>
          <p:nvPr/>
        </p:nvSpPr>
        <p:spPr>
          <a:xfrm>
            <a:off x="5118080" y="1691640"/>
            <a:ext cx="1955536" cy="2514600"/>
          </a:xfrm>
          <a:prstGeom prst="roundRect">
            <a:avLst>
              <a:gd name="adj" fmla="val 7482"/>
            </a:avLst>
          </a:prstGeom>
          <a:solidFill>
            <a:srgbClr val="F2F5F8"/>
          </a:solidFill>
          <a:ln w="9525">
            <a:solidFill>
              <a:srgbClr val="E2E8F0"/>
            </a:solidFill>
            <a:prstDash val="solid"/>
          </a:ln>
        </p:spPr>
      </p:sp>
      <p:sp>
        <p:nvSpPr>
          <p:cNvPr id="19" name="Shape 15"/>
          <p:cNvSpPr/>
          <p:nvPr/>
        </p:nvSpPr>
        <p:spPr>
          <a:xfrm>
            <a:off x="5319248" y="1892808"/>
            <a:ext cx="475488" cy="475488"/>
          </a:xfrm>
          <a:prstGeom prst="roundRect">
            <a:avLst>
              <a:gd name="adj" fmla="val 23077"/>
            </a:avLst>
          </a:prstGeom>
          <a:solidFill>
            <a:srgbClr val="E2F3F1"/>
          </a:solidFill>
          <a:ln/>
        </p:spPr>
      </p:sp>
      <p:pic>
        <p:nvPicPr>
          <p:cNvPr id="20" name="Image 2" descr="preencoded.png">    </p:cNvPr>
          <p:cNvPicPr>
            <a:picLocks noChangeAspect="1"/>
          </p:cNvPicPr>
          <p:nvPr/>
        </p:nvPicPr>
        <p:blipFill>
          <a:blip r:embed="rId3"/>
          <a:stretch>
            <a:fillRect/>
          </a:stretch>
        </p:blipFill>
        <p:spPr>
          <a:xfrm>
            <a:off x="5423855" y="1997415"/>
            <a:ext cx="266273" cy="266273"/>
          </a:xfrm>
          <a:prstGeom prst="rect">
            <a:avLst/>
          </a:prstGeom>
        </p:spPr>
      </p:pic>
      <p:sp>
        <p:nvSpPr>
          <p:cNvPr id="21" name="Text 16"/>
          <p:cNvSpPr txBox="1"/>
          <p:nvPr/>
        </p:nvSpPr>
        <p:spPr>
          <a:xfrm>
            <a:off x="6570696" y="1892808"/>
            <a:ext cx="320040" cy="320040"/>
          </a:xfrm>
          <a:prstGeom prst="rect">
            <a:avLst/>
          </a:prstGeom>
          <a:noFill/>
          <a:ln/>
        </p:spPr>
        <p:txBody>
          <a:bodyPr wrap="square" lIns="0" tIns="0" rIns="0" bIns="0" rtlCol="0" anchor="t"/>
          <a:lstStyle/>
          <a:p>
            <a:pPr algn="r" indent="0" marL="0">
              <a:buNone/>
            </a:pPr>
            <a:r>
              <a:rPr lang="en-US" sz="1400" b="1" dirty="0">
                <a:solidFill>
                  <a:srgbClr val="8A94A3"/>
                </a:solidFill>
                <a:latin typeface="Poppins SemiBold" pitchFamily="34" charset="0"/>
                <a:ea typeface="Poppins SemiBold" pitchFamily="34" charset="-122"/>
                <a:cs typeface="Poppins SemiBold" pitchFamily="34" charset="-120"/>
              </a:rPr>
              <a:t>3</a:t>
            </a:r>
            <a:endParaRPr lang="en-US" sz="1400" dirty="0"/>
          </a:p>
        </p:txBody>
      </p:sp>
      <p:sp>
        <p:nvSpPr>
          <p:cNvPr id="22" name="Text 17"/>
          <p:cNvSpPr txBox="1"/>
          <p:nvPr/>
        </p:nvSpPr>
        <p:spPr>
          <a:xfrm>
            <a:off x="5319248" y="2514600"/>
            <a:ext cx="1553200" cy="365760"/>
          </a:xfrm>
          <a:prstGeom prst="rect">
            <a:avLst/>
          </a:prstGeom>
          <a:noFill/>
          <a:ln/>
        </p:spPr>
        <p:txBody>
          <a:bodyPr wrap="square" lIns="0" tIns="0" rIns="0" bIns="0" rtlCol="0" anchor="t"/>
          <a:lstStyle/>
          <a:p>
            <a:pPr indent="0" marL="0">
              <a:buNone/>
            </a:pPr>
            <a:r>
              <a:rPr lang="en-US" sz="1600" dirty="0">
                <a:solidFill>
                  <a:srgbClr val="263D57"/>
                </a:solidFill>
                <a:latin typeface="Poppins SemiBold" pitchFamily="34" charset="0"/>
                <a:ea typeface="Poppins SemiBold" pitchFamily="34" charset="-122"/>
                <a:cs typeface="Poppins SemiBold" pitchFamily="34" charset="-120"/>
              </a:rPr>
              <a:t>Animation</a:t>
            </a:r>
            <a:endParaRPr lang="en-US" sz="1600" dirty="0"/>
          </a:p>
        </p:txBody>
      </p:sp>
      <p:sp>
        <p:nvSpPr>
          <p:cNvPr id="23" name="Text 18"/>
          <p:cNvSpPr txBox="1"/>
          <p:nvPr/>
        </p:nvSpPr>
        <p:spPr>
          <a:xfrm>
            <a:off x="5319248" y="2907792"/>
            <a:ext cx="1589776" cy="1188720"/>
          </a:xfrm>
          <a:prstGeom prst="rect">
            <a:avLst/>
          </a:prstGeom>
          <a:noFill/>
          <a:ln/>
        </p:spPr>
        <p:txBody>
          <a:bodyPr wrap="square" lIns="0" tIns="0" rIns="0" bIns="0" rtlCol="0" anchor="t"/>
          <a:lstStyle/>
          <a:p>
            <a:pPr indent="0" marL="0">
              <a:buNone/>
            </a:pPr>
            <a:r>
              <a:rPr lang="en-US" sz="1400" dirty="0">
                <a:solidFill>
                  <a:srgbClr val="5A6573"/>
                </a:solidFill>
                <a:latin typeface="Inter" pitchFamily="34" charset="0"/>
                <a:ea typeface="Inter" pitchFamily="34" charset="-122"/>
                <a:cs typeface="Inter" pitchFamily="34" charset="-120"/>
              </a:rPr>
              <a:t>An 8–12 second loop of the change, from the same spec</a:t>
            </a:r>
            <a:endParaRPr lang="en-US" sz="1400" dirty="0"/>
          </a:p>
        </p:txBody>
      </p:sp>
      <p:sp>
        <p:nvSpPr>
          <p:cNvPr id="24" name="Shape 19"/>
          <p:cNvSpPr/>
          <p:nvPr/>
        </p:nvSpPr>
        <p:spPr>
          <a:xfrm>
            <a:off x="7128480" y="2830068"/>
            <a:ext cx="219456" cy="237744"/>
          </a:xfrm>
          <a:prstGeom prst="rightArrow">
            <a:avLst/>
          </a:prstGeom>
          <a:solidFill>
            <a:srgbClr val="41C5C5"/>
          </a:solidFill>
          <a:ln/>
        </p:spPr>
      </p:sp>
      <p:sp>
        <p:nvSpPr>
          <p:cNvPr id="25" name="Step Check"/>
          <p:cNvSpPr/>
          <p:nvPr/>
        </p:nvSpPr>
        <p:spPr>
          <a:xfrm>
            <a:off x="7402800" y="1691640"/>
            <a:ext cx="1955536" cy="2514600"/>
          </a:xfrm>
          <a:prstGeom prst="roundRect">
            <a:avLst>
              <a:gd name="adj" fmla="val 7482"/>
            </a:avLst>
          </a:prstGeom>
          <a:solidFill>
            <a:srgbClr val="F2F5F8"/>
          </a:solidFill>
          <a:ln w="9525">
            <a:solidFill>
              <a:srgbClr val="E2E8F0"/>
            </a:solidFill>
            <a:prstDash val="solid"/>
          </a:ln>
        </p:spPr>
      </p:sp>
      <p:sp>
        <p:nvSpPr>
          <p:cNvPr id="26" name="Shape 21"/>
          <p:cNvSpPr/>
          <p:nvPr/>
        </p:nvSpPr>
        <p:spPr>
          <a:xfrm>
            <a:off x="7603968" y="1892808"/>
            <a:ext cx="475488" cy="475488"/>
          </a:xfrm>
          <a:prstGeom prst="roundRect">
            <a:avLst>
              <a:gd name="adj" fmla="val 23077"/>
            </a:avLst>
          </a:prstGeom>
          <a:solidFill>
            <a:srgbClr val="E2F3F1"/>
          </a:solidFill>
          <a:ln/>
        </p:spPr>
      </p:sp>
      <p:pic>
        <p:nvPicPr>
          <p:cNvPr id="27" name="Image 3" descr="preencoded.png">    </p:cNvPr>
          <p:cNvPicPr>
            <a:picLocks noChangeAspect="1"/>
          </p:cNvPicPr>
          <p:nvPr/>
        </p:nvPicPr>
        <p:blipFill>
          <a:blip r:embed="rId4"/>
          <a:stretch>
            <a:fillRect/>
          </a:stretch>
        </p:blipFill>
        <p:spPr>
          <a:xfrm>
            <a:off x="7708575" y="1997415"/>
            <a:ext cx="266273" cy="266273"/>
          </a:xfrm>
          <a:prstGeom prst="rect">
            <a:avLst/>
          </a:prstGeom>
        </p:spPr>
      </p:pic>
      <p:sp>
        <p:nvSpPr>
          <p:cNvPr id="28" name="Text 22"/>
          <p:cNvSpPr txBox="1"/>
          <p:nvPr/>
        </p:nvSpPr>
        <p:spPr>
          <a:xfrm>
            <a:off x="8855415" y="1892808"/>
            <a:ext cx="320040" cy="320040"/>
          </a:xfrm>
          <a:prstGeom prst="rect">
            <a:avLst/>
          </a:prstGeom>
          <a:noFill/>
          <a:ln/>
        </p:spPr>
        <p:txBody>
          <a:bodyPr wrap="square" lIns="0" tIns="0" rIns="0" bIns="0" rtlCol="0" anchor="t"/>
          <a:lstStyle/>
          <a:p>
            <a:pPr algn="r" indent="0" marL="0">
              <a:buNone/>
            </a:pPr>
            <a:r>
              <a:rPr lang="en-US" sz="1400" b="1" dirty="0">
                <a:solidFill>
                  <a:srgbClr val="8A94A3"/>
                </a:solidFill>
                <a:latin typeface="Poppins SemiBold" pitchFamily="34" charset="0"/>
                <a:ea typeface="Poppins SemiBold" pitchFamily="34" charset="-122"/>
                <a:cs typeface="Poppins SemiBold" pitchFamily="34" charset="-120"/>
              </a:rPr>
              <a:t>4</a:t>
            </a:r>
            <a:endParaRPr lang="en-US" sz="1400" dirty="0"/>
          </a:p>
        </p:txBody>
      </p:sp>
      <p:sp>
        <p:nvSpPr>
          <p:cNvPr id="29" name="Text 23"/>
          <p:cNvSpPr txBox="1"/>
          <p:nvPr/>
        </p:nvSpPr>
        <p:spPr>
          <a:xfrm>
            <a:off x="7603968" y="2514600"/>
            <a:ext cx="1553200" cy="365760"/>
          </a:xfrm>
          <a:prstGeom prst="rect">
            <a:avLst/>
          </a:prstGeom>
          <a:noFill/>
          <a:ln/>
        </p:spPr>
        <p:txBody>
          <a:bodyPr wrap="square" lIns="0" tIns="0" rIns="0" bIns="0" rtlCol="0" anchor="t"/>
          <a:lstStyle/>
          <a:p>
            <a:pPr indent="0" marL="0">
              <a:buNone/>
            </a:pPr>
            <a:r>
              <a:rPr lang="en-US" sz="1600" dirty="0">
                <a:solidFill>
                  <a:srgbClr val="263D57"/>
                </a:solidFill>
                <a:latin typeface="Poppins SemiBold" pitchFamily="34" charset="0"/>
                <a:ea typeface="Poppins SemiBold" pitchFamily="34" charset="-122"/>
                <a:cs typeface="Poppins SemiBold" pitchFamily="34" charset="-120"/>
              </a:rPr>
              <a:t>Check</a:t>
            </a:r>
            <a:endParaRPr lang="en-US" sz="1600" dirty="0"/>
          </a:p>
        </p:txBody>
      </p:sp>
      <p:sp>
        <p:nvSpPr>
          <p:cNvPr id="30" name="Text 24"/>
          <p:cNvSpPr txBox="1"/>
          <p:nvPr/>
        </p:nvSpPr>
        <p:spPr>
          <a:xfrm>
            <a:off x="7603968" y="2907792"/>
            <a:ext cx="1589776" cy="1188720"/>
          </a:xfrm>
          <a:prstGeom prst="rect">
            <a:avLst/>
          </a:prstGeom>
          <a:noFill/>
          <a:ln/>
        </p:spPr>
        <p:txBody>
          <a:bodyPr wrap="square" lIns="0" tIns="0" rIns="0" bIns="0" rtlCol="0" anchor="t"/>
          <a:lstStyle/>
          <a:p>
            <a:pPr indent="0" marL="0">
              <a:buNone/>
            </a:pPr>
            <a:r>
              <a:rPr lang="en-US" sz="1400" dirty="0">
                <a:solidFill>
                  <a:srgbClr val="5A6573"/>
                </a:solidFill>
                <a:latin typeface="Inter" pitchFamily="34" charset="0"/>
                <a:ea typeface="Inter" pitchFamily="34" charset="-122"/>
                <a:cs typeface="Inter" pitchFamily="34" charset="-120"/>
              </a:rPr>
              <a:t>A coach and BrainsFirst approve the wording and the claim</a:t>
            </a:r>
            <a:endParaRPr lang="en-US" sz="1400" dirty="0"/>
          </a:p>
        </p:txBody>
      </p:sp>
      <p:sp>
        <p:nvSpPr>
          <p:cNvPr id="31" name="Shape 25"/>
          <p:cNvSpPr/>
          <p:nvPr/>
        </p:nvSpPr>
        <p:spPr>
          <a:xfrm>
            <a:off x="9413199" y="2830068"/>
            <a:ext cx="219456" cy="237744"/>
          </a:xfrm>
          <a:prstGeom prst="rightArrow">
            <a:avLst/>
          </a:prstGeom>
          <a:solidFill>
            <a:srgbClr val="41C5C5"/>
          </a:solidFill>
          <a:ln/>
        </p:spPr>
      </p:sp>
      <p:sp>
        <p:nvSpPr>
          <p:cNvPr id="32" name="Step Library"/>
          <p:cNvSpPr/>
          <p:nvPr/>
        </p:nvSpPr>
        <p:spPr>
          <a:xfrm>
            <a:off x="9687519" y="1691640"/>
            <a:ext cx="1955536" cy="2514600"/>
          </a:xfrm>
          <a:prstGeom prst="roundRect">
            <a:avLst>
              <a:gd name="adj" fmla="val 7482"/>
            </a:avLst>
          </a:prstGeom>
          <a:solidFill>
            <a:srgbClr val="F2F5F8"/>
          </a:solidFill>
          <a:ln w="9525">
            <a:solidFill>
              <a:srgbClr val="E2E8F0"/>
            </a:solidFill>
            <a:prstDash val="solid"/>
          </a:ln>
        </p:spPr>
      </p:sp>
      <p:sp>
        <p:nvSpPr>
          <p:cNvPr id="33" name="Shape 27"/>
          <p:cNvSpPr/>
          <p:nvPr/>
        </p:nvSpPr>
        <p:spPr>
          <a:xfrm>
            <a:off x="9888687" y="1892808"/>
            <a:ext cx="475488" cy="475488"/>
          </a:xfrm>
          <a:prstGeom prst="roundRect">
            <a:avLst>
              <a:gd name="adj" fmla="val 23077"/>
            </a:avLst>
          </a:prstGeom>
          <a:solidFill>
            <a:srgbClr val="E2F3F1"/>
          </a:solidFill>
          <a:ln/>
        </p:spPr>
      </p:sp>
      <p:pic>
        <p:nvPicPr>
          <p:cNvPr id="34" name="Image 4" descr="preencoded.png">    </p:cNvPr>
          <p:cNvPicPr>
            <a:picLocks noChangeAspect="1"/>
          </p:cNvPicPr>
          <p:nvPr/>
        </p:nvPicPr>
        <p:blipFill>
          <a:blip r:embed="rId5"/>
          <a:stretch>
            <a:fillRect/>
          </a:stretch>
        </p:blipFill>
        <p:spPr>
          <a:xfrm>
            <a:off x="9993295" y="1997415"/>
            <a:ext cx="266273" cy="266273"/>
          </a:xfrm>
          <a:prstGeom prst="rect">
            <a:avLst/>
          </a:prstGeom>
        </p:spPr>
      </p:pic>
      <p:sp>
        <p:nvSpPr>
          <p:cNvPr id="35" name="Text 28"/>
          <p:cNvSpPr txBox="1"/>
          <p:nvPr/>
        </p:nvSpPr>
        <p:spPr>
          <a:xfrm>
            <a:off x="11140135" y="1892808"/>
            <a:ext cx="320040" cy="320040"/>
          </a:xfrm>
          <a:prstGeom prst="rect">
            <a:avLst/>
          </a:prstGeom>
          <a:noFill/>
          <a:ln/>
        </p:spPr>
        <p:txBody>
          <a:bodyPr wrap="square" lIns="0" tIns="0" rIns="0" bIns="0" rtlCol="0" anchor="t"/>
          <a:lstStyle/>
          <a:p>
            <a:pPr algn="r" indent="0" marL="0">
              <a:buNone/>
            </a:pPr>
            <a:r>
              <a:rPr lang="en-US" sz="1400" b="1" dirty="0">
                <a:solidFill>
                  <a:srgbClr val="8A94A3"/>
                </a:solidFill>
                <a:latin typeface="Poppins SemiBold" pitchFamily="34" charset="0"/>
                <a:ea typeface="Poppins SemiBold" pitchFamily="34" charset="-122"/>
                <a:cs typeface="Poppins SemiBold" pitchFamily="34" charset="-120"/>
              </a:rPr>
              <a:t>5</a:t>
            </a:r>
            <a:endParaRPr lang="en-US" sz="1400" dirty="0"/>
          </a:p>
        </p:txBody>
      </p:sp>
      <p:sp>
        <p:nvSpPr>
          <p:cNvPr id="36" name="Text 29"/>
          <p:cNvSpPr txBox="1"/>
          <p:nvPr/>
        </p:nvSpPr>
        <p:spPr>
          <a:xfrm>
            <a:off x="9888687" y="2514600"/>
            <a:ext cx="1553200" cy="365760"/>
          </a:xfrm>
          <a:prstGeom prst="rect">
            <a:avLst/>
          </a:prstGeom>
          <a:noFill/>
          <a:ln/>
        </p:spPr>
        <p:txBody>
          <a:bodyPr wrap="square" lIns="0" tIns="0" rIns="0" bIns="0" rtlCol="0" anchor="t"/>
          <a:lstStyle/>
          <a:p>
            <a:pPr indent="0" marL="0">
              <a:buNone/>
            </a:pPr>
            <a:r>
              <a:rPr lang="en-US" sz="1600" dirty="0">
                <a:solidFill>
                  <a:srgbClr val="263D57"/>
                </a:solidFill>
                <a:latin typeface="Poppins SemiBold" pitchFamily="34" charset="0"/>
                <a:ea typeface="Poppins SemiBold" pitchFamily="34" charset="-122"/>
                <a:cs typeface="Poppins SemiBold" pitchFamily="34" charset="-120"/>
              </a:rPr>
              <a:t>Library</a:t>
            </a:r>
            <a:endParaRPr lang="en-US" sz="1600" dirty="0"/>
          </a:p>
        </p:txBody>
      </p:sp>
      <p:sp>
        <p:nvSpPr>
          <p:cNvPr id="37" name="Text 30"/>
          <p:cNvSpPr txBox="1"/>
          <p:nvPr/>
        </p:nvSpPr>
        <p:spPr>
          <a:xfrm>
            <a:off x="9888687" y="2907792"/>
            <a:ext cx="1589776" cy="1188720"/>
          </a:xfrm>
          <a:prstGeom prst="rect">
            <a:avLst/>
          </a:prstGeom>
          <a:noFill/>
          <a:ln/>
        </p:spPr>
        <p:txBody>
          <a:bodyPr wrap="square" lIns="0" tIns="0" rIns="0" bIns="0" rtlCol="0" anchor="t"/>
          <a:lstStyle/>
          <a:p>
            <a:pPr indent="0" marL="0">
              <a:buNone/>
            </a:pPr>
            <a:r>
              <a:rPr lang="en-US" sz="1400" dirty="0">
                <a:solidFill>
                  <a:srgbClr val="5A6573"/>
                </a:solidFill>
                <a:latin typeface="Inter" pitchFamily="34" charset="0"/>
                <a:ea typeface="Inter" pitchFamily="34" charset="-122"/>
                <a:cs typeface="Inter" pitchFamily="34" charset="-120"/>
              </a:rPr>
              <a:t>Tagged by function, age group and base drill</a:t>
            </a:r>
            <a:endParaRPr lang="en-US" sz="1400" dirty="0"/>
          </a:p>
        </p:txBody>
      </p:sp>
      <p:sp>
        <p:nvSpPr>
          <p:cNvPr id="38" name="Shape 31"/>
          <p:cNvSpPr/>
          <p:nvPr/>
        </p:nvSpPr>
        <p:spPr>
          <a:xfrm>
            <a:off x="548640" y="4526280"/>
            <a:ext cx="5432908" cy="1463040"/>
          </a:xfrm>
          <a:prstGeom prst="roundRect">
            <a:avLst>
              <a:gd name="adj" fmla="val 7500"/>
            </a:avLst>
          </a:prstGeom>
          <a:solidFill>
            <a:srgbClr val="F2F5F8"/>
          </a:solidFill>
          <a:ln/>
        </p:spPr>
      </p:sp>
      <p:sp>
        <p:nvSpPr>
          <p:cNvPr id="39" name="Text 32"/>
          <p:cNvSpPr txBox="1"/>
          <p:nvPr/>
        </p:nvSpPr>
        <p:spPr>
          <a:xfrm>
            <a:off x="822960" y="4709160"/>
            <a:ext cx="4884268" cy="365760"/>
          </a:xfrm>
          <a:prstGeom prst="rect">
            <a:avLst/>
          </a:prstGeom>
          <a:noFill/>
          <a:ln/>
        </p:spPr>
        <p:txBody>
          <a:bodyPr wrap="square" lIns="0" tIns="0" rIns="0" bIns="0" rtlCol="0" anchor="t"/>
          <a:lstStyle/>
          <a:p>
            <a:pPr indent="0" marL="0">
              <a:buNone/>
            </a:pPr>
            <a:r>
              <a:rPr lang="en-US" sz="1600" dirty="0">
                <a:solidFill>
                  <a:srgbClr val="263D57"/>
                </a:solidFill>
                <a:latin typeface="Poppins SemiBold" pitchFamily="34" charset="0"/>
                <a:ea typeface="Poppins SemiBold" pitchFamily="34" charset="-122"/>
                <a:cs typeface="Poppins SemiBold" pitchFamily="34" charset="-120"/>
              </a:rPr>
              <a:t>Generate from the spec, not a free prompt</a:t>
            </a:r>
            <a:endParaRPr lang="en-US" sz="1600" dirty="0"/>
          </a:p>
        </p:txBody>
      </p:sp>
      <p:sp>
        <p:nvSpPr>
          <p:cNvPr id="40" name="Text 33"/>
          <p:cNvSpPr txBox="1"/>
          <p:nvPr/>
        </p:nvSpPr>
        <p:spPr>
          <a:xfrm>
            <a:off x="822960" y="5120640"/>
            <a:ext cx="4884268" cy="731520"/>
          </a:xfrm>
          <a:prstGeom prst="rect">
            <a:avLst/>
          </a:prstGeom>
          <a:noFill/>
          <a:ln/>
        </p:spPr>
        <p:txBody>
          <a:bodyPr wrap="square" lIns="0" tIns="0" rIns="0" bIns="0" rtlCol="0" anchor="t"/>
          <a:lstStyle/>
          <a:p>
            <a:pPr indent="0" marL="0">
              <a:buNone/>
            </a:pPr>
            <a:r>
              <a:rPr lang="en-US" sz="1400" dirty="0">
                <a:solidFill>
                  <a:srgbClr val="5A6573"/>
                </a:solidFill>
                <a:latin typeface="Inter" pitchFamily="34" charset="0"/>
                <a:ea typeface="Inter" pitchFamily="34" charset="-122"/>
                <a:cs typeface="Inter" pitchFamily="34" charset="-120"/>
              </a:rPr>
              <a:t>Same visual grammar on every card, and nothing invented that the coach would have to unlearn.</a:t>
            </a:r>
            <a:endParaRPr lang="en-US" sz="1400" dirty="0"/>
          </a:p>
        </p:txBody>
      </p:sp>
      <p:sp>
        <p:nvSpPr>
          <p:cNvPr id="41" name="Shape 34"/>
          <p:cNvSpPr/>
          <p:nvPr/>
        </p:nvSpPr>
        <p:spPr>
          <a:xfrm>
            <a:off x="6210148" y="4526280"/>
            <a:ext cx="5432908" cy="1463040"/>
          </a:xfrm>
          <a:prstGeom prst="roundRect">
            <a:avLst>
              <a:gd name="adj" fmla="val 7500"/>
            </a:avLst>
          </a:prstGeom>
          <a:solidFill>
            <a:srgbClr val="F2F5F8"/>
          </a:solidFill>
          <a:ln/>
        </p:spPr>
      </p:sp>
      <p:sp>
        <p:nvSpPr>
          <p:cNvPr id="42" name="Text 35"/>
          <p:cNvSpPr txBox="1"/>
          <p:nvPr/>
        </p:nvSpPr>
        <p:spPr>
          <a:xfrm>
            <a:off x="6484468" y="4709160"/>
            <a:ext cx="4884268" cy="365760"/>
          </a:xfrm>
          <a:prstGeom prst="rect">
            <a:avLst/>
          </a:prstGeom>
          <a:noFill/>
          <a:ln/>
        </p:spPr>
        <p:txBody>
          <a:bodyPr wrap="square" lIns="0" tIns="0" rIns="0" bIns="0" rtlCol="0" anchor="t"/>
          <a:lstStyle/>
          <a:p>
            <a:pPr indent="0" marL="0">
              <a:buNone/>
            </a:pPr>
            <a:r>
              <a:rPr lang="en-US" sz="1600" dirty="0">
                <a:solidFill>
                  <a:srgbClr val="263D57"/>
                </a:solidFill>
                <a:latin typeface="Poppins SemiBold" pitchFamily="34" charset="0"/>
                <a:ea typeface="Poppins SemiBold" pitchFamily="34" charset="-122"/>
                <a:cs typeface="Poppins SemiBold" pitchFamily="34" charset="-120"/>
              </a:rPr>
              <a:t>Text-to-video only for mood clips</a:t>
            </a:r>
            <a:endParaRPr lang="en-US" sz="1600" dirty="0"/>
          </a:p>
        </p:txBody>
      </p:sp>
      <p:sp>
        <p:nvSpPr>
          <p:cNvPr id="43" name="Text 36"/>
          <p:cNvSpPr txBox="1"/>
          <p:nvPr/>
        </p:nvSpPr>
        <p:spPr>
          <a:xfrm>
            <a:off x="6484468" y="5120640"/>
            <a:ext cx="4884268" cy="731520"/>
          </a:xfrm>
          <a:prstGeom prst="rect">
            <a:avLst/>
          </a:prstGeom>
          <a:noFill/>
          <a:ln/>
        </p:spPr>
        <p:txBody>
          <a:bodyPr wrap="square" lIns="0" tIns="0" rIns="0" bIns="0" rtlCol="0" anchor="t"/>
          <a:lstStyle/>
          <a:p>
            <a:pPr indent="0" marL="0">
              <a:buNone/>
            </a:pPr>
            <a:r>
              <a:rPr lang="en-US" sz="1400" dirty="0">
                <a:solidFill>
                  <a:srgbClr val="5A6573"/>
                </a:solidFill>
                <a:latin typeface="Inter" pitchFamily="34" charset="0"/>
                <a:ea typeface="Inter" pitchFamily="34" charset="-122"/>
                <a:cs typeface="Inter" pitchFamily="34" charset="-120"/>
              </a:rPr>
              <a:t>The drill itself always comes from the spec, so a new card can be checked against it.</a:t>
            </a:r>
            <a:endParaRPr lang="en-US" sz="1400" dirty="0"/>
          </a:p>
        </p:txBody>
      </p:sp>
      <p:sp>
        <p:nvSpPr>
          <p:cNvPr id="25" name="Slide Number Placeholder 0"/>
          <p:cNvSpPr>
            <a:spLocks noGrp="1"/>
          </p:cNvSpPr>
          <p:nvPr>
            <p:ph type="sldNum" sz="quarter" idx="4294967295"/>
          </p:nvPr>
        </p:nvSpPr>
        <p:spPr>
          <a:xfrm>
            <a:off x="10774375"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Inter"/>
                <a:ea typeface="Inter"/>
                <a:cs typeface="Inter"/>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3" type="body" hasCustomPrompt="1"/>
          </p:nvPr>
        </p:nvSpPr>
        <p:spPr>
          <a:xfrm>
            <a:off x="548640" y="402336"/>
            <a:ext cx="8229600" cy="274320"/>
          </a:xfrm>
          <a:prstGeom prst="rect">
            <a:avLst/>
          </a:prstGeom>
          <a:noFill/>
          <a:ln/>
        </p:spPr>
        <p:txBody>
          <a:bodyPr wrap="square" lIns="0" tIns="0" rIns="0" bIns="0" rtlCol="0" anchor="t"/>
          <a:lstStyle/>
          <a:p>
            <a:pPr algn="l" indent="0" marL="0">
              <a:buNone/>
            </a:pPr>
            <a:r>
              <a:rPr lang="en-US" sz="1200" b="1" spc="200" kern="0" dirty="0">
                <a:solidFill>
                  <a:srgbClr val="41C5C5"/>
                </a:solidFill>
                <a:latin typeface="Inter" pitchFamily="34" charset="0"/>
                <a:ea typeface="Inter" pitchFamily="34" charset="-122"/>
                <a:cs typeface="Inter" pitchFamily="34" charset="-120"/>
              </a:rPr>
              <a:t>PROTOTYPE AND TEST</a:t>
            </a:r>
            <a:endParaRPr lang="en-US" sz="1200" dirty="0"/>
          </a:p>
        </p:txBody>
      </p:sp>
      <p:sp>
        <p:nvSpPr>
          <p:cNvPr id="3" name="Text 2"/>
          <p:cNvSpPr/>
          <p:nvPr>
            <p:ph idx="104" type="title" hasCustomPrompt="1"/>
          </p:nvPr>
        </p:nvSpPr>
        <p:spPr>
          <a:xfrm>
            <a:off x="548640" y="731520"/>
            <a:ext cx="9509760" cy="713232"/>
          </a:xfrm>
          <a:prstGeom prst="rect">
            <a:avLst/>
          </a:prstGeom>
          <a:noFill/>
          <a:ln/>
        </p:spPr>
        <p:txBody>
          <a:bodyPr wrap="square" lIns="0" tIns="0" rIns="0" bIns="0" rtlCol="0" anchor="t"/>
          <a:lstStyle/>
          <a:p>
            <a:pPr algn="l" indent="0" marL="0">
              <a:buNone/>
            </a:pPr>
            <a:r>
              <a:rPr lang="en-US" sz="2600" dirty="0">
                <a:solidFill>
                  <a:srgbClr val="263D57"/>
                </a:solidFill>
                <a:latin typeface="Poppins SemiBold" pitchFamily="34" charset="0"/>
                <a:ea typeface="Poppins SemiBold" pitchFamily="34" charset="-122"/>
                <a:cs typeface="Poppins SemiBold" pitchFamily="34" charset="-120"/>
              </a:rPr>
              <a:t>The coach's view, and how we test it</a:t>
            </a:r>
            <a:endParaRPr lang="en-US" sz="2600" dirty="0"/>
          </a:p>
        </p:txBody>
      </p:sp>
      <p:sp>
        <p:nvSpPr>
          <p:cNvPr id="4" name="Shape 2"/>
          <p:cNvSpPr/>
          <p:nvPr/>
        </p:nvSpPr>
        <p:spPr>
          <a:xfrm>
            <a:off x="548640" y="1691640"/>
            <a:ext cx="4937760" cy="4251960"/>
          </a:xfrm>
          <a:prstGeom prst="roundRect">
            <a:avLst>
              <a:gd name="adj" fmla="val 6022"/>
            </a:avLst>
          </a:prstGeom>
          <a:solidFill>
            <a:srgbClr val="263D57"/>
          </a:solidFill>
          <a:ln/>
        </p:spPr>
      </p:sp>
      <p:sp>
        <p:nvSpPr>
          <p:cNvPr id="5" name="Shape 3"/>
          <p:cNvSpPr/>
          <p:nvPr/>
        </p:nvSpPr>
        <p:spPr>
          <a:xfrm>
            <a:off x="749808" y="1892808"/>
            <a:ext cx="4535424" cy="3849624"/>
          </a:xfrm>
          <a:prstGeom prst="roundRect">
            <a:avLst>
              <a:gd name="adj" fmla="val 2375"/>
            </a:avLst>
          </a:prstGeom>
          <a:solidFill>
            <a:srgbClr val="FFFFFF"/>
          </a:solidFill>
          <a:ln w="9525">
            <a:solidFill>
              <a:srgbClr val="FFFFFF"/>
            </a:solidFill>
            <a:prstDash val="solid"/>
          </a:ln>
        </p:spPr>
      </p:sp>
      <p:sp>
        <p:nvSpPr>
          <p:cNvPr id="6" name="Text 4"/>
          <p:cNvSpPr txBox="1"/>
          <p:nvPr/>
        </p:nvSpPr>
        <p:spPr>
          <a:xfrm>
            <a:off x="978408" y="2075688"/>
            <a:ext cx="4078224" cy="320040"/>
          </a:xfrm>
          <a:prstGeom prst="rect">
            <a:avLst/>
          </a:prstGeom>
          <a:noFill/>
          <a:ln/>
        </p:spPr>
        <p:txBody>
          <a:bodyPr wrap="square" lIns="0" tIns="0" rIns="0" bIns="0" rtlCol="0" anchor="t"/>
          <a:lstStyle/>
          <a:p>
            <a:pPr indent="0" marL="0">
              <a:buNone/>
            </a:pPr>
            <a:r>
              <a:rPr lang="en-US" sz="1500" b="1" dirty="0">
                <a:solidFill>
                  <a:srgbClr val="263D57"/>
                </a:solidFill>
                <a:latin typeface="Poppins SemiBold" pitchFamily="34" charset="0"/>
                <a:ea typeface="Poppins SemiBold" pitchFamily="34" charset="-122"/>
                <a:cs typeface="Poppins SemiBold" pitchFamily="34" charset="-120"/>
              </a:rPr>
              <a:t>U14 · Tuesday 18:30</a:t>
            </a:r>
            <a:endParaRPr lang="en-US" sz="1500" dirty="0"/>
          </a:p>
        </p:txBody>
      </p:sp>
      <p:sp>
        <p:nvSpPr>
          <p:cNvPr id="7" name="Text 5"/>
          <p:cNvSpPr txBox="1"/>
          <p:nvPr/>
        </p:nvSpPr>
        <p:spPr>
          <a:xfrm>
            <a:off x="978408" y="2395728"/>
            <a:ext cx="4078224" cy="228600"/>
          </a:xfrm>
          <a:prstGeom prst="rect">
            <a:avLst/>
          </a:prstGeom>
          <a:noFill/>
          <a:ln/>
        </p:spPr>
        <p:txBody>
          <a:bodyPr wrap="square" lIns="0" tIns="0" rIns="0" bIns="0" rtlCol="0" anchor="t"/>
          <a:lstStyle/>
          <a:p>
            <a:pPr indent="0" marL="0">
              <a:buNone/>
            </a:pPr>
            <a:r>
              <a:rPr lang="en-US" sz="1000" dirty="0">
                <a:solidFill>
                  <a:srgbClr val="8A94A3"/>
                </a:solidFill>
                <a:latin typeface="Inter" pitchFamily="34" charset="0"/>
                <a:ea typeface="Inter" pitchFamily="34" charset="-122"/>
                <a:cs typeface="Inter" pitchFamily="34" charset="-120"/>
              </a:rPr>
              <a:t>3 players selected · tap to swap</a:t>
            </a:r>
            <a:endParaRPr lang="en-US" sz="1000" dirty="0"/>
          </a:p>
        </p:txBody>
      </p:sp>
      <p:sp>
        <p:nvSpPr>
          <p:cNvPr id="8" name="Text 6"/>
          <p:cNvSpPr txBox="1"/>
          <p:nvPr/>
        </p:nvSpPr>
        <p:spPr>
          <a:xfrm>
            <a:off x="978408" y="2734056"/>
            <a:ext cx="1298448" cy="292608"/>
          </a:xfrm>
          <a:prstGeom prst="roundRect">
            <a:avLst>
              <a:gd name="adj" fmla="val 50000"/>
            </a:avLst>
          </a:prstGeom>
          <a:solidFill>
            <a:srgbClr val="E2F3F1"/>
          </a:solidFill>
          <a:ln/>
        </p:spPr>
        <p:txBody>
          <a:bodyPr wrap="square" lIns="0" tIns="0" rIns="0" bIns="0" rtlCol="0" anchor="ctr"/>
          <a:lstStyle/>
          <a:p>
            <a:pPr algn="ctr" indent="0" marL="0">
              <a:buNone/>
            </a:pPr>
            <a:r>
              <a:rPr lang="en-US" sz="950" b="1" dirty="0">
                <a:solidFill>
                  <a:srgbClr val="007D8C"/>
                </a:solidFill>
                <a:latin typeface="Inter" pitchFamily="34" charset="0"/>
                <a:ea typeface="Inter" pitchFamily="34" charset="-122"/>
                <a:cs typeface="Inter" pitchFamily="34" charset="-120"/>
              </a:rPr>
              <a:t>Sam · scanning</a:t>
            </a:r>
            <a:endParaRPr lang="en-US" sz="950" dirty="0"/>
          </a:p>
        </p:txBody>
      </p:sp>
      <p:sp>
        <p:nvSpPr>
          <p:cNvPr id="9" name="Text 7"/>
          <p:cNvSpPr txBox="1"/>
          <p:nvPr/>
        </p:nvSpPr>
        <p:spPr>
          <a:xfrm>
            <a:off x="2368296" y="2734056"/>
            <a:ext cx="1298448" cy="292608"/>
          </a:xfrm>
          <a:prstGeom prst="roundRect">
            <a:avLst>
              <a:gd name="adj" fmla="val 50000"/>
            </a:avLst>
          </a:prstGeom>
          <a:solidFill>
            <a:srgbClr val="E2F3F1"/>
          </a:solidFill>
          <a:ln/>
        </p:spPr>
        <p:txBody>
          <a:bodyPr wrap="square" lIns="0" tIns="0" rIns="0" bIns="0" rtlCol="0" anchor="ctr"/>
          <a:lstStyle/>
          <a:p>
            <a:pPr algn="ctr" indent="0" marL="0">
              <a:buNone/>
            </a:pPr>
            <a:r>
              <a:rPr lang="en-US" sz="950" b="1" dirty="0">
                <a:solidFill>
                  <a:srgbClr val="007D8C"/>
                </a:solidFill>
                <a:latin typeface="Inter" pitchFamily="34" charset="0"/>
                <a:ea typeface="Inter" pitchFamily="34" charset="-122"/>
                <a:cs typeface="Inter" pitchFamily="34" charset="-120"/>
              </a:rPr>
              <a:t>Noor · inhibition</a:t>
            </a:r>
            <a:endParaRPr lang="en-US" sz="950" dirty="0"/>
          </a:p>
        </p:txBody>
      </p:sp>
      <p:sp>
        <p:nvSpPr>
          <p:cNvPr id="10" name="Text 8"/>
          <p:cNvSpPr txBox="1"/>
          <p:nvPr/>
        </p:nvSpPr>
        <p:spPr>
          <a:xfrm>
            <a:off x="3758184" y="2734056"/>
            <a:ext cx="1298448" cy="292608"/>
          </a:xfrm>
          <a:prstGeom prst="roundRect">
            <a:avLst>
              <a:gd name="adj" fmla="val 50000"/>
            </a:avLst>
          </a:prstGeom>
          <a:solidFill>
            <a:srgbClr val="E2F3F1"/>
          </a:solidFill>
          <a:ln/>
        </p:spPr>
        <p:txBody>
          <a:bodyPr wrap="square" lIns="0" tIns="0" rIns="0" bIns="0" rtlCol="0" anchor="ctr"/>
          <a:lstStyle/>
          <a:p>
            <a:pPr algn="ctr" indent="0" marL="0">
              <a:buNone/>
            </a:pPr>
            <a:r>
              <a:rPr lang="en-US" sz="950" b="1" dirty="0">
                <a:solidFill>
                  <a:srgbClr val="007D8C"/>
                </a:solidFill>
                <a:latin typeface="Inter" pitchFamily="34" charset="0"/>
                <a:ea typeface="Inter" pitchFamily="34" charset="-122"/>
                <a:cs typeface="Inter" pitchFamily="34" charset="-120"/>
              </a:rPr>
              <a:t>Daan · flexibility</a:t>
            </a:r>
            <a:endParaRPr lang="en-US" sz="950" dirty="0"/>
          </a:p>
        </p:txBody>
      </p:sp>
      <p:sp>
        <p:nvSpPr>
          <p:cNvPr id="11" name="Shape 9"/>
          <p:cNvSpPr/>
          <p:nvPr/>
        </p:nvSpPr>
        <p:spPr>
          <a:xfrm>
            <a:off x="978408" y="3191256"/>
            <a:ext cx="4078224" cy="512064"/>
          </a:xfrm>
          <a:prstGeom prst="roundRect">
            <a:avLst>
              <a:gd name="adj" fmla="val 14286"/>
            </a:avLst>
          </a:prstGeom>
          <a:solidFill>
            <a:srgbClr val="F2F5F8"/>
          </a:solidFill>
          <a:ln w="9525">
            <a:solidFill>
              <a:srgbClr val="E2E8F0"/>
            </a:solidFill>
            <a:prstDash val="solid"/>
          </a:ln>
        </p:spPr>
      </p:sp>
      <p:sp>
        <p:nvSpPr>
          <p:cNvPr id="12" name="Shape 10"/>
          <p:cNvSpPr/>
          <p:nvPr/>
        </p:nvSpPr>
        <p:spPr>
          <a:xfrm>
            <a:off x="1097280" y="3310128"/>
            <a:ext cx="274320" cy="274320"/>
          </a:xfrm>
          <a:prstGeom prst="roundRect">
            <a:avLst>
              <a:gd name="adj" fmla="val 20000"/>
            </a:avLst>
          </a:prstGeom>
          <a:solidFill>
            <a:srgbClr val="41C5C5"/>
          </a:solidFill>
          <a:ln/>
        </p:spPr>
      </p:sp>
      <p:sp>
        <p:nvSpPr>
          <p:cNvPr id="13" name="Text 11"/>
          <p:cNvSpPr txBox="1"/>
          <p:nvPr/>
        </p:nvSpPr>
        <p:spPr>
          <a:xfrm>
            <a:off x="1527048" y="3191256"/>
            <a:ext cx="3346704" cy="512064"/>
          </a:xfrm>
          <a:prstGeom prst="rect">
            <a:avLst/>
          </a:prstGeom>
          <a:noFill/>
          <a:ln/>
        </p:spPr>
        <p:txBody>
          <a:bodyPr wrap="square" lIns="0" tIns="0" rIns="0" bIns="0" rtlCol="0" anchor="ctr"/>
          <a:lstStyle/>
          <a:p>
            <a:pPr indent="0" marL="0">
              <a:buNone/>
            </a:pPr>
            <a:r>
              <a:rPr lang="en-US" sz="1200" b="1" dirty="0">
                <a:solidFill>
                  <a:srgbClr val="263D57"/>
                </a:solidFill>
                <a:latin typeface="Inter" pitchFamily="34" charset="0"/>
                <a:ea typeface="Inter" pitchFamily="34" charset="-122"/>
                <a:cs typeface="Inter" pitchFamily="34" charset="-120"/>
              </a:rPr>
              <a:t>4v4+3 · call the number</a:t>
            </a:r>
            <a:endParaRPr lang="en-US" sz="1200" dirty="0"/>
          </a:p>
        </p:txBody>
      </p:sp>
      <p:sp>
        <p:nvSpPr>
          <p:cNvPr id="14" name="Shape 12"/>
          <p:cNvSpPr/>
          <p:nvPr/>
        </p:nvSpPr>
        <p:spPr>
          <a:xfrm>
            <a:off x="978408" y="3794760"/>
            <a:ext cx="4078224" cy="512064"/>
          </a:xfrm>
          <a:prstGeom prst="roundRect">
            <a:avLst>
              <a:gd name="adj" fmla="val 14286"/>
            </a:avLst>
          </a:prstGeom>
          <a:solidFill>
            <a:srgbClr val="F2F5F8"/>
          </a:solidFill>
          <a:ln w="9525">
            <a:solidFill>
              <a:srgbClr val="E2E8F0"/>
            </a:solidFill>
            <a:prstDash val="solid"/>
          </a:ln>
        </p:spPr>
      </p:sp>
      <p:sp>
        <p:nvSpPr>
          <p:cNvPr id="15" name="Shape 13"/>
          <p:cNvSpPr/>
          <p:nvPr/>
        </p:nvSpPr>
        <p:spPr>
          <a:xfrm>
            <a:off x="1097280" y="3913632"/>
            <a:ext cx="274320" cy="274320"/>
          </a:xfrm>
          <a:prstGeom prst="roundRect">
            <a:avLst>
              <a:gd name="adj" fmla="val 20000"/>
            </a:avLst>
          </a:prstGeom>
          <a:solidFill>
            <a:srgbClr val="EABF23"/>
          </a:solidFill>
          <a:ln/>
        </p:spPr>
      </p:sp>
      <p:sp>
        <p:nvSpPr>
          <p:cNvPr id="16" name="Text 14"/>
          <p:cNvSpPr txBox="1"/>
          <p:nvPr/>
        </p:nvSpPr>
        <p:spPr>
          <a:xfrm>
            <a:off x="1527048" y="3794760"/>
            <a:ext cx="3346704" cy="512064"/>
          </a:xfrm>
          <a:prstGeom prst="rect">
            <a:avLst/>
          </a:prstGeom>
          <a:noFill/>
          <a:ln/>
        </p:spPr>
        <p:txBody>
          <a:bodyPr wrap="square" lIns="0" tIns="0" rIns="0" bIns="0" rtlCol="0" anchor="ctr"/>
          <a:lstStyle/>
          <a:p>
            <a:pPr indent="0" marL="0">
              <a:buNone/>
            </a:pPr>
            <a:r>
              <a:rPr lang="en-US" sz="1200" b="1" dirty="0">
                <a:solidFill>
                  <a:srgbClr val="263D57"/>
                </a:solidFill>
                <a:latin typeface="Inter" pitchFamily="34" charset="0"/>
                <a:ea typeface="Inter" pitchFamily="34" charset="-122"/>
                <a:cs typeface="Inter" pitchFamily="34" charset="-120"/>
              </a:rPr>
              <a:t>Rondo · no return pass</a:t>
            </a:r>
            <a:endParaRPr lang="en-US" sz="1200" dirty="0"/>
          </a:p>
        </p:txBody>
      </p:sp>
      <p:sp>
        <p:nvSpPr>
          <p:cNvPr id="17" name="Shape 15"/>
          <p:cNvSpPr/>
          <p:nvPr/>
        </p:nvSpPr>
        <p:spPr>
          <a:xfrm>
            <a:off x="978408" y="4398264"/>
            <a:ext cx="4078224" cy="512064"/>
          </a:xfrm>
          <a:prstGeom prst="roundRect">
            <a:avLst>
              <a:gd name="adj" fmla="val 14286"/>
            </a:avLst>
          </a:prstGeom>
          <a:solidFill>
            <a:srgbClr val="F2F5F8"/>
          </a:solidFill>
          <a:ln w="9525">
            <a:solidFill>
              <a:srgbClr val="E2E8F0"/>
            </a:solidFill>
            <a:prstDash val="solid"/>
          </a:ln>
        </p:spPr>
      </p:sp>
      <p:sp>
        <p:nvSpPr>
          <p:cNvPr id="18" name="Shape 16"/>
          <p:cNvSpPr/>
          <p:nvPr/>
        </p:nvSpPr>
        <p:spPr>
          <a:xfrm>
            <a:off x="1097280" y="4517136"/>
            <a:ext cx="274320" cy="274320"/>
          </a:xfrm>
          <a:prstGeom prst="roundRect">
            <a:avLst>
              <a:gd name="adj" fmla="val 20000"/>
            </a:avLst>
          </a:prstGeom>
          <a:solidFill>
            <a:srgbClr val="263D57"/>
          </a:solidFill>
          <a:ln/>
        </p:spPr>
      </p:sp>
      <p:sp>
        <p:nvSpPr>
          <p:cNvPr id="19" name="Text 17"/>
          <p:cNvSpPr txBox="1"/>
          <p:nvPr/>
        </p:nvSpPr>
        <p:spPr>
          <a:xfrm>
            <a:off x="1527048" y="4398264"/>
            <a:ext cx="3346704" cy="512064"/>
          </a:xfrm>
          <a:prstGeom prst="rect">
            <a:avLst/>
          </a:prstGeom>
          <a:noFill/>
          <a:ln/>
        </p:spPr>
        <p:txBody>
          <a:bodyPr wrap="square" lIns="0" tIns="0" rIns="0" bIns="0" rtlCol="0" anchor="ctr"/>
          <a:lstStyle/>
          <a:p>
            <a:pPr indent="0" marL="0">
              <a:buNone/>
            </a:pPr>
            <a:r>
              <a:rPr lang="en-US" sz="1200" b="1" dirty="0">
                <a:solidFill>
                  <a:srgbClr val="263D57"/>
                </a:solidFill>
                <a:latin typeface="Inter" pitchFamily="34" charset="0"/>
                <a:ea typeface="Inter" pitchFamily="34" charset="-122"/>
                <a:cs typeface="Inter" pitchFamily="34" charset="-120"/>
              </a:rPr>
              <a:t>Four goals · switch after regain</a:t>
            </a:r>
            <a:endParaRPr lang="en-US" sz="1200" dirty="0"/>
          </a:p>
        </p:txBody>
      </p:sp>
      <p:sp>
        <p:nvSpPr>
          <p:cNvPr id="20" name="Text 18"/>
          <p:cNvSpPr txBox="1"/>
          <p:nvPr/>
        </p:nvSpPr>
        <p:spPr>
          <a:xfrm>
            <a:off x="3502152" y="5175504"/>
            <a:ext cx="1554480" cy="384048"/>
          </a:xfrm>
          <a:prstGeom prst="roundRect">
            <a:avLst>
              <a:gd name="adj" fmla="val 50000"/>
            </a:avLst>
          </a:prstGeom>
          <a:solidFill>
            <a:srgbClr val="41C5C5"/>
          </a:solidFill>
          <a:ln/>
        </p:spPr>
        <p:txBody>
          <a:bodyPr wrap="square" lIns="0" tIns="0" rIns="0" bIns="0" rtlCol="0" anchor="ctr"/>
          <a:lstStyle/>
          <a:p>
            <a:pPr algn="ctr" indent="0" marL="0">
              <a:buNone/>
            </a:pPr>
            <a:r>
              <a:rPr lang="en-US" sz="1200" b="1" dirty="0">
                <a:solidFill>
                  <a:srgbClr val="263D57"/>
                </a:solidFill>
                <a:latin typeface="Inter" pitchFamily="34" charset="0"/>
                <a:ea typeface="Inter" pitchFamily="34" charset="-122"/>
                <a:cs typeface="Inter" pitchFamily="34" charset="-120"/>
              </a:rPr>
              <a:t>Use tonight</a:t>
            </a:r>
            <a:endParaRPr lang="en-US" sz="1200" dirty="0"/>
          </a:p>
        </p:txBody>
      </p:sp>
      <p:sp>
        <p:nvSpPr>
          <p:cNvPr id="21" name="Text 19"/>
          <p:cNvSpPr txBox="1"/>
          <p:nvPr/>
        </p:nvSpPr>
        <p:spPr>
          <a:xfrm>
            <a:off x="5989320" y="1691640"/>
            <a:ext cx="5653735" cy="365760"/>
          </a:xfrm>
          <a:prstGeom prst="rect">
            <a:avLst/>
          </a:prstGeom>
          <a:noFill/>
          <a:ln/>
        </p:spPr>
        <p:txBody>
          <a:bodyPr wrap="square" lIns="0" tIns="0" rIns="0" bIns="0" rtlCol="0" anchor="t"/>
          <a:lstStyle/>
          <a:p>
            <a:pPr indent="0" marL="0">
              <a:buNone/>
            </a:pPr>
            <a:r>
              <a:rPr lang="en-US" sz="1800" dirty="0">
                <a:solidFill>
                  <a:srgbClr val="263D57"/>
                </a:solidFill>
                <a:latin typeface="Poppins SemiBold" pitchFamily="34" charset="0"/>
                <a:ea typeface="Poppins SemiBold" pitchFamily="34" charset="-122"/>
                <a:cs typeface="Poppins SemiBold" pitchFamily="34" charset="-120"/>
              </a:rPr>
              <a:t>Coach test, week 3</a:t>
            </a:r>
            <a:endParaRPr lang="en-US" sz="1800" dirty="0"/>
          </a:p>
        </p:txBody>
      </p:sp>
      <p:sp>
        <p:nvSpPr>
          <p:cNvPr id="22" name="Shape 20"/>
          <p:cNvSpPr/>
          <p:nvPr/>
        </p:nvSpPr>
        <p:spPr>
          <a:xfrm>
            <a:off x="5989320" y="2212848"/>
            <a:ext cx="420624" cy="420624"/>
          </a:xfrm>
          <a:prstGeom prst="roundRect">
            <a:avLst>
              <a:gd name="adj" fmla="val 25000"/>
            </a:avLst>
          </a:prstGeom>
          <a:solidFill>
            <a:srgbClr val="E2F3F1"/>
          </a:solidFill>
          <a:ln/>
        </p:spPr>
      </p:sp>
      <p:pic>
        <p:nvPicPr>
          <p:cNvPr id="23" name="Image 0" descr="preencoded.png">    </p:cNvPr>
          <p:cNvPicPr>
            <a:picLocks noChangeAspect="1"/>
          </p:cNvPicPr>
          <p:nvPr/>
        </p:nvPicPr>
        <p:blipFill>
          <a:blip r:embed="rId1"/>
          <a:stretch>
            <a:fillRect/>
          </a:stretch>
        </p:blipFill>
        <p:spPr>
          <a:xfrm>
            <a:off x="6081857" y="2305385"/>
            <a:ext cx="235549" cy="235549"/>
          </a:xfrm>
          <a:prstGeom prst="rect">
            <a:avLst/>
          </a:prstGeom>
        </p:spPr>
      </p:pic>
      <p:sp>
        <p:nvSpPr>
          <p:cNvPr id="24" name="Text 21"/>
          <p:cNvSpPr txBox="1"/>
          <p:nvPr/>
        </p:nvSpPr>
        <p:spPr>
          <a:xfrm>
            <a:off x="6583680" y="2194560"/>
            <a:ext cx="5059375" cy="502920"/>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At least 5 youth coaches: PSV or AZ via BrainsFirst, plus 2 amateur clubs</a:t>
            </a:r>
            <a:endParaRPr lang="en-US" sz="1500" dirty="0"/>
          </a:p>
        </p:txBody>
      </p:sp>
      <p:sp>
        <p:nvSpPr>
          <p:cNvPr id="25" name="Shape 22"/>
          <p:cNvSpPr/>
          <p:nvPr/>
        </p:nvSpPr>
        <p:spPr>
          <a:xfrm>
            <a:off x="5989320" y="2834640"/>
            <a:ext cx="420624" cy="420624"/>
          </a:xfrm>
          <a:prstGeom prst="roundRect">
            <a:avLst>
              <a:gd name="adj" fmla="val 25000"/>
            </a:avLst>
          </a:prstGeom>
          <a:solidFill>
            <a:srgbClr val="E2F3F1"/>
          </a:solidFill>
          <a:ln/>
        </p:spPr>
      </p:sp>
      <p:pic>
        <p:nvPicPr>
          <p:cNvPr id="26" name="Image 1" descr="preencoded.png">    </p:cNvPr>
          <p:cNvPicPr>
            <a:picLocks noChangeAspect="1"/>
          </p:cNvPicPr>
          <p:nvPr/>
        </p:nvPicPr>
        <p:blipFill>
          <a:blip r:embed="rId2"/>
          <a:stretch>
            <a:fillRect/>
          </a:stretch>
        </p:blipFill>
        <p:spPr>
          <a:xfrm>
            <a:off x="6081857" y="2927177"/>
            <a:ext cx="235549" cy="235549"/>
          </a:xfrm>
          <a:prstGeom prst="rect">
            <a:avLst/>
          </a:prstGeom>
        </p:spPr>
      </p:pic>
      <p:sp>
        <p:nvSpPr>
          <p:cNvPr id="27" name="Text 23"/>
          <p:cNvSpPr txBox="1"/>
          <p:nvPr/>
        </p:nvSpPr>
        <p:spPr>
          <a:xfrm>
            <a:off x="6583680" y="2816352"/>
            <a:ext cx="5059375" cy="502920"/>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Task: choose a card for three anonymised profiles</a:t>
            </a:r>
            <a:endParaRPr lang="en-US" sz="1500" dirty="0"/>
          </a:p>
        </p:txBody>
      </p:sp>
      <p:sp>
        <p:nvSpPr>
          <p:cNvPr id="28" name="Shape 24"/>
          <p:cNvSpPr/>
          <p:nvPr/>
        </p:nvSpPr>
        <p:spPr>
          <a:xfrm>
            <a:off x="5989320" y="3456432"/>
            <a:ext cx="420624" cy="420624"/>
          </a:xfrm>
          <a:prstGeom prst="roundRect">
            <a:avLst>
              <a:gd name="adj" fmla="val 25000"/>
            </a:avLst>
          </a:prstGeom>
          <a:solidFill>
            <a:srgbClr val="E2F3F1"/>
          </a:solidFill>
          <a:ln/>
        </p:spPr>
      </p:sp>
      <p:pic>
        <p:nvPicPr>
          <p:cNvPr id="29" name="Image 2" descr="preencoded.png">    </p:cNvPr>
          <p:cNvPicPr>
            <a:picLocks noChangeAspect="1"/>
          </p:cNvPicPr>
          <p:nvPr/>
        </p:nvPicPr>
        <p:blipFill>
          <a:blip r:embed="rId3"/>
          <a:stretch>
            <a:fillRect/>
          </a:stretch>
        </p:blipFill>
        <p:spPr>
          <a:xfrm>
            <a:off x="6081857" y="3548969"/>
            <a:ext cx="235549" cy="235549"/>
          </a:xfrm>
          <a:prstGeom prst="rect">
            <a:avLst/>
          </a:prstGeom>
        </p:spPr>
      </p:pic>
      <p:sp>
        <p:nvSpPr>
          <p:cNvPr id="30" name="Text 25"/>
          <p:cNvSpPr txBox="1"/>
          <p:nvPr/>
        </p:nvSpPr>
        <p:spPr>
          <a:xfrm>
            <a:off x="6583680" y="3438144"/>
            <a:ext cx="5059375" cy="502920"/>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Time to pick, target under 60 seconds</a:t>
            </a:r>
            <a:endParaRPr lang="en-US" sz="1500" dirty="0"/>
          </a:p>
        </p:txBody>
      </p:sp>
      <p:sp>
        <p:nvSpPr>
          <p:cNvPr id="31" name="Shape 26"/>
          <p:cNvSpPr/>
          <p:nvPr/>
        </p:nvSpPr>
        <p:spPr>
          <a:xfrm>
            <a:off x="5989320" y="4078224"/>
            <a:ext cx="420624" cy="420624"/>
          </a:xfrm>
          <a:prstGeom prst="roundRect">
            <a:avLst>
              <a:gd name="adj" fmla="val 25000"/>
            </a:avLst>
          </a:prstGeom>
          <a:solidFill>
            <a:srgbClr val="E2F3F1"/>
          </a:solidFill>
          <a:ln/>
        </p:spPr>
      </p:sp>
      <p:pic>
        <p:nvPicPr>
          <p:cNvPr id="32" name="Image 3" descr="preencoded.png">    </p:cNvPr>
          <p:cNvPicPr>
            <a:picLocks noChangeAspect="1"/>
          </p:cNvPicPr>
          <p:nvPr/>
        </p:nvPicPr>
        <p:blipFill>
          <a:blip r:embed="rId4"/>
          <a:stretch>
            <a:fillRect/>
          </a:stretch>
        </p:blipFill>
        <p:spPr>
          <a:xfrm>
            <a:off x="6081857" y="4170761"/>
            <a:ext cx="235549" cy="235549"/>
          </a:xfrm>
          <a:prstGeom prst="rect">
            <a:avLst/>
          </a:prstGeom>
        </p:spPr>
      </p:pic>
      <p:sp>
        <p:nvSpPr>
          <p:cNvPr id="33" name="Text 27"/>
          <p:cNvSpPr txBox="1"/>
          <p:nvPr/>
        </p:nvSpPr>
        <p:spPr>
          <a:xfrm>
            <a:off x="6583680" y="4059936"/>
            <a:ext cx="5059375" cy="502920"/>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'I'll use this on Tuesday': yes or no, and why</a:t>
            </a:r>
            <a:endParaRPr lang="en-US" sz="1500" dirty="0"/>
          </a:p>
        </p:txBody>
      </p:sp>
      <p:sp>
        <p:nvSpPr>
          <p:cNvPr id="34" name="Shape 28"/>
          <p:cNvSpPr/>
          <p:nvPr/>
        </p:nvSpPr>
        <p:spPr>
          <a:xfrm>
            <a:off x="5989320" y="4700016"/>
            <a:ext cx="420624" cy="420624"/>
          </a:xfrm>
          <a:prstGeom prst="roundRect">
            <a:avLst>
              <a:gd name="adj" fmla="val 25000"/>
            </a:avLst>
          </a:prstGeom>
          <a:solidFill>
            <a:srgbClr val="E2F3F1"/>
          </a:solidFill>
          <a:ln/>
        </p:spPr>
      </p:sp>
      <p:pic>
        <p:nvPicPr>
          <p:cNvPr id="35" name="Image 4" descr="preencoded.png">    </p:cNvPr>
          <p:cNvPicPr>
            <a:picLocks noChangeAspect="1"/>
          </p:cNvPicPr>
          <p:nvPr/>
        </p:nvPicPr>
        <p:blipFill>
          <a:blip r:embed="rId5"/>
          <a:stretch>
            <a:fillRect/>
          </a:stretch>
        </p:blipFill>
        <p:spPr>
          <a:xfrm>
            <a:off x="6081857" y="4792553"/>
            <a:ext cx="235549" cy="235549"/>
          </a:xfrm>
          <a:prstGeom prst="rect">
            <a:avLst/>
          </a:prstGeom>
        </p:spPr>
      </p:pic>
      <p:sp>
        <p:nvSpPr>
          <p:cNvPr id="36" name="Text 29"/>
          <p:cNvSpPr txBox="1"/>
          <p:nvPr/>
        </p:nvSpPr>
        <p:spPr>
          <a:xfrm>
            <a:off x="6583680" y="4681728"/>
            <a:ext cx="5059375" cy="502920"/>
          </a:xfrm>
          <a:prstGeom prst="rect">
            <a:avLst/>
          </a:prstGeom>
          <a:noFill/>
          <a:ln/>
        </p:spPr>
        <p:txBody>
          <a:bodyPr wrap="square" lIns="0" tIns="0" rIns="0" bIns="0" rtlCol="0" anchor="ctr"/>
          <a:lstStyle/>
          <a:p>
            <a:pPr indent="0" marL="0">
              <a:buNone/>
            </a:pPr>
            <a:r>
              <a:rPr lang="en-US" sz="1500" dirty="0">
                <a:solidFill>
                  <a:srgbClr val="2A323C"/>
                </a:solidFill>
                <a:latin typeface="Inter" pitchFamily="34" charset="0"/>
                <a:ea typeface="Inter" pitchFamily="34" charset="-122"/>
                <a:cs typeface="Inter" pitchFamily="34" charset="-120"/>
              </a:rPr>
              <a:t>Fidelity: did they run it as designed, and what did they count?</a:t>
            </a:r>
            <a:endParaRPr lang="en-US" sz="1500" dirty="0"/>
          </a:p>
        </p:txBody>
      </p:sp>
      <p:sp>
        <p:nvSpPr>
          <p:cNvPr id="37" name="Shape 30"/>
          <p:cNvSpPr/>
          <p:nvPr/>
        </p:nvSpPr>
        <p:spPr>
          <a:xfrm>
            <a:off x="5989320" y="5413248"/>
            <a:ext cx="5653735" cy="548640"/>
          </a:xfrm>
          <a:prstGeom prst="roundRect">
            <a:avLst>
              <a:gd name="adj" fmla="val 16667"/>
            </a:avLst>
          </a:prstGeom>
          <a:solidFill>
            <a:srgbClr val="E2F3F1"/>
          </a:solidFill>
          <a:ln w="19050">
            <a:solidFill>
              <a:srgbClr val="41C5C5"/>
            </a:solidFill>
            <a:prstDash val="solid"/>
          </a:ln>
        </p:spPr>
      </p:sp>
      <p:sp>
        <p:nvSpPr>
          <p:cNvPr id="38" name="Text 31"/>
          <p:cNvSpPr txBox="1"/>
          <p:nvPr/>
        </p:nvSpPr>
        <p:spPr>
          <a:xfrm>
            <a:off x="6217920" y="5413248"/>
            <a:ext cx="5196535" cy="548640"/>
          </a:xfrm>
          <a:prstGeom prst="rect">
            <a:avLst/>
          </a:prstGeom>
          <a:noFill/>
          <a:ln/>
        </p:spPr>
        <p:txBody>
          <a:bodyPr wrap="square" lIns="0" tIns="0" rIns="0" bIns="0" rtlCol="0" anchor="ctr"/>
          <a:lstStyle/>
          <a:p>
            <a:pPr indent="0" marL="0">
              <a:buNone/>
            </a:pPr>
            <a:r>
              <a:rPr lang="en-US" sz="1400" b="1" dirty="0">
                <a:solidFill>
                  <a:srgbClr val="263D57"/>
                </a:solidFill>
                <a:latin typeface="Inter" pitchFamily="34" charset="0"/>
                <a:ea typeface="Inter" pitchFamily="34" charset="-122"/>
                <a:cs typeface="Inter" pitchFamily="34" charset="-120"/>
              </a:rPr>
              <a:t>Success: 4 of 5 coaches pick a card in under 60 seconds and run it in a real session.</a:t>
            </a:r>
            <a:endParaRPr lang="en-US" sz="1400" dirty="0"/>
          </a:p>
        </p:txBody>
      </p:sp>
      <p:sp>
        <p:nvSpPr>
          <p:cNvPr id="25" name="Slide Number Placeholder 0"/>
          <p:cNvSpPr>
            <a:spLocks noGrp="1"/>
          </p:cNvSpPr>
          <p:nvPr>
            <p:ph type="sldNum" sz="quarter" idx="4294967295"/>
          </p:nvPr>
        </p:nvSpPr>
        <p:spPr>
          <a:xfrm>
            <a:off x="10774375"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Inter"/>
                <a:ea typeface="Inter"/>
                <a:cs typeface="Inter"/>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3" type="body" hasCustomPrompt="1"/>
          </p:nvPr>
        </p:nvSpPr>
        <p:spPr>
          <a:xfrm>
            <a:off x="548640" y="402336"/>
            <a:ext cx="8229600" cy="274320"/>
          </a:xfrm>
          <a:prstGeom prst="rect">
            <a:avLst/>
          </a:prstGeom>
          <a:noFill/>
          <a:ln/>
        </p:spPr>
        <p:txBody>
          <a:bodyPr wrap="square" lIns="0" tIns="0" rIns="0" bIns="0" rtlCol="0" anchor="t"/>
          <a:lstStyle/>
          <a:p>
            <a:pPr algn="l" indent="0" marL="0">
              <a:buNone/>
            </a:pPr>
            <a:r>
              <a:rPr lang="en-US" sz="1200" b="1" spc="200" kern="0" dirty="0">
                <a:solidFill>
                  <a:srgbClr val="41C5C5"/>
                </a:solidFill>
                <a:latin typeface="Inter" pitchFamily="34" charset="0"/>
                <a:ea typeface="Inter" pitchFamily="34" charset="-122"/>
                <a:cs typeface="Inter" pitchFamily="34" charset="-120"/>
              </a:rPr>
              <a:t>PLANNING</a:t>
            </a:r>
            <a:endParaRPr lang="en-US" sz="1200" dirty="0"/>
          </a:p>
        </p:txBody>
      </p:sp>
      <p:sp>
        <p:nvSpPr>
          <p:cNvPr id="3" name="Text 2"/>
          <p:cNvSpPr/>
          <p:nvPr>
            <p:ph idx="104" type="title" hasCustomPrompt="1"/>
          </p:nvPr>
        </p:nvSpPr>
        <p:spPr>
          <a:xfrm>
            <a:off x="548640" y="731520"/>
            <a:ext cx="9509760" cy="713232"/>
          </a:xfrm>
          <a:prstGeom prst="rect">
            <a:avLst/>
          </a:prstGeom>
          <a:noFill/>
          <a:ln/>
        </p:spPr>
        <p:txBody>
          <a:bodyPr wrap="square" lIns="0" tIns="0" rIns="0" bIns="0" rtlCol="0" anchor="t"/>
          <a:lstStyle/>
          <a:p>
            <a:pPr algn="l" indent="0" marL="0">
              <a:buNone/>
            </a:pPr>
            <a:r>
              <a:rPr lang="en-US" sz="2600" dirty="0">
                <a:solidFill>
                  <a:srgbClr val="263D57"/>
                </a:solidFill>
                <a:latin typeface="Poppins SemiBold" pitchFamily="34" charset="0"/>
                <a:ea typeface="Poppins SemiBold" pitchFamily="34" charset="-122"/>
                <a:cs typeface="Poppins SemiBold" pitchFamily="34" charset="-120"/>
              </a:rPr>
              <a:t>Who delivers what, and when</a:t>
            </a:r>
            <a:endParaRPr lang="en-US" sz="2600" dirty="0"/>
          </a:p>
        </p:txBody>
      </p:sp>
      <p:sp>
        <p:nvSpPr>
          <p:cNvPr id="4" name="Text 2"/>
          <p:cNvSpPr txBox="1"/>
          <p:nvPr/>
        </p:nvSpPr>
        <p:spPr>
          <a:xfrm>
            <a:off x="3246120" y="1627632"/>
            <a:ext cx="1280160" cy="310896"/>
          </a:xfrm>
          <a:prstGeom prst="roundRect">
            <a:avLst>
              <a:gd name="adj" fmla="val 50000"/>
            </a:avLst>
          </a:prstGeom>
          <a:solidFill>
            <a:srgbClr val="263D57"/>
          </a:solid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Fri 30 Oct</a:t>
            </a:r>
            <a:endParaRPr lang="en-US" sz="1200" dirty="0"/>
          </a:p>
        </p:txBody>
      </p:sp>
      <p:sp>
        <p:nvSpPr>
          <p:cNvPr id="5" name="Text 3"/>
          <p:cNvSpPr txBox="1"/>
          <p:nvPr/>
        </p:nvSpPr>
        <p:spPr>
          <a:xfrm>
            <a:off x="7536028" y="1627632"/>
            <a:ext cx="1280160" cy="310896"/>
          </a:xfrm>
          <a:prstGeom prst="roundRect">
            <a:avLst>
              <a:gd name="adj" fmla="val 50000"/>
            </a:avLst>
          </a:prstGeom>
          <a:solidFill>
            <a:srgbClr val="41C5C5"/>
          </a:solidFill>
          <a:ln/>
        </p:spPr>
        <p:txBody>
          <a:bodyPr wrap="square" lIns="0" tIns="0" rIns="0" bIns="0" rtlCol="0" anchor="ctr"/>
          <a:lstStyle/>
          <a:p>
            <a:pPr algn="ctr" indent="0" marL="0">
              <a:buNone/>
            </a:pPr>
            <a:r>
              <a:rPr lang="en-US" sz="1200" b="1" dirty="0">
                <a:solidFill>
                  <a:srgbClr val="263D57"/>
                </a:solidFill>
                <a:latin typeface="Inter" pitchFamily="34" charset="0"/>
                <a:ea typeface="Inter" pitchFamily="34" charset="-122"/>
                <a:cs typeface="Inter" pitchFamily="34" charset="-120"/>
              </a:rPr>
              <a:t>Fri 13 Nov</a:t>
            </a:r>
            <a:endParaRPr lang="en-US" sz="1200" dirty="0"/>
          </a:p>
        </p:txBody>
      </p:sp>
      <p:sp>
        <p:nvSpPr>
          <p:cNvPr id="6" name="Owner Hugo"/>
          <p:cNvSpPr/>
          <p:nvPr/>
        </p:nvSpPr>
        <p:spPr>
          <a:xfrm>
            <a:off x="548640" y="2084832"/>
            <a:ext cx="2514600" cy="1085088"/>
          </a:xfrm>
          <a:prstGeom prst="roundRect">
            <a:avLst>
              <a:gd name="adj" fmla="val 13483"/>
            </a:avLst>
          </a:prstGeom>
          <a:solidFill>
            <a:srgbClr val="F2F5F8"/>
          </a:solidFill>
          <a:ln w="9525">
            <a:solidFill>
              <a:srgbClr val="E2E8F0"/>
            </a:solidFill>
            <a:prstDash val="solid"/>
          </a:ln>
        </p:spPr>
      </p:sp>
      <p:sp>
        <p:nvSpPr>
          <p:cNvPr id="7" name="Shape 5"/>
          <p:cNvSpPr/>
          <p:nvPr/>
        </p:nvSpPr>
        <p:spPr>
          <a:xfrm>
            <a:off x="731520" y="2389632"/>
            <a:ext cx="475488" cy="475488"/>
          </a:xfrm>
          <a:prstGeom prst="ellipse">
            <a:avLst/>
          </a:prstGeom>
          <a:solidFill>
            <a:srgbClr val="3A506B"/>
          </a:solidFill>
          <a:ln/>
        </p:spPr>
      </p:sp>
      <p:sp>
        <p:nvSpPr>
          <p:cNvPr id="8" name="Text 6"/>
          <p:cNvSpPr txBox="1"/>
          <p:nvPr/>
        </p:nvSpPr>
        <p:spPr>
          <a:xfrm>
            <a:off x="731520" y="2389632"/>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Poppins SemiBold" pitchFamily="34" charset="0"/>
                <a:ea typeface="Poppins SemiBold" pitchFamily="34" charset="-122"/>
                <a:cs typeface="Poppins SemiBold" pitchFamily="34" charset="-120"/>
              </a:rPr>
              <a:t>H</a:t>
            </a:r>
            <a:endParaRPr lang="en-US" sz="1800" dirty="0"/>
          </a:p>
        </p:txBody>
      </p:sp>
      <p:sp>
        <p:nvSpPr>
          <p:cNvPr id="9" name="Text 7"/>
          <p:cNvSpPr txBox="1"/>
          <p:nvPr/>
        </p:nvSpPr>
        <p:spPr>
          <a:xfrm>
            <a:off x="1353312" y="2084832"/>
            <a:ext cx="1600200" cy="1085088"/>
          </a:xfrm>
          <a:prstGeom prst="rect">
            <a:avLst/>
          </a:prstGeom>
          <a:noFill/>
          <a:ln/>
        </p:spPr>
        <p:txBody>
          <a:bodyPr wrap="square" lIns="0" tIns="0" rIns="0" bIns="0" rtlCol="0" anchor="ctr"/>
          <a:lstStyle/>
          <a:p>
            <a:pPr indent="0" marL="0">
              <a:buNone/>
            </a:pPr>
            <a:r>
              <a:rPr lang="en-US" sz="1700" dirty="0">
                <a:solidFill>
                  <a:srgbClr val="263D57"/>
                </a:solidFill>
                <a:latin typeface="Poppins SemiBold" pitchFamily="34" charset="0"/>
                <a:ea typeface="Poppins SemiBold" pitchFamily="34" charset="-122"/>
                <a:cs typeface="Poppins SemiBold" pitchFamily="34" charset="-120"/>
              </a:rPr>
              <a:t>Hugo</a:t>
            </a:r>
            <a:endParaRPr lang="en-US" sz="1700" dirty="0"/>
          </a:p>
          <a:p>
            <a:pPr indent="0" marL="0">
              <a:buNone/>
            </a:pPr>
            <a:r>
              <a:rPr lang="en-US" sz="1200" dirty="0">
                <a:solidFill>
                  <a:srgbClr val="5A6573"/>
                </a:solidFill>
                <a:latin typeface="Inter" pitchFamily="34" charset="0"/>
                <a:ea typeface="Inter" pitchFamily="34" charset="-122"/>
                <a:cs typeface="Inter" pitchFamily="34" charset="-120"/>
              </a:rPr>
              <a:t>Evidence and mechanisms</a:t>
            </a:r>
            <a:endParaRPr lang="en-US" sz="1700" dirty="0"/>
          </a:p>
        </p:txBody>
      </p:sp>
      <p:sp>
        <p:nvSpPr>
          <p:cNvPr id="10" name="Hugo Fri 30 Oct"/>
          <p:cNvSpPr/>
          <p:nvPr/>
        </p:nvSpPr>
        <p:spPr>
          <a:xfrm>
            <a:off x="3246120" y="2084832"/>
            <a:ext cx="4107028" cy="1085088"/>
          </a:xfrm>
          <a:prstGeom prst="roundRect">
            <a:avLst>
              <a:gd name="adj" fmla="val 13483"/>
            </a:avLst>
          </a:prstGeom>
          <a:solidFill>
            <a:srgbClr val="F2F5F8"/>
          </a:solidFill>
          <a:ln w="9525">
            <a:solidFill>
              <a:srgbClr val="E2E8F0"/>
            </a:solidFill>
            <a:prstDash val="solid"/>
          </a:ln>
        </p:spPr>
      </p:sp>
      <p:sp>
        <p:nvSpPr>
          <p:cNvPr id="11" name="Text 9"/>
          <p:cNvSpPr txBox="1"/>
          <p:nvPr/>
        </p:nvSpPr>
        <p:spPr>
          <a:xfrm>
            <a:off x="3474720" y="2084832"/>
            <a:ext cx="3649828" cy="1085088"/>
          </a:xfrm>
          <a:prstGeom prst="rect">
            <a:avLst/>
          </a:prstGeom>
          <a:noFill/>
          <a:ln/>
        </p:spPr>
        <p:txBody>
          <a:bodyPr wrap="square" lIns="0" tIns="0" rIns="0" bIns="0" rtlCol="0" anchor="ctr"/>
          <a:lstStyle/>
          <a:p>
            <a:pPr indent="0" marL="0">
              <a:buNone/>
            </a:pPr>
            <a:r>
              <a:rPr lang="en-US" sz="1400" dirty="0">
                <a:solidFill>
                  <a:srgbClr val="2A323C"/>
                </a:solidFill>
                <a:latin typeface="Inter" pitchFamily="34" charset="0"/>
                <a:ea typeface="Inter" pitchFamily="34" charset="-122"/>
                <a:cs typeface="Inter" pitchFamily="34" charset="-120"/>
              </a:rPr>
              <a:t>Evidence map: six functions by match situation, graded A, B or C. One page on what we can and cannot say.</a:t>
            </a:r>
            <a:endParaRPr lang="en-US" sz="1400" dirty="0"/>
          </a:p>
        </p:txBody>
      </p:sp>
      <p:sp>
        <p:nvSpPr>
          <p:cNvPr id="12" name="Hugo Fri 13 Nov"/>
          <p:cNvSpPr/>
          <p:nvPr/>
        </p:nvSpPr>
        <p:spPr>
          <a:xfrm>
            <a:off x="7536028" y="2084832"/>
            <a:ext cx="4107028" cy="1085088"/>
          </a:xfrm>
          <a:prstGeom prst="roundRect">
            <a:avLst>
              <a:gd name="adj" fmla="val 13483"/>
            </a:avLst>
          </a:prstGeom>
          <a:solidFill>
            <a:srgbClr val="F2F5F8"/>
          </a:solidFill>
          <a:ln w="9525">
            <a:solidFill>
              <a:srgbClr val="E2E8F0"/>
            </a:solidFill>
            <a:prstDash val="solid"/>
          </a:ln>
        </p:spPr>
      </p:sp>
      <p:sp>
        <p:nvSpPr>
          <p:cNvPr id="13" name="Text 11"/>
          <p:cNvSpPr txBox="1"/>
          <p:nvPr/>
        </p:nvSpPr>
        <p:spPr>
          <a:xfrm>
            <a:off x="7764628" y="2084832"/>
            <a:ext cx="3649828" cy="1085088"/>
          </a:xfrm>
          <a:prstGeom prst="rect">
            <a:avLst/>
          </a:prstGeom>
          <a:noFill/>
          <a:ln/>
        </p:spPr>
        <p:txBody>
          <a:bodyPr wrap="square" lIns="0" tIns="0" rIns="0" bIns="0" rtlCol="0" anchor="ctr"/>
          <a:lstStyle/>
          <a:p>
            <a:pPr indent="0" marL="0">
              <a:buNone/>
            </a:pPr>
            <a:r>
              <a:rPr lang="en-US" sz="1400" dirty="0">
                <a:solidFill>
                  <a:srgbClr val="2A323C"/>
                </a:solidFill>
                <a:latin typeface="Inter" pitchFamily="34" charset="0"/>
                <a:ea typeface="Inter" pitchFamily="34" charset="-122"/>
                <a:cs typeface="Inter" pitchFamily="34" charset="-120"/>
              </a:rPr>
              <a:t>Mechanism sentence, count and evidence label checked on every card. Coach one-pager on transfer.</a:t>
            </a:r>
            <a:endParaRPr lang="en-US" sz="1400" dirty="0"/>
          </a:p>
        </p:txBody>
      </p:sp>
      <p:sp>
        <p:nvSpPr>
          <p:cNvPr id="14" name="Owner Esmee"/>
          <p:cNvSpPr/>
          <p:nvPr/>
        </p:nvSpPr>
        <p:spPr>
          <a:xfrm>
            <a:off x="548640" y="3279648"/>
            <a:ext cx="2514600" cy="1085088"/>
          </a:xfrm>
          <a:prstGeom prst="roundRect">
            <a:avLst>
              <a:gd name="adj" fmla="val 13483"/>
            </a:avLst>
          </a:prstGeom>
          <a:solidFill>
            <a:srgbClr val="F2F5F8"/>
          </a:solidFill>
          <a:ln w="9525">
            <a:solidFill>
              <a:srgbClr val="E2E8F0"/>
            </a:solidFill>
            <a:prstDash val="solid"/>
          </a:ln>
        </p:spPr>
      </p:sp>
      <p:sp>
        <p:nvSpPr>
          <p:cNvPr id="15" name="Shape 13"/>
          <p:cNvSpPr/>
          <p:nvPr/>
        </p:nvSpPr>
        <p:spPr>
          <a:xfrm>
            <a:off x="731520" y="3584448"/>
            <a:ext cx="475488" cy="475488"/>
          </a:xfrm>
          <a:prstGeom prst="ellipse">
            <a:avLst/>
          </a:prstGeom>
          <a:solidFill>
            <a:srgbClr val="007D8C"/>
          </a:solidFill>
          <a:ln/>
        </p:spPr>
      </p:sp>
      <p:sp>
        <p:nvSpPr>
          <p:cNvPr id="16" name="Text 14"/>
          <p:cNvSpPr txBox="1"/>
          <p:nvPr/>
        </p:nvSpPr>
        <p:spPr>
          <a:xfrm>
            <a:off x="731520" y="358444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Poppins SemiBold" pitchFamily="34" charset="0"/>
                <a:ea typeface="Poppins SemiBold" pitchFamily="34" charset="-122"/>
                <a:cs typeface="Poppins SemiBold" pitchFamily="34" charset="-120"/>
              </a:rPr>
              <a:t>E</a:t>
            </a:r>
            <a:endParaRPr lang="en-US" sz="1800" dirty="0"/>
          </a:p>
        </p:txBody>
      </p:sp>
      <p:sp>
        <p:nvSpPr>
          <p:cNvPr id="17" name="Text 15"/>
          <p:cNvSpPr txBox="1"/>
          <p:nvPr/>
        </p:nvSpPr>
        <p:spPr>
          <a:xfrm>
            <a:off x="1353312" y="3279648"/>
            <a:ext cx="1600200" cy="1085088"/>
          </a:xfrm>
          <a:prstGeom prst="rect">
            <a:avLst/>
          </a:prstGeom>
          <a:noFill/>
          <a:ln/>
        </p:spPr>
        <p:txBody>
          <a:bodyPr wrap="square" lIns="0" tIns="0" rIns="0" bIns="0" rtlCol="0" anchor="ctr"/>
          <a:lstStyle/>
          <a:p>
            <a:pPr indent="0" marL="0">
              <a:buNone/>
            </a:pPr>
            <a:r>
              <a:rPr lang="en-US" sz="1700" dirty="0">
                <a:solidFill>
                  <a:srgbClr val="263D57"/>
                </a:solidFill>
                <a:latin typeface="Poppins SemiBold" pitchFamily="34" charset="0"/>
                <a:ea typeface="Poppins SemiBold" pitchFamily="34" charset="-122"/>
                <a:cs typeface="Poppins SemiBold" pitchFamily="34" charset="-120"/>
              </a:rPr>
              <a:t>Esmee</a:t>
            </a:r>
            <a:endParaRPr lang="en-US" sz="1700" dirty="0"/>
          </a:p>
          <a:p>
            <a:pPr indent="0" marL="0">
              <a:buNone/>
            </a:pPr>
            <a:r>
              <a:rPr lang="en-US" sz="1200" dirty="0">
                <a:solidFill>
                  <a:srgbClr val="5A6573"/>
                </a:solidFill>
                <a:latin typeface="Inter" pitchFamily="34" charset="0"/>
                <a:ea typeface="Inter" pitchFamily="34" charset="-122"/>
                <a:cs typeface="Inter" pitchFamily="34" charset="-120"/>
              </a:rPr>
              <a:t>Drill library and AI workflow</a:t>
            </a:r>
            <a:endParaRPr lang="en-US" sz="1700" dirty="0"/>
          </a:p>
        </p:txBody>
      </p:sp>
      <p:sp>
        <p:nvSpPr>
          <p:cNvPr id="18" name="Esmee Fri 30 Oct"/>
          <p:cNvSpPr/>
          <p:nvPr/>
        </p:nvSpPr>
        <p:spPr>
          <a:xfrm>
            <a:off x="3246120" y="3279648"/>
            <a:ext cx="4107028" cy="1085088"/>
          </a:xfrm>
          <a:prstGeom prst="roundRect">
            <a:avLst>
              <a:gd name="adj" fmla="val 13483"/>
            </a:avLst>
          </a:prstGeom>
          <a:solidFill>
            <a:srgbClr val="F2F5F8"/>
          </a:solidFill>
          <a:ln w="9525">
            <a:solidFill>
              <a:srgbClr val="E2E8F0"/>
            </a:solidFill>
            <a:prstDash val="solid"/>
          </a:ln>
        </p:spPr>
      </p:sp>
      <p:sp>
        <p:nvSpPr>
          <p:cNvPr id="19" name="Text 17"/>
          <p:cNvSpPr txBox="1"/>
          <p:nvPr/>
        </p:nvSpPr>
        <p:spPr>
          <a:xfrm>
            <a:off x="3474720" y="3279648"/>
            <a:ext cx="3649828" cy="1085088"/>
          </a:xfrm>
          <a:prstGeom prst="rect">
            <a:avLst/>
          </a:prstGeom>
          <a:noFill/>
          <a:ln/>
        </p:spPr>
        <p:txBody>
          <a:bodyPr wrap="square" lIns="0" tIns="0" rIns="0" bIns="0" rtlCol="0" anchor="ctr"/>
          <a:lstStyle/>
          <a:p>
            <a:pPr indent="0" marL="0">
              <a:buNone/>
            </a:pPr>
            <a:r>
              <a:rPr lang="en-US" sz="1400" dirty="0">
                <a:solidFill>
                  <a:srgbClr val="2A323C"/>
                </a:solidFill>
                <a:latin typeface="Inter" pitchFamily="34" charset="0"/>
                <a:ea typeface="Inter" pitchFamily="34" charset="-122"/>
                <a:cs typeface="Inter" pitchFamily="34" charset="-120"/>
              </a:rPr>
              <a:t>Card template and six pilot cards (rondo, positional game, small-sided game, finishing). Workflow renders one card.</a:t>
            </a:r>
            <a:endParaRPr lang="en-US" sz="1400" dirty="0"/>
          </a:p>
        </p:txBody>
      </p:sp>
      <p:sp>
        <p:nvSpPr>
          <p:cNvPr id="20" name="Esmee Fri 13 Nov"/>
          <p:cNvSpPr/>
          <p:nvPr/>
        </p:nvSpPr>
        <p:spPr>
          <a:xfrm>
            <a:off x="7536028" y="3279648"/>
            <a:ext cx="4107028" cy="1085088"/>
          </a:xfrm>
          <a:prstGeom prst="roundRect">
            <a:avLst>
              <a:gd name="adj" fmla="val 13483"/>
            </a:avLst>
          </a:prstGeom>
          <a:solidFill>
            <a:srgbClr val="F2F5F8"/>
          </a:solidFill>
          <a:ln w="9525">
            <a:solidFill>
              <a:srgbClr val="E2E8F0"/>
            </a:solidFill>
            <a:prstDash val="solid"/>
          </a:ln>
        </p:spPr>
      </p:sp>
      <p:sp>
        <p:nvSpPr>
          <p:cNvPr id="21" name="Text 19"/>
          <p:cNvSpPr txBox="1"/>
          <p:nvPr/>
        </p:nvSpPr>
        <p:spPr>
          <a:xfrm>
            <a:off x="7764628" y="3279648"/>
            <a:ext cx="3649828" cy="1085088"/>
          </a:xfrm>
          <a:prstGeom prst="rect">
            <a:avLst/>
          </a:prstGeom>
          <a:noFill/>
          <a:ln/>
        </p:spPr>
        <p:txBody>
          <a:bodyPr wrap="square" lIns="0" tIns="0" rIns="0" bIns="0" rtlCol="0" anchor="ctr"/>
          <a:lstStyle/>
          <a:p>
            <a:pPr indent="0" marL="0">
              <a:buNone/>
            </a:pPr>
            <a:r>
              <a:rPr lang="en-US" sz="1400" dirty="0">
                <a:solidFill>
                  <a:srgbClr val="2A323C"/>
                </a:solidFill>
                <a:latin typeface="Inter" pitchFamily="34" charset="0"/>
                <a:ea typeface="Inter" pitchFamily="34" charset="-122"/>
                <a:cs typeface="Inter" pitchFamily="34" charset="-120"/>
              </a:rPr>
              <a:t>15–20 cards with generated visuals. Workflow documented: a new card in under 30 minutes.</a:t>
            </a:r>
            <a:endParaRPr lang="en-US" sz="1400" dirty="0"/>
          </a:p>
        </p:txBody>
      </p:sp>
      <p:sp>
        <p:nvSpPr>
          <p:cNvPr id="22" name="Owner Melina"/>
          <p:cNvSpPr/>
          <p:nvPr/>
        </p:nvSpPr>
        <p:spPr>
          <a:xfrm>
            <a:off x="548640" y="4474464"/>
            <a:ext cx="2514600" cy="1085088"/>
          </a:xfrm>
          <a:prstGeom prst="roundRect">
            <a:avLst>
              <a:gd name="adj" fmla="val 13483"/>
            </a:avLst>
          </a:prstGeom>
          <a:solidFill>
            <a:srgbClr val="F2F5F8"/>
          </a:solidFill>
          <a:ln w="9525">
            <a:solidFill>
              <a:srgbClr val="E2E8F0"/>
            </a:solidFill>
            <a:prstDash val="solid"/>
          </a:ln>
        </p:spPr>
      </p:sp>
      <p:sp>
        <p:nvSpPr>
          <p:cNvPr id="23" name="Shape 21"/>
          <p:cNvSpPr/>
          <p:nvPr/>
        </p:nvSpPr>
        <p:spPr>
          <a:xfrm>
            <a:off x="731520" y="4779264"/>
            <a:ext cx="475488" cy="475488"/>
          </a:xfrm>
          <a:prstGeom prst="ellipse">
            <a:avLst/>
          </a:prstGeom>
          <a:solidFill>
            <a:srgbClr val="41C5C5"/>
          </a:solidFill>
          <a:ln/>
        </p:spPr>
      </p:sp>
      <p:sp>
        <p:nvSpPr>
          <p:cNvPr id="24" name="Text 22"/>
          <p:cNvSpPr txBox="1"/>
          <p:nvPr/>
        </p:nvSpPr>
        <p:spPr>
          <a:xfrm>
            <a:off x="731520" y="4779264"/>
            <a:ext cx="475488" cy="475488"/>
          </a:xfrm>
          <a:prstGeom prst="rect">
            <a:avLst/>
          </a:prstGeom>
          <a:noFill/>
          <a:ln/>
        </p:spPr>
        <p:txBody>
          <a:bodyPr wrap="square" lIns="0" tIns="0" rIns="0" bIns="0" rtlCol="0" anchor="ctr"/>
          <a:lstStyle/>
          <a:p>
            <a:pPr algn="ctr" indent="0" marL="0">
              <a:buNone/>
            </a:pPr>
            <a:r>
              <a:rPr lang="en-US" sz="1800" b="1" dirty="0">
                <a:solidFill>
                  <a:srgbClr val="263D57"/>
                </a:solidFill>
                <a:latin typeface="Poppins SemiBold" pitchFamily="34" charset="0"/>
                <a:ea typeface="Poppins SemiBold" pitchFamily="34" charset="-122"/>
                <a:cs typeface="Poppins SemiBold" pitchFamily="34" charset="-120"/>
              </a:rPr>
              <a:t>M</a:t>
            </a:r>
            <a:endParaRPr lang="en-US" sz="1800" dirty="0"/>
          </a:p>
        </p:txBody>
      </p:sp>
      <p:sp>
        <p:nvSpPr>
          <p:cNvPr id="25" name="Text 23"/>
          <p:cNvSpPr txBox="1"/>
          <p:nvPr/>
        </p:nvSpPr>
        <p:spPr>
          <a:xfrm>
            <a:off x="1353312" y="4474464"/>
            <a:ext cx="1600200" cy="1085088"/>
          </a:xfrm>
          <a:prstGeom prst="rect">
            <a:avLst/>
          </a:prstGeom>
          <a:noFill/>
          <a:ln/>
        </p:spPr>
        <p:txBody>
          <a:bodyPr wrap="square" lIns="0" tIns="0" rIns="0" bIns="0" rtlCol="0" anchor="ctr"/>
          <a:lstStyle/>
          <a:p>
            <a:pPr indent="0" marL="0">
              <a:buNone/>
            </a:pPr>
            <a:r>
              <a:rPr lang="en-US" sz="1700" dirty="0">
                <a:solidFill>
                  <a:srgbClr val="263D57"/>
                </a:solidFill>
                <a:latin typeface="Poppins SemiBold" pitchFamily="34" charset="0"/>
                <a:ea typeface="Poppins SemiBold" pitchFamily="34" charset="-122"/>
                <a:cs typeface="Poppins SemiBold" pitchFamily="34" charset="-120"/>
              </a:rPr>
              <a:t>Melina</a:t>
            </a:r>
            <a:endParaRPr lang="en-US" sz="1700" dirty="0"/>
          </a:p>
          <a:p>
            <a:pPr indent="0" marL="0">
              <a:buNone/>
            </a:pPr>
            <a:r>
              <a:rPr lang="en-US" sz="1200" dirty="0">
                <a:solidFill>
                  <a:srgbClr val="5A6573"/>
                </a:solidFill>
                <a:latin typeface="Inter" pitchFamily="34" charset="0"/>
                <a:ea typeface="Inter" pitchFamily="34" charset="-122"/>
                <a:cs typeface="Inter" pitchFamily="34" charset="-120"/>
              </a:rPr>
              <a:t>Coaches and prototype</a:t>
            </a:r>
            <a:endParaRPr lang="en-US" sz="1700" dirty="0"/>
          </a:p>
        </p:txBody>
      </p:sp>
      <p:sp>
        <p:nvSpPr>
          <p:cNvPr id="26" name="Melina Fri 30 Oct"/>
          <p:cNvSpPr/>
          <p:nvPr/>
        </p:nvSpPr>
        <p:spPr>
          <a:xfrm>
            <a:off x="3246120" y="4474464"/>
            <a:ext cx="4107028" cy="1085088"/>
          </a:xfrm>
          <a:prstGeom prst="roundRect">
            <a:avLst>
              <a:gd name="adj" fmla="val 13483"/>
            </a:avLst>
          </a:prstGeom>
          <a:solidFill>
            <a:srgbClr val="F2F5F8"/>
          </a:solidFill>
          <a:ln w="9525">
            <a:solidFill>
              <a:srgbClr val="E2E8F0"/>
            </a:solidFill>
            <a:prstDash val="solid"/>
          </a:ln>
        </p:spPr>
      </p:sp>
      <p:sp>
        <p:nvSpPr>
          <p:cNvPr id="27" name="Text 25"/>
          <p:cNvSpPr txBox="1"/>
          <p:nvPr/>
        </p:nvSpPr>
        <p:spPr>
          <a:xfrm>
            <a:off x="3474720" y="4474464"/>
            <a:ext cx="3649828" cy="1085088"/>
          </a:xfrm>
          <a:prstGeom prst="rect">
            <a:avLst/>
          </a:prstGeom>
          <a:noFill/>
          <a:ln/>
        </p:spPr>
        <p:txBody>
          <a:bodyPr wrap="square" lIns="0" tIns="0" rIns="0" bIns="0" rtlCol="0" anchor="ctr"/>
          <a:lstStyle/>
          <a:p>
            <a:pPr indent="0" marL="0">
              <a:buNone/>
            </a:pPr>
            <a:r>
              <a:rPr lang="en-US" sz="1400" dirty="0">
                <a:solidFill>
                  <a:srgbClr val="2A323C"/>
                </a:solidFill>
                <a:latin typeface="Inter" pitchFamily="34" charset="0"/>
                <a:ea typeface="Inter" pitchFamily="34" charset="-122"/>
                <a:cs typeface="Inter" pitchFamily="34" charset="-120"/>
              </a:rPr>
              <a:t>Stakeholder map checked with BrainsFirst. At least five coach sessions booked. Tablet wireframe v0.</a:t>
            </a:r>
            <a:endParaRPr lang="en-US" sz="1400" dirty="0"/>
          </a:p>
        </p:txBody>
      </p:sp>
      <p:sp>
        <p:nvSpPr>
          <p:cNvPr id="28" name="Melina Fri 13 Nov"/>
          <p:cNvSpPr/>
          <p:nvPr/>
        </p:nvSpPr>
        <p:spPr>
          <a:xfrm>
            <a:off x="7536028" y="4474464"/>
            <a:ext cx="4107028" cy="1085088"/>
          </a:xfrm>
          <a:prstGeom prst="roundRect">
            <a:avLst>
              <a:gd name="adj" fmla="val 13483"/>
            </a:avLst>
          </a:prstGeom>
          <a:solidFill>
            <a:srgbClr val="F2F5F8"/>
          </a:solidFill>
          <a:ln w="9525">
            <a:solidFill>
              <a:srgbClr val="E2E8F0"/>
            </a:solidFill>
            <a:prstDash val="solid"/>
          </a:ln>
        </p:spPr>
      </p:sp>
      <p:sp>
        <p:nvSpPr>
          <p:cNvPr id="29" name="Text 27"/>
          <p:cNvSpPr txBox="1"/>
          <p:nvPr/>
        </p:nvSpPr>
        <p:spPr>
          <a:xfrm>
            <a:off x="7764628" y="4474464"/>
            <a:ext cx="3649828" cy="1085088"/>
          </a:xfrm>
          <a:prstGeom prst="rect">
            <a:avLst/>
          </a:prstGeom>
          <a:noFill/>
          <a:ln/>
        </p:spPr>
        <p:txBody>
          <a:bodyPr wrap="square" lIns="0" tIns="0" rIns="0" bIns="0" rtlCol="0" anchor="ctr"/>
          <a:lstStyle/>
          <a:p>
            <a:pPr indent="0" marL="0">
              <a:buNone/>
            </a:pPr>
            <a:r>
              <a:rPr lang="en-US" sz="1400" dirty="0">
                <a:solidFill>
                  <a:srgbClr val="2A323C"/>
                </a:solidFill>
                <a:latin typeface="Inter" pitchFamily="34" charset="0"/>
                <a:ea typeface="Inter" pitchFamily="34" charset="-122"/>
                <a:cs typeface="Inter" pitchFamily="34" charset="-120"/>
              </a:rPr>
              <a:t>Prototype tested with at least five coaches: time to pick, intent, fidelity. List of changes.</a:t>
            </a:r>
            <a:endParaRPr lang="en-US" sz="1400" dirty="0"/>
          </a:p>
        </p:txBody>
      </p:sp>
      <p:sp>
        <p:nvSpPr>
          <p:cNvPr id="30" name="Shape 28"/>
          <p:cNvSpPr/>
          <p:nvPr/>
        </p:nvSpPr>
        <p:spPr>
          <a:xfrm>
            <a:off x="548640" y="5650992"/>
            <a:ext cx="11094415" cy="457200"/>
          </a:xfrm>
          <a:prstGeom prst="roundRect">
            <a:avLst>
              <a:gd name="adj" fmla="val 20000"/>
            </a:avLst>
          </a:prstGeom>
          <a:solidFill>
            <a:srgbClr val="F2F5F8"/>
          </a:solidFill>
          <a:ln/>
        </p:spPr>
      </p:sp>
      <p:sp>
        <p:nvSpPr>
          <p:cNvPr id="31" name="Text 29"/>
          <p:cNvSpPr txBox="1"/>
          <p:nvPr/>
        </p:nvSpPr>
        <p:spPr>
          <a:xfrm>
            <a:off x="777240" y="5650992"/>
            <a:ext cx="10637215" cy="457200"/>
          </a:xfrm>
          <a:prstGeom prst="rect">
            <a:avLst/>
          </a:prstGeom>
          <a:noFill/>
          <a:ln/>
        </p:spPr>
        <p:txBody>
          <a:bodyPr wrap="square" lIns="0" tIns="0" rIns="0" bIns="0" rtlCol="0" anchor="ctr"/>
          <a:lstStyle/>
          <a:p>
            <a:pPr indent="0" marL="0">
              <a:buNone/>
            </a:pPr>
            <a:r>
              <a:rPr lang="en-US" sz="1400" dirty="0">
                <a:solidFill>
                  <a:srgbClr val="263D57"/>
                </a:solidFill>
                <a:latin typeface="Inter" pitchFamily="34" charset="0"/>
                <a:ea typeface="Inter" pitchFamily="34" charset="-122"/>
                <a:cs typeface="Inter" pitchFamily="34" charset="-120"/>
              </a:rPr>
              <a:t>Fri 20 Nov, together: final pitch with live library, working workflow and coach test report.</a:t>
            </a:r>
            <a:endParaRPr lang="en-US" sz="1400" dirty="0"/>
          </a:p>
        </p:txBody>
      </p:sp>
      <p:sp>
        <p:nvSpPr>
          <p:cNvPr id="25" name="Slide Number Placeholder 0"/>
          <p:cNvSpPr>
            <a:spLocks noGrp="1"/>
          </p:cNvSpPr>
          <p:nvPr>
            <p:ph type="sldNum" sz="quarter" idx="4294967295"/>
          </p:nvPr>
        </p:nvSpPr>
        <p:spPr>
          <a:xfrm>
            <a:off x="10774375"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Inter"/>
                <a:ea typeface="Inter"/>
                <a:cs typeface="Inter"/>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3" type="body" hasCustomPrompt="1"/>
          </p:nvPr>
        </p:nvSpPr>
        <p:spPr>
          <a:xfrm>
            <a:off x="548640" y="402336"/>
            <a:ext cx="8229600" cy="274320"/>
          </a:xfrm>
          <a:prstGeom prst="rect">
            <a:avLst/>
          </a:prstGeom>
          <a:noFill/>
          <a:ln/>
        </p:spPr>
        <p:txBody>
          <a:bodyPr wrap="square" lIns="0" tIns="0" rIns="0" bIns="0" rtlCol="0" anchor="t"/>
          <a:lstStyle/>
          <a:p>
            <a:pPr algn="l" indent="0" marL="0">
              <a:buNone/>
            </a:pPr>
            <a:r>
              <a:rPr lang="en-US" sz="1200" b="1" spc="200" kern="0" dirty="0">
                <a:solidFill>
                  <a:srgbClr val="41C5C5"/>
                </a:solidFill>
                <a:latin typeface="Inter" pitchFamily="34" charset="0"/>
                <a:ea typeface="Inter" pitchFamily="34" charset="-122"/>
                <a:cs typeface="Inter" pitchFamily="34" charset="-120"/>
              </a:rPr>
              <a:t>ASKS</a:t>
            </a:r>
            <a:endParaRPr lang="en-US" sz="1200" dirty="0"/>
          </a:p>
        </p:txBody>
      </p:sp>
      <p:sp>
        <p:nvSpPr>
          <p:cNvPr id="3" name="Text 2"/>
          <p:cNvSpPr/>
          <p:nvPr>
            <p:ph idx="104" type="title" hasCustomPrompt="1"/>
          </p:nvPr>
        </p:nvSpPr>
        <p:spPr>
          <a:xfrm>
            <a:off x="548640" y="731520"/>
            <a:ext cx="9509760" cy="713232"/>
          </a:xfrm>
          <a:prstGeom prst="rect">
            <a:avLst/>
          </a:prstGeom>
          <a:noFill/>
          <a:ln/>
        </p:spPr>
        <p:txBody>
          <a:bodyPr wrap="square" lIns="0" tIns="0" rIns="0" bIns="0" rtlCol="0" anchor="t"/>
          <a:lstStyle/>
          <a:p>
            <a:pPr algn="l" indent="0" marL="0">
              <a:buNone/>
            </a:pPr>
            <a:r>
              <a:rPr lang="en-US" sz="2600" dirty="0">
                <a:solidFill>
                  <a:srgbClr val="263D57"/>
                </a:solidFill>
                <a:latin typeface="Poppins SemiBold" pitchFamily="34" charset="0"/>
                <a:ea typeface="Poppins SemiBold" pitchFamily="34" charset="-122"/>
                <a:cs typeface="Poppins SemiBold" pitchFamily="34" charset="-120"/>
              </a:rPr>
              <a:t>Our asks for Friday, and what we won't claim</a:t>
            </a:r>
            <a:endParaRPr lang="en-US" sz="2600" dirty="0"/>
          </a:p>
        </p:txBody>
      </p:sp>
      <p:sp>
        <p:nvSpPr>
          <p:cNvPr id="4" name="We need"/>
          <p:cNvSpPr/>
          <p:nvPr/>
        </p:nvSpPr>
        <p:spPr>
          <a:xfrm>
            <a:off x="548640" y="1664208"/>
            <a:ext cx="5410048" cy="3703320"/>
          </a:xfrm>
          <a:prstGeom prst="roundRect">
            <a:avLst>
              <a:gd name="adj" fmla="val 3951"/>
            </a:avLst>
          </a:prstGeom>
          <a:solidFill>
            <a:srgbClr val="F2F5F8"/>
          </a:solidFill>
          <a:ln w="9525">
            <a:solidFill>
              <a:srgbClr val="E2E8F0"/>
            </a:solidFill>
            <a:prstDash val="solid"/>
          </a:ln>
        </p:spPr>
      </p:sp>
      <p:sp>
        <p:nvSpPr>
          <p:cNvPr id="5" name="Text 3"/>
          <p:cNvSpPr txBox="1"/>
          <p:nvPr/>
        </p:nvSpPr>
        <p:spPr>
          <a:xfrm>
            <a:off x="868680" y="1920240"/>
            <a:ext cx="4769968" cy="411480"/>
          </a:xfrm>
          <a:prstGeom prst="rect">
            <a:avLst/>
          </a:prstGeom>
          <a:noFill/>
          <a:ln/>
        </p:spPr>
        <p:txBody>
          <a:bodyPr wrap="square" lIns="0" tIns="0" rIns="0" bIns="0" rtlCol="0" anchor="t"/>
          <a:lstStyle/>
          <a:p>
            <a:pPr indent="0" marL="0">
              <a:buNone/>
            </a:pPr>
            <a:r>
              <a:rPr lang="en-US" sz="2000" dirty="0">
                <a:solidFill>
                  <a:srgbClr val="007D8C"/>
                </a:solidFill>
                <a:latin typeface="Poppins SemiBold" pitchFamily="34" charset="0"/>
                <a:ea typeface="Poppins SemiBold" pitchFamily="34" charset="-122"/>
                <a:cs typeface="Poppins SemiBold" pitchFamily="34" charset="-120"/>
              </a:rPr>
              <a:t>We need</a:t>
            </a:r>
            <a:endParaRPr lang="en-US" sz="2000" dirty="0"/>
          </a:p>
        </p:txBody>
      </p:sp>
      <p:pic>
        <p:nvPicPr>
          <p:cNvPr id="6" name="Image 0" descr="preencoded.png">    </p:cNvPr>
          <p:cNvPicPr>
            <a:picLocks noChangeAspect="1"/>
          </p:cNvPicPr>
          <p:nvPr/>
        </p:nvPicPr>
        <p:blipFill>
          <a:blip r:embed="rId1"/>
          <a:stretch>
            <a:fillRect/>
          </a:stretch>
        </p:blipFill>
        <p:spPr>
          <a:xfrm>
            <a:off x="868680" y="2569464"/>
            <a:ext cx="310896" cy="310896"/>
          </a:xfrm>
          <a:prstGeom prst="rect">
            <a:avLst/>
          </a:prstGeom>
        </p:spPr>
      </p:pic>
      <p:sp>
        <p:nvSpPr>
          <p:cNvPr id="7" name="Text 4"/>
          <p:cNvSpPr txBox="1"/>
          <p:nvPr/>
        </p:nvSpPr>
        <p:spPr>
          <a:xfrm>
            <a:off x="1353312" y="2532888"/>
            <a:ext cx="4312768" cy="658368"/>
          </a:xfrm>
          <a:prstGeom prst="rect">
            <a:avLst/>
          </a:prstGeom>
          <a:noFill/>
          <a:ln/>
        </p:spPr>
        <p:txBody>
          <a:bodyPr wrap="square" lIns="0" tIns="0" rIns="0" bIns="0" rtlCol="0" anchor="t"/>
          <a:lstStyle/>
          <a:p>
            <a:pPr indent="0" marL="0">
              <a:buNone/>
            </a:pPr>
            <a:r>
              <a:rPr lang="en-US" sz="1600" dirty="0">
                <a:solidFill>
                  <a:srgbClr val="2A323C"/>
                </a:solidFill>
                <a:latin typeface="Inter" pitchFamily="34" charset="0"/>
                <a:ea typeface="Inter" pitchFamily="34" charset="-122"/>
                <a:cs typeface="Inter" pitchFamily="34" charset="-120"/>
              </a:rPr>
              <a:t>The Football Brain labels and how they are explained to staff</a:t>
            </a:r>
            <a:endParaRPr lang="en-US" sz="1600" dirty="0"/>
          </a:p>
        </p:txBody>
      </p:sp>
      <p:pic>
        <p:nvPicPr>
          <p:cNvPr id="8" name="Image 1" descr="preencoded.png">    </p:cNvPr>
          <p:cNvPicPr>
            <a:picLocks noChangeAspect="1"/>
          </p:cNvPicPr>
          <p:nvPr/>
        </p:nvPicPr>
        <p:blipFill>
          <a:blip r:embed="rId2"/>
          <a:stretch>
            <a:fillRect/>
          </a:stretch>
        </p:blipFill>
        <p:spPr>
          <a:xfrm>
            <a:off x="868680" y="3282696"/>
            <a:ext cx="310896" cy="310896"/>
          </a:xfrm>
          <a:prstGeom prst="rect">
            <a:avLst/>
          </a:prstGeom>
        </p:spPr>
      </p:pic>
      <p:sp>
        <p:nvSpPr>
          <p:cNvPr id="9" name="Text 5"/>
          <p:cNvSpPr txBox="1"/>
          <p:nvPr/>
        </p:nvSpPr>
        <p:spPr>
          <a:xfrm>
            <a:off x="1353312" y="3246120"/>
            <a:ext cx="4312768" cy="658368"/>
          </a:xfrm>
          <a:prstGeom prst="rect">
            <a:avLst/>
          </a:prstGeom>
          <a:noFill/>
          <a:ln/>
        </p:spPr>
        <p:txBody>
          <a:bodyPr wrap="square" lIns="0" tIns="0" rIns="0" bIns="0" rtlCol="0" anchor="t"/>
          <a:lstStyle/>
          <a:p>
            <a:pPr indent="0" marL="0">
              <a:buNone/>
            </a:pPr>
            <a:r>
              <a:rPr lang="en-US" sz="1600" dirty="0">
                <a:solidFill>
                  <a:srgbClr val="2A323C"/>
                </a:solidFill>
                <a:latin typeface="Inter" pitchFamily="34" charset="0"/>
                <a:ea typeface="Inter" pitchFamily="34" charset="-122"/>
                <a:cs typeface="Inter" pitchFamily="34" charset="-120"/>
              </a:rPr>
              <a:t>5–10 anonymised U13–U15 profiles for realistic examples</a:t>
            </a:r>
            <a:endParaRPr lang="en-US" sz="1600" dirty="0"/>
          </a:p>
        </p:txBody>
      </p:sp>
      <p:pic>
        <p:nvPicPr>
          <p:cNvPr id="10" name="Image 2" descr="preencoded.png">    </p:cNvPr>
          <p:cNvPicPr>
            <a:picLocks noChangeAspect="1"/>
          </p:cNvPicPr>
          <p:nvPr/>
        </p:nvPicPr>
        <p:blipFill>
          <a:blip r:embed="rId3"/>
          <a:stretch>
            <a:fillRect/>
          </a:stretch>
        </p:blipFill>
        <p:spPr>
          <a:xfrm>
            <a:off x="868680" y="3995928"/>
            <a:ext cx="310896" cy="310896"/>
          </a:xfrm>
          <a:prstGeom prst="rect">
            <a:avLst/>
          </a:prstGeom>
        </p:spPr>
      </p:pic>
      <p:sp>
        <p:nvSpPr>
          <p:cNvPr id="11" name="Text 6"/>
          <p:cNvSpPr txBox="1"/>
          <p:nvPr/>
        </p:nvSpPr>
        <p:spPr>
          <a:xfrm>
            <a:off x="1353312" y="3959352"/>
            <a:ext cx="4312768" cy="658368"/>
          </a:xfrm>
          <a:prstGeom prst="rect">
            <a:avLst/>
          </a:prstGeom>
          <a:noFill/>
          <a:ln/>
        </p:spPr>
        <p:txBody>
          <a:bodyPr wrap="square" lIns="0" tIns="0" rIns="0" bIns="0" rtlCol="0" anchor="t"/>
          <a:lstStyle/>
          <a:p>
            <a:pPr indent="0" marL="0">
              <a:buNone/>
            </a:pPr>
            <a:r>
              <a:rPr lang="en-US" sz="1600" dirty="0">
                <a:solidFill>
                  <a:srgbClr val="2A323C"/>
                </a:solidFill>
                <a:latin typeface="Inter" pitchFamily="34" charset="0"/>
                <a:ea typeface="Inter" pitchFamily="34" charset="-122"/>
                <a:cs typeface="Inter" pitchFamily="34" charset="-120"/>
              </a:rPr>
              <a:t>Introductions to youth coaches for sessions in weeks 2 and 3</a:t>
            </a:r>
            <a:endParaRPr lang="en-US" sz="1600" dirty="0"/>
          </a:p>
        </p:txBody>
      </p:sp>
      <p:pic>
        <p:nvPicPr>
          <p:cNvPr id="12" name="Image 3" descr="preencoded.png">    </p:cNvPr>
          <p:cNvPicPr>
            <a:picLocks noChangeAspect="1"/>
          </p:cNvPicPr>
          <p:nvPr/>
        </p:nvPicPr>
        <p:blipFill>
          <a:blip r:embed="rId4"/>
          <a:stretch>
            <a:fillRect/>
          </a:stretch>
        </p:blipFill>
        <p:spPr>
          <a:xfrm>
            <a:off x="868680" y="4709160"/>
            <a:ext cx="310896" cy="310896"/>
          </a:xfrm>
          <a:prstGeom prst="rect">
            <a:avLst/>
          </a:prstGeom>
        </p:spPr>
      </p:pic>
      <p:sp>
        <p:nvSpPr>
          <p:cNvPr id="13" name="Text 7"/>
          <p:cNvSpPr txBox="1"/>
          <p:nvPr/>
        </p:nvSpPr>
        <p:spPr>
          <a:xfrm>
            <a:off x="1353312" y="4672584"/>
            <a:ext cx="4312768" cy="658368"/>
          </a:xfrm>
          <a:prstGeom prst="rect">
            <a:avLst/>
          </a:prstGeom>
          <a:noFill/>
          <a:ln/>
        </p:spPr>
        <p:txBody>
          <a:bodyPr wrap="square" lIns="0" tIns="0" rIns="0" bIns="0" rtlCol="0" anchor="t"/>
          <a:lstStyle/>
          <a:p>
            <a:pPr indent="0" marL="0">
              <a:buNone/>
            </a:pPr>
            <a:r>
              <a:rPr lang="en-US" sz="1600" dirty="0">
                <a:solidFill>
                  <a:srgbClr val="2A323C"/>
                </a:solidFill>
                <a:latin typeface="Inter" pitchFamily="34" charset="0"/>
                <a:ea typeface="Inter" pitchFamily="34" charset="-122"/>
                <a:cs typeface="Inter" pitchFamily="34" charset="-120"/>
              </a:rPr>
              <a:t>A decision on who may see a minor's profile on the pitch</a:t>
            </a:r>
            <a:endParaRPr lang="en-US" sz="1600" dirty="0"/>
          </a:p>
        </p:txBody>
      </p:sp>
      <p:sp>
        <p:nvSpPr>
          <p:cNvPr id="14" name="We will not claim"/>
          <p:cNvSpPr/>
          <p:nvPr/>
        </p:nvSpPr>
        <p:spPr>
          <a:xfrm>
            <a:off x="6233008" y="1664208"/>
            <a:ext cx="5410048" cy="3703320"/>
          </a:xfrm>
          <a:prstGeom prst="roundRect">
            <a:avLst>
              <a:gd name="adj" fmla="val 3951"/>
            </a:avLst>
          </a:prstGeom>
          <a:solidFill>
            <a:srgbClr val="F2F5F8"/>
          </a:solidFill>
          <a:ln w="9525">
            <a:solidFill>
              <a:srgbClr val="E2E8F0"/>
            </a:solidFill>
            <a:prstDash val="solid"/>
          </a:ln>
        </p:spPr>
      </p:sp>
      <p:sp>
        <p:nvSpPr>
          <p:cNvPr id="15" name="Text 9"/>
          <p:cNvSpPr txBox="1"/>
          <p:nvPr/>
        </p:nvSpPr>
        <p:spPr>
          <a:xfrm>
            <a:off x="6553048" y="1920240"/>
            <a:ext cx="4769968" cy="411480"/>
          </a:xfrm>
          <a:prstGeom prst="rect">
            <a:avLst/>
          </a:prstGeom>
          <a:noFill/>
          <a:ln/>
        </p:spPr>
        <p:txBody>
          <a:bodyPr wrap="square" lIns="0" tIns="0" rIns="0" bIns="0" rtlCol="0" anchor="t"/>
          <a:lstStyle/>
          <a:p>
            <a:pPr indent="0" marL="0">
              <a:buNone/>
            </a:pPr>
            <a:r>
              <a:rPr lang="en-US" sz="2000" dirty="0">
                <a:solidFill>
                  <a:srgbClr val="EB5E28"/>
                </a:solidFill>
                <a:latin typeface="Poppins SemiBold" pitchFamily="34" charset="0"/>
                <a:ea typeface="Poppins SemiBold" pitchFamily="34" charset="-122"/>
                <a:cs typeface="Poppins SemiBold" pitchFamily="34" charset="-120"/>
              </a:rPr>
              <a:t>We will not claim</a:t>
            </a:r>
            <a:endParaRPr lang="en-US" sz="2000" dirty="0"/>
          </a:p>
        </p:txBody>
      </p:sp>
      <p:pic>
        <p:nvPicPr>
          <p:cNvPr id="16" name="Image 4" descr="preencoded.png">    </p:cNvPr>
          <p:cNvPicPr>
            <a:picLocks noChangeAspect="1"/>
          </p:cNvPicPr>
          <p:nvPr/>
        </p:nvPicPr>
        <p:blipFill>
          <a:blip r:embed="rId5"/>
          <a:stretch>
            <a:fillRect/>
          </a:stretch>
        </p:blipFill>
        <p:spPr>
          <a:xfrm>
            <a:off x="6553048" y="2569464"/>
            <a:ext cx="310896" cy="310896"/>
          </a:xfrm>
          <a:prstGeom prst="rect">
            <a:avLst/>
          </a:prstGeom>
        </p:spPr>
      </p:pic>
      <p:sp>
        <p:nvSpPr>
          <p:cNvPr id="17" name="Text 10"/>
          <p:cNvSpPr txBox="1"/>
          <p:nvPr/>
        </p:nvSpPr>
        <p:spPr>
          <a:xfrm>
            <a:off x="7037680" y="2532888"/>
            <a:ext cx="4312768" cy="658368"/>
          </a:xfrm>
          <a:prstGeom prst="rect">
            <a:avLst/>
          </a:prstGeom>
          <a:noFill/>
          <a:ln/>
        </p:spPr>
        <p:txBody>
          <a:bodyPr wrap="square" lIns="0" tIns="0" rIns="0" bIns="0" rtlCol="0" anchor="t"/>
          <a:lstStyle/>
          <a:p>
            <a:pPr indent="0" marL="0">
              <a:buNone/>
            </a:pPr>
            <a:r>
              <a:rPr lang="en-US" sz="1600" dirty="0">
                <a:solidFill>
                  <a:srgbClr val="2A323C"/>
                </a:solidFill>
                <a:latin typeface="Inter" pitchFamily="34" charset="0"/>
                <a:ea typeface="Inter" pitchFamily="34" charset="-122"/>
                <a:cs typeface="Inter" pitchFamily="34" charset="-120"/>
              </a:rPr>
              <a:t>That a drill trains inhibition or any other brain function</a:t>
            </a:r>
            <a:endParaRPr lang="en-US" sz="1600" dirty="0"/>
          </a:p>
        </p:txBody>
      </p:sp>
      <p:pic>
        <p:nvPicPr>
          <p:cNvPr id="18" name="Image 5" descr="preencoded.png">    </p:cNvPr>
          <p:cNvPicPr>
            <a:picLocks noChangeAspect="1"/>
          </p:cNvPicPr>
          <p:nvPr/>
        </p:nvPicPr>
        <p:blipFill>
          <a:blip r:embed="rId6"/>
          <a:stretch>
            <a:fillRect/>
          </a:stretch>
        </p:blipFill>
        <p:spPr>
          <a:xfrm>
            <a:off x="6553048" y="3282696"/>
            <a:ext cx="310896" cy="310896"/>
          </a:xfrm>
          <a:prstGeom prst="rect">
            <a:avLst/>
          </a:prstGeom>
        </p:spPr>
      </p:pic>
      <p:sp>
        <p:nvSpPr>
          <p:cNvPr id="19" name="Text 11"/>
          <p:cNvSpPr txBox="1"/>
          <p:nvPr/>
        </p:nvSpPr>
        <p:spPr>
          <a:xfrm>
            <a:off x="7037680" y="3246120"/>
            <a:ext cx="4312768" cy="658368"/>
          </a:xfrm>
          <a:prstGeom prst="rect">
            <a:avLst/>
          </a:prstGeom>
          <a:noFill/>
          <a:ln/>
        </p:spPr>
        <p:txBody>
          <a:bodyPr wrap="square" lIns="0" tIns="0" rIns="0" bIns="0" rtlCol="0" anchor="t"/>
          <a:lstStyle/>
          <a:p>
            <a:pPr indent="0" marL="0">
              <a:buNone/>
            </a:pPr>
            <a:r>
              <a:rPr lang="en-US" sz="1600" dirty="0">
                <a:solidFill>
                  <a:srgbClr val="2A323C"/>
                </a:solidFill>
                <a:latin typeface="Inter" pitchFamily="34" charset="0"/>
                <a:ea typeface="Inter" pitchFamily="34" charset="-122"/>
                <a:cs typeface="Inter" pitchFamily="34" charset="-120"/>
              </a:rPr>
              <a:t>That the library improves match results</a:t>
            </a:r>
            <a:endParaRPr lang="en-US" sz="1600" dirty="0"/>
          </a:p>
        </p:txBody>
      </p:sp>
      <p:pic>
        <p:nvPicPr>
          <p:cNvPr id="20" name="Image 6" descr="preencoded.png">    </p:cNvPr>
          <p:cNvPicPr>
            <a:picLocks noChangeAspect="1"/>
          </p:cNvPicPr>
          <p:nvPr/>
        </p:nvPicPr>
        <p:blipFill>
          <a:blip r:embed="rId7"/>
          <a:stretch>
            <a:fillRect/>
          </a:stretch>
        </p:blipFill>
        <p:spPr>
          <a:xfrm>
            <a:off x="6553048" y="3995928"/>
            <a:ext cx="310896" cy="310896"/>
          </a:xfrm>
          <a:prstGeom prst="rect">
            <a:avLst/>
          </a:prstGeom>
        </p:spPr>
      </p:pic>
      <p:sp>
        <p:nvSpPr>
          <p:cNvPr id="21" name="Text 12"/>
          <p:cNvSpPr txBox="1"/>
          <p:nvPr/>
        </p:nvSpPr>
        <p:spPr>
          <a:xfrm>
            <a:off x="7037680" y="3959352"/>
            <a:ext cx="4312768" cy="658368"/>
          </a:xfrm>
          <a:prstGeom prst="rect">
            <a:avLst/>
          </a:prstGeom>
          <a:noFill/>
          <a:ln/>
        </p:spPr>
        <p:txBody>
          <a:bodyPr wrap="square" lIns="0" tIns="0" rIns="0" bIns="0" rtlCol="0" anchor="t"/>
          <a:lstStyle/>
          <a:p>
            <a:pPr indent="0" marL="0">
              <a:buNone/>
            </a:pPr>
            <a:r>
              <a:rPr lang="en-US" sz="1600" dirty="0">
                <a:solidFill>
                  <a:srgbClr val="2A323C"/>
                </a:solidFill>
                <a:latin typeface="Inter" pitchFamily="34" charset="0"/>
                <a:ea typeface="Inter" pitchFamily="34" charset="-122"/>
                <a:cs typeface="Inter" pitchFamily="34" charset="-120"/>
              </a:rPr>
              <a:t>That profiles should decide selection or playing position</a:t>
            </a:r>
            <a:endParaRPr lang="en-US" sz="1600" dirty="0"/>
          </a:p>
        </p:txBody>
      </p:sp>
      <p:pic>
        <p:nvPicPr>
          <p:cNvPr id="22" name="Image 7" descr="preencoded.png">    </p:cNvPr>
          <p:cNvPicPr>
            <a:picLocks noChangeAspect="1"/>
          </p:cNvPicPr>
          <p:nvPr/>
        </p:nvPicPr>
        <p:blipFill>
          <a:blip r:embed="rId8"/>
          <a:stretch>
            <a:fillRect/>
          </a:stretch>
        </p:blipFill>
        <p:spPr>
          <a:xfrm>
            <a:off x="6553048" y="4709160"/>
            <a:ext cx="310896" cy="310896"/>
          </a:xfrm>
          <a:prstGeom prst="rect">
            <a:avLst/>
          </a:prstGeom>
        </p:spPr>
      </p:pic>
      <p:sp>
        <p:nvSpPr>
          <p:cNvPr id="23" name="Text 13"/>
          <p:cNvSpPr txBox="1"/>
          <p:nvPr/>
        </p:nvSpPr>
        <p:spPr>
          <a:xfrm>
            <a:off x="7037680" y="4672584"/>
            <a:ext cx="4312768" cy="658368"/>
          </a:xfrm>
          <a:prstGeom prst="rect">
            <a:avLst/>
          </a:prstGeom>
          <a:noFill/>
          <a:ln/>
        </p:spPr>
        <p:txBody>
          <a:bodyPr wrap="square" lIns="0" tIns="0" rIns="0" bIns="0" rtlCol="0" anchor="t"/>
          <a:lstStyle/>
          <a:p>
            <a:pPr indent="0" marL="0">
              <a:buNone/>
            </a:pPr>
            <a:r>
              <a:rPr lang="en-US" sz="1600" dirty="0">
                <a:solidFill>
                  <a:srgbClr val="2A323C"/>
                </a:solidFill>
                <a:latin typeface="Inter" pitchFamily="34" charset="0"/>
                <a:ea typeface="Inter" pitchFamily="34" charset="-122"/>
                <a:cs typeface="Inter" pitchFamily="34" charset="-120"/>
              </a:rPr>
              <a:t>That a drill works before a coach has counted it</a:t>
            </a:r>
            <a:endParaRPr lang="en-US" sz="1600" dirty="0"/>
          </a:p>
        </p:txBody>
      </p:sp>
      <p:sp>
        <p:nvSpPr>
          <p:cNvPr id="24" name="Shape 14"/>
          <p:cNvSpPr/>
          <p:nvPr/>
        </p:nvSpPr>
        <p:spPr>
          <a:xfrm>
            <a:off x="548640" y="5532120"/>
            <a:ext cx="11094415" cy="548640"/>
          </a:xfrm>
          <a:prstGeom prst="roundRect">
            <a:avLst>
              <a:gd name="adj" fmla="val 16667"/>
            </a:avLst>
          </a:prstGeom>
          <a:solidFill>
            <a:srgbClr val="F2F5F8"/>
          </a:solidFill>
          <a:ln/>
        </p:spPr>
      </p:sp>
      <p:sp>
        <p:nvSpPr>
          <p:cNvPr id="25" name="Text 15"/>
          <p:cNvSpPr txBox="1"/>
          <p:nvPr/>
        </p:nvSpPr>
        <p:spPr>
          <a:xfrm>
            <a:off x="777240" y="5532120"/>
            <a:ext cx="10637215" cy="548640"/>
          </a:xfrm>
          <a:prstGeom prst="rect">
            <a:avLst/>
          </a:prstGeom>
          <a:noFill/>
          <a:ln/>
        </p:spPr>
        <p:txBody>
          <a:bodyPr wrap="square" lIns="0" tIns="0" rIns="0" bIns="0" rtlCol="0" anchor="ctr"/>
          <a:lstStyle/>
          <a:p>
            <a:pPr indent="0" marL="0">
              <a:buNone/>
            </a:pPr>
            <a:r>
              <a:rPr lang="en-US" sz="1400" dirty="0">
                <a:solidFill>
                  <a:srgbClr val="263D57"/>
                </a:solidFill>
                <a:latin typeface="Inter" pitchFamily="34" charset="0"/>
                <a:ea typeface="Inter" pitchFamily="34" charset="-122"/>
                <a:cs typeface="Inter" pitchFamily="34" charset="-120"/>
              </a:rPr>
              <a:t>Proof of concept: coaches use it. Proof of effect: a later study across clubs and seasons.</a:t>
            </a:r>
            <a:endParaRPr lang="en-US" sz="1400" dirty="0"/>
          </a:p>
        </p:txBody>
      </p:sp>
      <p:sp>
        <p:nvSpPr>
          <p:cNvPr id="25" name="Slide Number Placeholder 0"/>
          <p:cNvSpPr>
            <a:spLocks noGrp="1"/>
          </p:cNvSpPr>
          <p:nvPr>
            <p:ph type="sldNum" sz="quarter" idx="4294967295"/>
          </p:nvPr>
        </p:nvSpPr>
        <p:spPr>
          <a:xfrm>
            <a:off x="10774375"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Inter"/>
                <a:ea typeface="Inter"/>
                <a:cs typeface="Inter"/>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BrainsFirst brand">
  <a:themeElements>
    <a:clrScheme name="BrainsFirst brand">
      <a:dk1>
        <a:srgbClr val="2A323C"/>
      </a:dk1>
      <a:lt1>
        <a:srgbClr val="FFFFFF"/>
      </a:lt1>
      <a:dk2>
        <a:srgbClr val="263D57"/>
      </a:dk2>
      <a:lt2>
        <a:srgbClr val="F2F5F8"/>
      </a:lt2>
      <a:accent1>
        <a:srgbClr val="41C5C5"/>
      </a:accent1>
      <a:accent2>
        <a:srgbClr val="3A506B"/>
      </a:accent2>
      <a:accent3>
        <a:srgbClr val="007D8C"/>
      </a:accent3>
      <a:accent4>
        <a:srgbClr val="EABF23"/>
      </a:accent4>
      <a:accent5>
        <a:srgbClr val="88A0BF"/>
      </a:accent5>
      <a:accent6>
        <a:srgbClr val="EB5E28"/>
      </a:accent6>
      <a:hlink>
        <a:srgbClr val="007D8C"/>
      </a:hlink>
      <a:folHlink>
        <a:srgbClr val="476385"/>
      </a:folHlink>
    </a:clrScheme>
    <a:fontScheme name="BrainsFirst brand">
      <a:majorFont>
        <a:latin typeface="Poppins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BrainsFirst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brain to pitch (BrainsFirst)</dc:title>
  <dc:subject>PptxGenJS Presentation</dc:subject>
  <dc:creator>Ilja Sligte</dc:creator>
  <cp:lastModifiedBy>Ilja Sligte</cp:lastModifiedBy>
  <cp:revision>1</cp:revision>
  <dcterms:created xsi:type="dcterms:W3CDTF">2026-10-28T11:24:57Z</dcterms:created>
  <dcterms:modified xsi:type="dcterms:W3CDTF">2026-10-28T11:24:57Z</dcterms:modified>
</cp:coreProperties>
</file>